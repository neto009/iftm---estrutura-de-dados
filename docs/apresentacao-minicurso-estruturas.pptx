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59D6C5" accent2="F4BA58" accent3="F17C98" accent4="B2DF78" accent5="3A427A" accent6="252C63" bg1="111436" bg2="191D49" dk1="0C1029" dk2="111436" folHlink="F17C98" hlink="59D6C5" lt1="F7F3E8" lt2="C0C5DC" tx1="0C1029" tx2="F7F3E8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467600" y="3048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8092440" y="30480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8717280" y="30480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9342120" y="3048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9966960" y="30480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591800" y="30480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11216640" y="3048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10" name="Shape 10"/>
          <p:cNvSpPr/>
          <p:nvPr/>
        </p:nvSpPr>
        <p:spPr>
          <a:xfrm>
            <a:off x="11841480" y="30480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11" name="Shape 11"/>
          <p:cNvSpPr/>
          <p:nvPr/>
        </p:nvSpPr>
        <p:spPr>
          <a:xfrm>
            <a:off x="7680960" y="92964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12" name="Shape 12"/>
          <p:cNvSpPr/>
          <p:nvPr/>
        </p:nvSpPr>
        <p:spPr>
          <a:xfrm>
            <a:off x="8305800" y="92964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13" name="Shape 13"/>
          <p:cNvSpPr/>
          <p:nvPr/>
        </p:nvSpPr>
        <p:spPr>
          <a:xfrm>
            <a:off x="8930640" y="92964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14" name="Shape 14"/>
          <p:cNvSpPr/>
          <p:nvPr/>
        </p:nvSpPr>
        <p:spPr>
          <a:xfrm>
            <a:off x="9555480" y="92964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15" name="Shape 15"/>
          <p:cNvSpPr/>
          <p:nvPr/>
        </p:nvSpPr>
        <p:spPr>
          <a:xfrm>
            <a:off x="10180320" y="92964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16" name="Shape 16"/>
          <p:cNvSpPr/>
          <p:nvPr/>
        </p:nvSpPr>
        <p:spPr>
          <a:xfrm>
            <a:off x="10805160" y="92964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17" name="Shape 17"/>
          <p:cNvSpPr/>
          <p:nvPr/>
        </p:nvSpPr>
        <p:spPr>
          <a:xfrm>
            <a:off x="11430000" y="92964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18" name="Shape 18"/>
          <p:cNvSpPr/>
          <p:nvPr/>
        </p:nvSpPr>
        <p:spPr>
          <a:xfrm>
            <a:off x="12054840" y="92964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19" name="Shape 19"/>
          <p:cNvSpPr/>
          <p:nvPr/>
        </p:nvSpPr>
        <p:spPr>
          <a:xfrm>
            <a:off x="7467600" y="155448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20" name="Shape 20"/>
          <p:cNvSpPr/>
          <p:nvPr/>
        </p:nvSpPr>
        <p:spPr>
          <a:xfrm>
            <a:off x="8092440" y="155448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21" name="Shape 21"/>
          <p:cNvSpPr/>
          <p:nvPr/>
        </p:nvSpPr>
        <p:spPr>
          <a:xfrm>
            <a:off x="8717280" y="155448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22" name="Shape 22"/>
          <p:cNvSpPr/>
          <p:nvPr/>
        </p:nvSpPr>
        <p:spPr>
          <a:xfrm>
            <a:off x="9342120" y="155448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23" name="Shape 23"/>
          <p:cNvSpPr/>
          <p:nvPr/>
        </p:nvSpPr>
        <p:spPr>
          <a:xfrm>
            <a:off x="9966960" y="155448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24" name="Shape 24"/>
          <p:cNvSpPr/>
          <p:nvPr/>
        </p:nvSpPr>
        <p:spPr>
          <a:xfrm>
            <a:off x="10591800" y="155448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25" name="Shape 25"/>
          <p:cNvSpPr/>
          <p:nvPr/>
        </p:nvSpPr>
        <p:spPr>
          <a:xfrm>
            <a:off x="11216640" y="155448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26" name="Shape 26"/>
          <p:cNvSpPr/>
          <p:nvPr/>
        </p:nvSpPr>
        <p:spPr>
          <a:xfrm>
            <a:off x="11841480" y="155448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27" name="Shape 27"/>
          <p:cNvSpPr/>
          <p:nvPr/>
        </p:nvSpPr>
        <p:spPr>
          <a:xfrm>
            <a:off x="7680960" y="217932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28" name="Shape 28"/>
          <p:cNvSpPr/>
          <p:nvPr/>
        </p:nvSpPr>
        <p:spPr>
          <a:xfrm>
            <a:off x="8305800" y="217932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29" name="Shape 29"/>
          <p:cNvSpPr/>
          <p:nvPr/>
        </p:nvSpPr>
        <p:spPr>
          <a:xfrm>
            <a:off x="8930640" y="217932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30" name="Shape 30"/>
          <p:cNvSpPr/>
          <p:nvPr/>
        </p:nvSpPr>
        <p:spPr>
          <a:xfrm>
            <a:off x="9555480" y="217932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31" name="Shape 31"/>
          <p:cNvSpPr/>
          <p:nvPr/>
        </p:nvSpPr>
        <p:spPr>
          <a:xfrm>
            <a:off x="10180320" y="217932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32" name="Shape 32"/>
          <p:cNvSpPr/>
          <p:nvPr/>
        </p:nvSpPr>
        <p:spPr>
          <a:xfrm>
            <a:off x="10805160" y="217932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33" name="Shape 33"/>
          <p:cNvSpPr/>
          <p:nvPr/>
        </p:nvSpPr>
        <p:spPr>
          <a:xfrm>
            <a:off x="11430000" y="217932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34" name="Shape 34"/>
          <p:cNvSpPr/>
          <p:nvPr/>
        </p:nvSpPr>
        <p:spPr>
          <a:xfrm>
            <a:off x="12054840" y="217932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35" name="Shape 35"/>
          <p:cNvSpPr/>
          <p:nvPr/>
        </p:nvSpPr>
        <p:spPr>
          <a:xfrm>
            <a:off x="7467600" y="280416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36" name="Shape 36"/>
          <p:cNvSpPr/>
          <p:nvPr/>
        </p:nvSpPr>
        <p:spPr>
          <a:xfrm>
            <a:off x="8092440" y="280416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37" name="Shape 37"/>
          <p:cNvSpPr/>
          <p:nvPr/>
        </p:nvSpPr>
        <p:spPr>
          <a:xfrm>
            <a:off x="8717280" y="280416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38" name="Shape 38"/>
          <p:cNvSpPr/>
          <p:nvPr/>
        </p:nvSpPr>
        <p:spPr>
          <a:xfrm>
            <a:off x="9342120" y="280416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39" name="Shape 39"/>
          <p:cNvSpPr/>
          <p:nvPr/>
        </p:nvSpPr>
        <p:spPr>
          <a:xfrm>
            <a:off x="9966960" y="280416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40" name="Shape 40"/>
          <p:cNvSpPr/>
          <p:nvPr/>
        </p:nvSpPr>
        <p:spPr>
          <a:xfrm>
            <a:off x="10591800" y="280416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41" name="Shape 41"/>
          <p:cNvSpPr/>
          <p:nvPr/>
        </p:nvSpPr>
        <p:spPr>
          <a:xfrm>
            <a:off x="11216640" y="280416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42" name="Shape 42"/>
          <p:cNvSpPr/>
          <p:nvPr/>
        </p:nvSpPr>
        <p:spPr>
          <a:xfrm>
            <a:off x="11841480" y="280416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43" name="Shape 43"/>
          <p:cNvSpPr/>
          <p:nvPr/>
        </p:nvSpPr>
        <p:spPr>
          <a:xfrm>
            <a:off x="7680960" y="342900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44" name="Shape 44"/>
          <p:cNvSpPr/>
          <p:nvPr/>
        </p:nvSpPr>
        <p:spPr>
          <a:xfrm>
            <a:off x="8305800" y="34290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45" name="Shape 45"/>
          <p:cNvSpPr/>
          <p:nvPr/>
        </p:nvSpPr>
        <p:spPr>
          <a:xfrm>
            <a:off x="8930640" y="342900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46" name="Shape 46"/>
          <p:cNvSpPr/>
          <p:nvPr/>
        </p:nvSpPr>
        <p:spPr>
          <a:xfrm>
            <a:off x="9555480" y="342900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47" name="Shape 47"/>
          <p:cNvSpPr/>
          <p:nvPr/>
        </p:nvSpPr>
        <p:spPr>
          <a:xfrm>
            <a:off x="10180320" y="34290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sp>
        <p:nvSpPr>
          <p:cNvPr id="48" name="Shape 48"/>
          <p:cNvSpPr/>
          <p:nvPr/>
        </p:nvSpPr>
        <p:spPr>
          <a:xfrm>
            <a:off x="10805160" y="342900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49" name="Shape 49"/>
          <p:cNvSpPr/>
          <p:nvPr/>
        </p:nvSpPr>
        <p:spPr>
          <a:xfrm>
            <a:off x="11430000" y="3429000"/>
            <a:ext cx="243840" cy="243840"/>
          </a:xfrm>
          <a:prstGeom prst="rect">
            <a:avLst/>
          </a:prstGeom>
          <a:noFill/>
          <a:ln w="15240">
            <a:solidFill>
              <a:srgbClr val="3A427A">
                <a:alpha val="20000"/>
              </a:srgbClr>
            </a:solidFill>
          </a:ln>
        </p:spPr>
      </p:sp>
      <p:sp>
        <p:nvSpPr>
          <p:cNvPr id="50" name="Shape 50"/>
          <p:cNvSpPr/>
          <p:nvPr/>
        </p:nvSpPr>
        <p:spPr>
          <a:xfrm>
            <a:off x="12054840" y="34290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0000"/>
              </a:srgbClr>
            </a:solidFill>
          </a:ln>
        </p:spPr>
      </p:sp>
      <p:pic>
        <p:nvPicPr>
          <p:cNvPr id="51" name="Ilustração" descr="Ilustração de dados organizados em estruturas e conectados a uma árvore, fila e grafo."/>
          <p:cNvPicPr>
            <a:picLocks noChangeAspect="1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>
            <a:off x="6858000" y="1965960"/>
            <a:ext cx="4602480" cy="2590800"/>
          </a:xfrm>
          <a:prstGeom prst="rect">
            <a:avLst/>
          </a:prstGeom>
          <a:ln>
            <a:noFill/>
          </a:ln>
        </p:spPr>
      </p:pic>
      <p:sp>
        <p:nvSpPr>
          <p:cNvPr id="52" name="Shape 52"/>
          <p:cNvSpPr txBox="1"/>
          <p:nvPr/>
        </p:nvSpPr>
        <p:spPr>
          <a:xfrm>
            <a:off x="7162800" y="4693920"/>
            <a:ext cx="419100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COLEÇÕES  ·  FILAS  ·  ÁRVORES  ·  GRAFOS</a:t>
            </a:r>
            <a:endParaRPr lang="pt-BR" sz="1200"/>
          </a:p>
        </p:txBody>
      </p:sp>
      <p:sp>
        <p:nvSpPr>
          <p:cNvPr id="53" name="Shape 53"/>
          <p:cNvSpPr txBox="1"/>
          <p:nvPr/>
        </p:nvSpPr>
        <p:spPr>
          <a:xfrm>
            <a:off x="731520" y="7239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MINICURSO  ·  INSTITUTO FEDERAL  ·  UBERLÂNDIA</a:t>
            </a:r>
            <a:endParaRPr lang="pt-BR" sz="1350"/>
          </a:p>
        </p:txBody>
      </p:sp>
      <p:sp>
        <p:nvSpPr>
          <p:cNvPr id="54" name="Shape 54"/>
          <p:cNvSpPr txBox="1"/>
          <p:nvPr/>
        </p:nvSpPr>
        <p:spPr>
          <a:xfrm>
            <a:off x="731520" y="1767840"/>
            <a:ext cx="6477000" cy="1432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sz="57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Estruturas de dados</a:t>
            </a:r>
            <a:endParaRPr lang="pt-BR" sz="5700"/>
          </a:p>
          <a:p>
            <a:pPr algn="l">
              <a:lnSpc>
                <a:spcPct val="100000"/>
              </a:lnSpc>
            </a:pPr>
            <a:r>
              <a:rPr lang="pt-BR" sz="57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no mundo real</a:t>
            </a:r>
            <a:endParaRPr lang="pt-BR" sz="5700"/>
          </a:p>
        </p:txBody>
      </p:sp>
      <p:sp>
        <p:nvSpPr>
          <p:cNvPr id="55" name="Shape 55"/>
          <p:cNvSpPr txBox="1"/>
          <p:nvPr/>
        </p:nvSpPr>
        <p:spPr>
          <a:xfrm>
            <a:off x="762000" y="3390900"/>
            <a:ext cx="601980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2000"/>
              </a:lnSpc>
            </a:pPr>
            <a:r>
              <a:rPr lang="pt-BR" sz="21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Do backlog à busca por similaridade —</a:t>
            </a:r>
            <a:endParaRPr lang="pt-BR" sz="2175"/>
          </a:p>
          <a:p>
            <a:pPr algn="l">
              <a:lnSpc>
                <a:spcPct val="122000"/>
              </a:lnSpc>
            </a:pPr>
            <a:r>
              <a:rPr lang="pt-BR" sz="21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com exemplos de sistemas corporativos.</a:t>
            </a:r>
            <a:endParaRPr lang="pt-BR" sz="2175"/>
          </a:p>
        </p:txBody>
      </p:sp>
      <p:sp>
        <p:nvSpPr>
          <p:cNvPr id="56" name="Shape 56"/>
          <p:cNvSpPr/>
          <p:nvPr/>
        </p:nvSpPr>
        <p:spPr>
          <a:xfrm>
            <a:off x="762000" y="4640580"/>
            <a:ext cx="4191000" cy="1524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57" name="Shape 57"/>
          <p:cNvSpPr txBox="1"/>
          <p:nvPr/>
        </p:nvSpPr>
        <p:spPr>
          <a:xfrm>
            <a:off x="762000" y="49225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217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SOLANGE BRASILEIRO</a:t>
            </a:r>
            <a:endParaRPr lang="pt-BR" sz="2175"/>
          </a:p>
        </p:txBody>
      </p:sp>
      <p:sp>
        <p:nvSpPr>
          <p:cNvPr id="58" name="Shape 58"/>
          <p:cNvSpPr txBox="1"/>
          <p:nvPr/>
        </p:nvSpPr>
        <p:spPr>
          <a:xfrm>
            <a:off x="762000" y="530352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57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Software Engineer  ·  Banco Bradesco  ·  BIA Tech</a:t>
            </a:r>
            <a:endParaRPr lang="pt-BR" sz="1575"/>
          </a:p>
        </p:txBody>
      </p:sp>
      <p:sp>
        <p:nvSpPr>
          <p:cNvPr id="59" name="Shape 59"/>
          <p:cNvSpPr txBox="1"/>
          <p:nvPr/>
        </p:nvSpPr>
        <p:spPr>
          <a:xfrm>
            <a:off x="762000" y="6225540"/>
            <a:ext cx="472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FUNDAMENTOS  →  SISTEMAS  →  IA</a:t>
            </a:r>
            <a:endParaRPr lang="pt-BR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1582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QUEM CONDUZ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40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Solange Brasileiro</a:t>
            </a:r>
            <a:endParaRPr lang="pt-BR" sz="405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Fundamentos de computação ligados aos desafios de sistemas corporativos.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02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118360"/>
            <a:ext cx="3276600" cy="333756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/>
          <p:nvPr/>
        </p:nvSpPr>
        <p:spPr>
          <a:xfrm>
            <a:off x="1455420" y="2301240"/>
            <a:ext cx="1828800" cy="2118360"/>
          </a:xfrm>
          <a:prstGeom prst="roundRect">
            <a:avLst/>
          </a:prstGeom>
          <a:solidFill>
            <a:srgbClr val="191D49"/>
          </a:solidFill>
          <a:ln w="15240">
            <a:solidFill>
              <a:srgbClr val="59D6C5"/>
            </a:solidFill>
          </a:ln>
        </p:spPr>
      </p:sp>
      <p:pic>
        <p:nvPicPr>
          <p:cNvPr id="18" name="Foto de Solange" descr="Foto de Solange Brasileiro"/>
          <p:cNvPicPr>
            <a:picLocks noChangeAspect="1"/>
          </p:cNvPicPr>
          <p:nvPr/>
        </p:nvPicPr>
        <p:blipFill>
          <a:blip r:embed="rId2"/>
          <a:srcRect l="6835" r="6835" t="0" b="0"/>
          <a:stretch>
            <a:fillRect/>
          </a:stretch>
        </p:blipFill>
        <p:spPr>
          <a:xfrm>
            <a:off x="1455420" y="2301240"/>
            <a:ext cx="1828800" cy="2118360"/>
          </a:xfrm>
          <a:prstGeom prst="roundRect">
            <a:avLst/>
          </a:prstGeom>
          <a:ln w="15240">
            <a:solidFill>
              <a:srgbClr val="59D6C5"/>
            </a:solidFill>
            <a:prstDash val="solid"/>
          </a:ln>
        </p:spPr>
      </p:pic>
      <p:sp>
        <p:nvSpPr>
          <p:cNvPr id="19" name="Shape 19"/>
          <p:cNvSpPr txBox="1"/>
          <p:nvPr/>
        </p:nvSpPr>
        <p:spPr>
          <a:xfrm>
            <a:off x="1036320" y="4617720"/>
            <a:ext cx="2667000" cy="259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87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SOLANGE BRASILEIRO</a:t>
            </a:r>
            <a:endParaRPr lang="pt-BR" sz="1875"/>
          </a:p>
        </p:txBody>
      </p:sp>
      <p:sp>
        <p:nvSpPr>
          <p:cNvPr id="20" name="Shape 20"/>
          <p:cNvSpPr txBox="1"/>
          <p:nvPr/>
        </p:nvSpPr>
        <p:spPr>
          <a:xfrm>
            <a:off x="1036320" y="496062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Software Engineer · Banco Bradesco</a:t>
            </a:r>
            <a:endParaRPr lang="pt-BR" sz="1275"/>
          </a:p>
        </p:txBody>
      </p:sp>
      <p:sp>
        <p:nvSpPr>
          <p:cNvPr id="21" name="Shape 21"/>
          <p:cNvSpPr/>
          <p:nvPr/>
        </p:nvSpPr>
        <p:spPr>
          <a:xfrm>
            <a:off x="1767840" y="5189220"/>
            <a:ext cx="120396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F4BA58"/>
            </a:solidFill>
          </a:ln>
        </p:spPr>
      </p:sp>
      <p:sp>
        <p:nvSpPr>
          <p:cNvPr id="22" name="Shape 22"/>
          <p:cNvSpPr txBox="1"/>
          <p:nvPr/>
        </p:nvSpPr>
        <p:spPr>
          <a:xfrm>
            <a:off x="1866900" y="520446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BIA TECH</a:t>
            </a:r>
            <a:endParaRPr lang="pt-BR" sz="1200"/>
          </a:p>
        </p:txBody>
      </p:sp>
      <p:sp>
        <p:nvSpPr>
          <p:cNvPr id="23" name="Shape 23"/>
          <p:cNvSpPr/>
          <p:nvPr/>
        </p:nvSpPr>
        <p:spPr>
          <a:xfrm>
            <a:off x="4381500" y="2118360"/>
            <a:ext cx="3276600" cy="155448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24" name="Shape 24"/>
          <p:cNvSpPr/>
          <p:nvPr/>
        </p:nvSpPr>
        <p:spPr>
          <a:xfrm>
            <a:off x="4381500" y="2118360"/>
            <a:ext cx="60960" cy="1554480"/>
          </a:xfrm>
          <a:prstGeom prst="roundRect">
            <a:avLst/>
          </a:prstGeom>
          <a:solidFill>
            <a:srgbClr val="F4BA58"/>
          </a:solidFill>
          <a:ln>
            <a:noFill/>
          </a:ln>
        </p:spPr>
      </p:sp>
      <p:sp>
        <p:nvSpPr>
          <p:cNvPr id="25" name="Shape 25"/>
          <p:cNvSpPr txBox="1"/>
          <p:nvPr/>
        </p:nvSpPr>
        <p:spPr>
          <a:xfrm>
            <a:off x="4594860" y="2286000"/>
            <a:ext cx="2857500" cy="167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ATUAÇÃO</a:t>
            </a:r>
            <a:endParaRPr lang="pt-BR" sz="1125"/>
          </a:p>
        </p:txBody>
      </p:sp>
      <p:sp>
        <p:nvSpPr>
          <p:cNvPr id="26" name="Shape 26"/>
          <p:cNvSpPr txBox="1"/>
          <p:nvPr/>
        </p:nvSpPr>
        <p:spPr>
          <a:xfrm>
            <a:off x="4594860" y="2522220"/>
            <a:ext cx="28575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pt-BR" sz="18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Backend e sistemas distribuídos</a:t>
            </a:r>
            <a:endParaRPr lang="pt-BR" sz="1800"/>
          </a:p>
        </p:txBody>
      </p:sp>
      <p:sp>
        <p:nvSpPr>
          <p:cNvPr id="27" name="Shape 27"/>
          <p:cNvSpPr txBox="1"/>
          <p:nvPr/>
        </p:nvSpPr>
        <p:spPr>
          <a:xfrm>
            <a:off x="4594860" y="2994660"/>
            <a:ext cx="2857500" cy="5562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Decisões de dados e fluxo entre serviços.</a:t>
            </a:r>
            <a:endParaRPr lang="pt-BR" sz="1350"/>
          </a:p>
        </p:txBody>
      </p:sp>
      <p:sp>
        <p:nvSpPr>
          <p:cNvPr id="28" name="Shape 28"/>
          <p:cNvSpPr/>
          <p:nvPr/>
        </p:nvSpPr>
        <p:spPr>
          <a:xfrm>
            <a:off x="7848600" y="2118360"/>
            <a:ext cx="3611880" cy="155448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29" name="Shape 29"/>
          <p:cNvSpPr/>
          <p:nvPr/>
        </p:nvSpPr>
        <p:spPr>
          <a:xfrm>
            <a:off x="7848600" y="2118360"/>
            <a:ext cx="60960" cy="1554480"/>
          </a:xfrm>
          <a:prstGeom prst="roundRect">
            <a:avLst/>
          </a:prstGeom>
          <a:solidFill>
            <a:srgbClr val="59D6C5"/>
          </a:solidFill>
          <a:ln>
            <a:noFill/>
          </a:ln>
        </p:spPr>
      </p:sp>
      <p:sp>
        <p:nvSpPr>
          <p:cNvPr id="30" name="Shape 30"/>
          <p:cNvSpPr txBox="1"/>
          <p:nvPr/>
        </p:nvSpPr>
        <p:spPr>
          <a:xfrm>
            <a:off x="8061960" y="2286000"/>
            <a:ext cx="3192780" cy="167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FOCO</a:t>
            </a:r>
            <a:endParaRPr lang="pt-BR" sz="1125"/>
          </a:p>
        </p:txBody>
      </p:sp>
      <p:sp>
        <p:nvSpPr>
          <p:cNvPr id="31" name="Shape 31"/>
          <p:cNvSpPr txBox="1"/>
          <p:nvPr/>
        </p:nvSpPr>
        <p:spPr>
          <a:xfrm>
            <a:off x="8061960" y="2522220"/>
            <a:ext cx="31927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pt-BR" sz="187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IA generativa</a:t>
            </a:r>
            <a:endParaRPr lang="pt-BR" sz="1875"/>
          </a:p>
        </p:txBody>
      </p:sp>
      <p:sp>
        <p:nvSpPr>
          <p:cNvPr id="32" name="Shape 32"/>
          <p:cNvSpPr txBox="1"/>
          <p:nvPr/>
        </p:nvSpPr>
        <p:spPr>
          <a:xfrm>
            <a:off x="8061960" y="2994660"/>
            <a:ext cx="3192780" cy="5562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Recuperação, contexto e uso responsável de informação.</a:t>
            </a:r>
            <a:endParaRPr lang="pt-BR" sz="1350"/>
          </a:p>
        </p:txBody>
      </p:sp>
      <p:sp>
        <p:nvSpPr>
          <p:cNvPr id="33" name="Shape 33"/>
          <p:cNvSpPr/>
          <p:nvPr/>
        </p:nvSpPr>
        <p:spPr>
          <a:xfrm>
            <a:off x="4381500" y="3886200"/>
            <a:ext cx="7078980" cy="156972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34" name="Shape 34"/>
          <p:cNvSpPr/>
          <p:nvPr/>
        </p:nvSpPr>
        <p:spPr>
          <a:xfrm>
            <a:off x="4381500" y="3886200"/>
            <a:ext cx="60960" cy="1569720"/>
          </a:xfrm>
          <a:prstGeom prst="roundRect">
            <a:avLst/>
          </a:prstGeom>
          <a:solidFill>
            <a:srgbClr val="F17C98"/>
          </a:solidFill>
          <a:ln>
            <a:noFill/>
          </a:ln>
        </p:spPr>
      </p:sp>
      <p:sp>
        <p:nvSpPr>
          <p:cNvPr id="35" name="Shape 35"/>
          <p:cNvSpPr txBox="1"/>
          <p:nvPr/>
        </p:nvSpPr>
        <p:spPr>
          <a:xfrm>
            <a:off x="4594860" y="4053840"/>
            <a:ext cx="6659880" cy="167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ESPECIALIDADE</a:t>
            </a:r>
            <a:endParaRPr lang="pt-BR" sz="1125"/>
          </a:p>
        </p:txBody>
      </p:sp>
      <p:sp>
        <p:nvSpPr>
          <p:cNvPr id="36" name="Shape 36"/>
          <p:cNvSpPr txBox="1"/>
          <p:nvPr/>
        </p:nvSpPr>
        <p:spPr>
          <a:xfrm>
            <a:off x="4594860" y="4290060"/>
            <a:ext cx="6659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pt-BR" sz="20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Soluções para o pós-desenvolvimento</a:t>
            </a:r>
            <a:endParaRPr lang="pt-BR" sz="2025"/>
          </a:p>
        </p:txBody>
      </p:sp>
      <p:sp>
        <p:nvSpPr>
          <p:cNvPr id="37" name="Shape 37"/>
          <p:cNvSpPr txBox="1"/>
          <p:nvPr/>
        </p:nvSpPr>
        <p:spPr>
          <a:xfrm>
            <a:off x="4594860" y="4762500"/>
            <a:ext cx="665988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lang="pt-BR" sz="150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Conectar fundamentos da computação a desafios corporativos de grande escala.</a:t>
            </a:r>
            <a:endParaRPr lang="pt-BR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6154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MAPA DO MINICURSO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40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Da coleção em memória à decisão de IA</a:t>
            </a:r>
            <a:endParaRPr lang="pt-BR" sz="405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Pré-requisito: lógica básica de programação.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03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362200"/>
            <a:ext cx="3291840" cy="243840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/>
          <p:nvPr/>
        </p:nvSpPr>
        <p:spPr>
          <a:xfrm>
            <a:off x="731520" y="2362200"/>
            <a:ext cx="60960" cy="2438400"/>
          </a:xfrm>
          <a:prstGeom prst="roundRect">
            <a:avLst/>
          </a:prstGeom>
          <a:solidFill>
            <a:srgbClr val="F4BA58"/>
          </a:solidFill>
          <a:ln>
            <a:noFill/>
          </a:ln>
        </p:spPr>
      </p:sp>
      <p:sp>
        <p:nvSpPr>
          <p:cNvPr id="18" name="Shape 18"/>
          <p:cNvSpPr txBox="1"/>
          <p:nvPr/>
        </p:nvSpPr>
        <p:spPr>
          <a:xfrm>
            <a:off x="944880" y="2529840"/>
            <a:ext cx="2872740" cy="167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1 · FUNDAMENTOS</a:t>
            </a:r>
            <a:endParaRPr lang="pt-BR" sz="1125"/>
          </a:p>
        </p:txBody>
      </p:sp>
      <p:sp>
        <p:nvSpPr>
          <p:cNvPr id="19" name="Shape 19"/>
          <p:cNvSpPr txBox="1"/>
          <p:nvPr/>
        </p:nvSpPr>
        <p:spPr>
          <a:xfrm>
            <a:off x="944880" y="2766060"/>
            <a:ext cx="28727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pt-BR" sz="20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Organizar o trabalho</a:t>
            </a:r>
            <a:endParaRPr lang="pt-BR" sz="2025"/>
          </a:p>
        </p:txBody>
      </p:sp>
      <p:sp>
        <p:nvSpPr>
          <p:cNvPr id="20" name="Shape 20"/>
          <p:cNvSpPr txBox="1"/>
          <p:nvPr/>
        </p:nvSpPr>
        <p:spPr>
          <a:xfrm>
            <a:off x="944880" y="3238500"/>
            <a:ext cx="2872740" cy="14401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lang="pt-BR" sz="16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Listas e prioridade</a:t>
            </a:r>
            <a:endParaRPr lang="pt-BR" sz="1650"/>
          </a:p>
          <a:p>
            <a:pPr algn="l">
              <a:lnSpc>
                <a:spcPct val="118000"/>
              </a:lnSpc>
            </a:pPr>
            <a:r>
              <a:rPr lang="pt-BR" sz="16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Filas e pilhas</a:t>
            </a:r>
            <a:endParaRPr lang="pt-BR" sz="1650"/>
          </a:p>
          <a:p>
            <a:pPr algn="l">
              <a:lnSpc>
                <a:spcPct val="118000"/>
              </a:lnSpc>
            </a:pPr>
            <a:r>
              <a:rPr lang="pt-BR" sz="16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Mapas e árvores</a:t>
            </a:r>
            <a:endParaRPr lang="pt-BR" sz="1650"/>
          </a:p>
        </p:txBody>
      </p:sp>
      <p:sp>
        <p:nvSpPr>
          <p:cNvPr id="21" name="Shape 21"/>
          <p:cNvSpPr/>
          <p:nvPr/>
        </p:nvSpPr>
        <p:spPr>
          <a:xfrm>
            <a:off x="4328160" y="2362200"/>
            <a:ext cx="3291840" cy="243840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22" name="Shape 22"/>
          <p:cNvSpPr/>
          <p:nvPr/>
        </p:nvSpPr>
        <p:spPr>
          <a:xfrm>
            <a:off x="4328160" y="2362200"/>
            <a:ext cx="60960" cy="2438400"/>
          </a:xfrm>
          <a:prstGeom prst="roundRect">
            <a:avLst/>
          </a:prstGeom>
          <a:solidFill>
            <a:srgbClr val="59D6C5"/>
          </a:solidFill>
          <a:ln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4541520" y="2529840"/>
            <a:ext cx="2872740" cy="167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2 · SISTEMAS</a:t>
            </a:r>
            <a:endParaRPr lang="pt-BR" sz="1125"/>
          </a:p>
        </p:txBody>
      </p:sp>
      <p:sp>
        <p:nvSpPr>
          <p:cNvPr id="24" name="Shape 24"/>
          <p:cNvSpPr txBox="1"/>
          <p:nvPr/>
        </p:nvSpPr>
        <p:spPr>
          <a:xfrm>
            <a:off x="4541520" y="2766060"/>
            <a:ext cx="28727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pt-BR" sz="20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Conectar componentes</a:t>
            </a:r>
            <a:endParaRPr lang="pt-BR" sz="2025"/>
          </a:p>
        </p:txBody>
      </p:sp>
      <p:sp>
        <p:nvSpPr>
          <p:cNvPr id="25" name="Shape 25"/>
          <p:cNvSpPr txBox="1"/>
          <p:nvPr/>
        </p:nvSpPr>
        <p:spPr>
          <a:xfrm>
            <a:off x="4541520" y="3238500"/>
            <a:ext cx="2872740" cy="14401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lang="pt-BR" sz="16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Mensageria e eventos</a:t>
            </a:r>
            <a:endParaRPr lang="pt-BR" sz="1650"/>
          </a:p>
          <a:p>
            <a:pPr algn="l">
              <a:lnSpc>
                <a:spcPct val="118000"/>
              </a:lnSpc>
            </a:pPr>
            <a:r>
              <a:rPr lang="pt-BR" sz="16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Grafos de dependência</a:t>
            </a:r>
            <a:endParaRPr lang="pt-BR" sz="1650"/>
          </a:p>
          <a:p>
            <a:pPr algn="l">
              <a:lnSpc>
                <a:spcPct val="118000"/>
              </a:lnSpc>
            </a:pPr>
            <a:r>
              <a:rPr lang="pt-BR" sz="16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Busca e observabilidade</a:t>
            </a:r>
            <a:endParaRPr lang="pt-BR" sz="1650"/>
          </a:p>
        </p:txBody>
      </p:sp>
      <p:sp>
        <p:nvSpPr>
          <p:cNvPr id="26" name="Shape 26"/>
          <p:cNvSpPr/>
          <p:nvPr/>
        </p:nvSpPr>
        <p:spPr>
          <a:xfrm>
            <a:off x="7924800" y="2362200"/>
            <a:ext cx="3291840" cy="243840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27" name="Shape 27"/>
          <p:cNvSpPr/>
          <p:nvPr/>
        </p:nvSpPr>
        <p:spPr>
          <a:xfrm>
            <a:off x="7924800" y="2362200"/>
            <a:ext cx="60960" cy="2438400"/>
          </a:xfrm>
          <a:prstGeom prst="roundRect">
            <a:avLst/>
          </a:prstGeom>
          <a:solidFill>
            <a:srgbClr val="F17C98"/>
          </a:solidFill>
          <a:ln>
            <a:noFill/>
          </a:ln>
        </p:spPr>
      </p:sp>
      <p:sp>
        <p:nvSpPr>
          <p:cNvPr id="28" name="Shape 28"/>
          <p:cNvSpPr txBox="1"/>
          <p:nvPr/>
        </p:nvSpPr>
        <p:spPr>
          <a:xfrm>
            <a:off x="8138160" y="2529840"/>
            <a:ext cx="2872740" cy="167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3 · IA APLICADA</a:t>
            </a:r>
            <a:endParaRPr lang="pt-BR" sz="1125"/>
          </a:p>
        </p:txBody>
      </p:sp>
      <p:sp>
        <p:nvSpPr>
          <p:cNvPr id="29" name="Shape 29"/>
          <p:cNvSpPr txBox="1"/>
          <p:nvPr/>
        </p:nvSpPr>
        <p:spPr>
          <a:xfrm>
            <a:off x="8138160" y="2766060"/>
            <a:ext cx="28727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pt-BR" sz="20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Comparar e agrupar</a:t>
            </a:r>
            <a:endParaRPr lang="pt-BR" sz="2025"/>
          </a:p>
        </p:txBody>
      </p:sp>
      <p:sp>
        <p:nvSpPr>
          <p:cNvPr id="30" name="Shape 30"/>
          <p:cNvSpPr txBox="1"/>
          <p:nvPr/>
        </p:nvSpPr>
        <p:spPr>
          <a:xfrm>
            <a:off x="8138160" y="3238500"/>
            <a:ext cx="2872740" cy="14401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lang="pt-BR" sz="16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Vetores e cosseno</a:t>
            </a:r>
            <a:endParaRPr lang="pt-BR" sz="1650"/>
          </a:p>
          <a:p>
            <a:pPr algn="l">
              <a:lnSpc>
                <a:spcPct val="118000"/>
              </a:lnSpc>
            </a:pPr>
            <a:r>
              <a:rPr lang="pt-BR" sz="16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RAG com recuperação lexical</a:t>
            </a:r>
            <a:endParaRPr lang="pt-BR" sz="1650"/>
          </a:p>
          <a:p>
            <a:pPr algn="l">
              <a:lnSpc>
                <a:spcPct val="118000"/>
              </a:lnSpc>
            </a:pPr>
            <a:r>
              <a:rPr lang="pt-BR" sz="16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HDBSCAN por etapas</a:t>
            </a:r>
            <a:endParaRPr lang="pt-BR" sz="1650"/>
          </a:p>
        </p:txBody>
      </p:sp>
      <p:sp>
        <p:nvSpPr>
          <p:cNvPr id="31" name="Shape 31"/>
          <p:cNvSpPr txBox="1"/>
          <p:nvPr/>
        </p:nvSpPr>
        <p:spPr>
          <a:xfrm>
            <a:off x="731520" y="5196840"/>
            <a:ext cx="10728960" cy="335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8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Em cada tema: problema  →  estrutura  →  operação  →  resultado  →  limite</a:t>
            </a:r>
            <a:endParaRPr lang="pt-BR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4630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264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ANTES DO CÓDIGO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6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Qual operação precisa ser simples e previsível?</a:t>
            </a:r>
            <a:endParaRPr lang="pt-BR" sz="36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A regra de acesso orienta a estrutura; o cenário orienta a regra.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04</a:t>
            </a:r>
            <a:endParaRPr lang="pt-BR" sz="1275"/>
          </a:p>
        </p:txBody>
      </p:sp>
      <p:cxnSp>
        <p:nvCxnSpPr>
          <p:cNvPr id="16" name="Connector 16"/>
          <p:cNvCxnSpPr/>
          <p:nvPr/>
        </p:nvCxnSpPr>
        <p:spPr>
          <a:xfrm>
            <a:off x="6096000" y="2933700"/>
            <a:ext cx="1" cy="320040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17" name="Connector 17"/>
          <p:cNvCxnSpPr/>
          <p:nvPr/>
        </p:nvCxnSpPr>
        <p:spPr>
          <a:xfrm>
            <a:off x="1950720" y="3253740"/>
            <a:ext cx="8046720" cy="1"/>
          </a:xfrm>
          <a:prstGeom prst="line">
            <a:avLst/>
          </a:prstGeom>
          <a:ln w="22860">
            <a:solidFill>
              <a:srgbClr val="3A427A"/>
            </a:solidFill>
            <a:prstDash val="solid"/>
          </a:ln>
        </p:spPr>
      </p:cxnSp>
      <p:cxnSp>
        <p:nvCxnSpPr>
          <p:cNvPr id="18" name="Connector 18"/>
          <p:cNvCxnSpPr/>
          <p:nvPr/>
        </p:nvCxnSpPr>
        <p:spPr>
          <a:xfrm>
            <a:off x="1950720" y="3253740"/>
            <a:ext cx="1" cy="388620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19" name="Connector 19"/>
          <p:cNvCxnSpPr/>
          <p:nvPr/>
        </p:nvCxnSpPr>
        <p:spPr>
          <a:xfrm>
            <a:off x="4632960" y="3253740"/>
            <a:ext cx="1" cy="388620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20" name="Connector 20"/>
          <p:cNvCxnSpPr/>
          <p:nvPr/>
        </p:nvCxnSpPr>
        <p:spPr>
          <a:xfrm>
            <a:off x="7315200" y="3253740"/>
            <a:ext cx="1" cy="388620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21" name="Connector 21"/>
          <p:cNvCxnSpPr/>
          <p:nvPr/>
        </p:nvCxnSpPr>
        <p:spPr>
          <a:xfrm>
            <a:off x="9997440" y="3253740"/>
            <a:ext cx="1" cy="388620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sp>
        <p:nvSpPr>
          <p:cNvPr id="22" name="Shape 22"/>
          <p:cNvSpPr/>
          <p:nvPr/>
        </p:nvSpPr>
        <p:spPr>
          <a:xfrm>
            <a:off x="4457700" y="2110740"/>
            <a:ext cx="3276600" cy="822960"/>
          </a:xfrm>
          <a:prstGeom prst="diamond">
            <a:avLst/>
          </a:prstGeom>
          <a:solidFill>
            <a:srgbClr val="191D49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6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O que você precisa fazer?</a:t>
            </a:r>
            <a:endParaRPr lang="pt-BR" sz="1650"/>
          </a:p>
        </p:txBody>
      </p:sp>
      <p:sp>
        <p:nvSpPr>
          <p:cNvPr id="23" name="Shape 23"/>
          <p:cNvSpPr/>
          <p:nvPr/>
        </p:nvSpPr>
        <p:spPr>
          <a:xfrm>
            <a:off x="731520" y="3642360"/>
            <a:ext cx="2438400" cy="853440"/>
          </a:xfrm>
          <a:prstGeom prst="roundRect">
            <a:avLst/>
          </a:prstGeom>
          <a:solidFill>
            <a:srgbClr val="1D2454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5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Chegada → saída</a:t>
            </a:r>
            <a:endParaRPr lang="pt-BR" sz="1500"/>
          </a:p>
          <a:p>
            <a:pPr algn="ctr">
              <a:lnSpc>
                <a:spcPct val="105000"/>
              </a:lnSpc>
            </a:pPr>
            <a:r>
              <a:rPr lang="pt-BR" sz="15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Queue · FIFO</a:t>
            </a:r>
            <a:endParaRPr lang="pt-BR" sz="1500"/>
          </a:p>
        </p:txBody>
      </p:sp>
      <p:sp>
        <p:nvSpPr>
          <p:cNvPr id="24" name="Shape 24"/>
          <p:cNvSpPr/>
          <p:nvPr/>
        </p:nvSpPr>
        <p:spPr>
          <a:xfrm>
            <a:off x="3413760" y="3642360"/>
            <a:ext cx="2438400" cy="853440"/>
          </a:xfrm>
          <a:prstGeom prst="roundRect">
            <a:avLst/>
          </a:prstGeom>
          <a:solidFill>
            <a:srgbClr val="1D2454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5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Buscar por ID</a:t>
            </a:r>
            <a:endParaRPr lang="pt-BR" sz="1500"/>
          </a:p>
          <a:p>
            <a:pPr algn="ctr">
              <a:lnSpc>
                <a:spcPct val="105000"/>
              </a:lnSpc>
            </a:pPr>
            <a:r>
              <a:rPr lang="pt-BR" sz="15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HashMap</a:t>
            </a:r>
            <a:endParaRPr lang="pt-BR" sz="1500"/>
          </a:p>
        </p:txBody>
      </p:sp>
      <p:sp>
        <p:nvSpPr>
          <p:cNvPr id="25" name="Shape 25"/>
          <p:cNvSpPr/>
          <p:nvPr/>
        </p:nvSpPr>
        <p:spPr>
          <a:xfrm>
            <a:off x="6096000" y="3642360"/>
            <a:ext cx="2438400" cy="853440"/>
          </a:xfrm>
          <a:prstGeom prst="roundRect">
            <a:avLst/>
          </a:prstGeom>
          <a:solidFill>
            <a:srgbClr val="1D2454"/>
          </a:solidFill>
          <a:ln w="15240">
            <a:solidFill>
              <a:srgbClr val="F17C9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50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Consultar uma faixa</a:t>
            </a:r>
            <a:endParaRPr lang="pt-BR" sz="1500"/>
          </a:p>
          <a:p>
            <a:pPr algn="ctr">
              <a:lnSpc>
                <a:spcPct val="105000"/>
              </a:lnSpc>
            </a:pPr>
            <a:r>
              <a:rPr lang="pt-BR" sz="150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TreeMap · subMap</a:t>
            </a:r>
            <a:endParaRPr lang="pt-BR" sz="1500"/>
          </a:p>
        </p:txBody>
      </p:sp>
      <p:sp>
        <p:nvSpPr>
          <p:cNvPr id="26" name="Shape 26"/>
          <p:cNvSpPr/>
          <p:nvPr/>
        </p:nvSpPr>
        <p:spPr>
          <a:xfrm>
            <a:off x="8778240" y="3642360"/>
            <a:ext cx="2438400" cy="853440"/>
          </a:xfrm>
          <a:prstGeom prst="roundRect">
            <a:avLst/>
          </a:prstGeom>
          <a:solidFill>
            <a:srgbClr val="1D2454"/>
          </a:solidFill>
          <a:ln w="15240">
            <a:solidFill>
              <a:srgbClr val="B2DF7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500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Seguir dependências</a:t>
            </a:r>
            <a:endParaRPr lang="pt-BR" sz="1500"/>
          </a:p>
          <a:p>
            <a:pPr algn="ctr">
              <a:lnSpc>
                <a:spcPct val="105000"/>
              </a:lnSpc>
            </a:pPr>
            <a:r>
              <a:rPr lang="pt-BR" sz="1500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Grafo · BFS / DFS</a:t>
            </a:r>
            <a:endParaRPr lang="pt-BR" sz="1500"/>
          </a:p>
        </p:txBody>
      </p:sp>
      <p:sp>
        <p:nvSpPr>
          <p:cNvPr id="27" name="Shape 27"/>
          <p:cNvSpPr txBox="1"/>
          <p:nvPr/>
        </p:nvSpPr>
        <p:spPr>
          <a:xfrm>
            <a:off x="731520" y="4953000"/>
            <a:ext cx="1072896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57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Na prática, um serviço combina estruturas: escolha cada uma pela operação que mais importa.</a:t>
            </a:r>
            <a:endParaRPr lang="pt-BR" sz="157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6916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493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FUNDAMENTO · LISTA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6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Backlog e prioridade são papéis diferentes</a:t>
            </a:r>
            <a:endParaRPr lang="pt-BR" sz="36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A lista conserva o conjunto; a fila de prioridade entrega o próximo chamado.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05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148840"/>
            <a:ext cx="4876800" cy="292608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960120" y="231648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BACKLOG · ARRAYLIST</a:t>
            </a:r>
            <a:endParaRPr lang="pt-BR" sz="1200"/>
          </a:p>
        </p:txBody>
      </p:sp>
      <p:sp>
        <p:nvSpPr>
          <p:cNvPr id="18" name="Shape 18"/>
          <p:cNvSpPr txBox="1"/>
          <p:nvPr/>
        </p:nvSpPr>
        <p:spPr>
          <a:xfrm>
            <a:off x="975360" y="2697480"/>
            <a:ext cx="47244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5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#101</a:t>
            </a:r>
            <a:endParaRPr lang="pt-BR" sz="1500"/>
          </a:p>
        </p:txBody>
      </p:sp>
      <p:sp>
        <p:nvSpPr>
          <p:cNvPr id="19" name="Shape 19"/>
          <p:cNvSpPr txBox="1"/>
          <p:nvPr/>
        </p:nvSpPr>
        <p:spPr>
          <a:xfrm>
            <a:off x="1531620" y="2697480"/>
            <a:ext cx="85344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CRÍTICA</a:t>
            </a:r>
            <a:endParaRPr lang="pt-BR" sz="1125"/>
          </a:p>
        </p:txBody>
      </p:sp>
      <p:sp>
        <p:nvSpPr>
          <p:cNvPr id="20" name="Shape 20"/>
          <p:cNvSpPr txBox="1"/>
          <p:nvPr/>
        </p:nvSpPr>
        <p:spPr>
          <a:xfrm>
            <a:off x="2446020" y="2697480"/>
            <a:ext cx="278130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Checkout retorna erro 500</a:t>
            </a:r>
            <a:endParaRPr lang="pt-BR" sz="1275"/>
          </a:p>
        </p:txBody>
      </p:sp>
      <p:sp>
        <p:nvSpPr>
          <p:cNvPr id="21" name="Shape 21"/>
          <p:cNvSpPr/>
          <p:nvPr/>
        </p:nvSpPr>
        <p:spPr>
          <a:xfrm>
            <a:off x="960120" y="3116580"/>
            <a:ext cx="434340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22" name="Shape 22"/>
          <p:cNvSpPr txBox="1"/>
          <p:nvPr/>
        </p:nvSpPr>
        <p:spPr>
          <a:xfrm>
            <a:off x="975360" y="3192780"/>
            <a:ext cx="47244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5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#104</a:t>
            </a:r>
            <a:endParaRPr lang="pt-BR" sz="1500"/>
          </a:p>
        </p:txBody>
      </p:sp>
      <p:sp>
        <p:nvSpPr>
          <p:cNvPr id="23" name="Shape 23"/>
          <p:cNvSpPr txBox="1"/>
          <p:nvPr/>
        </p:nvSpPr>
        <p:spPr>
          <a:xfrm>
            <a:off x="1531620" y="3192780"/>
            <a:ext cx="85344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CRÍTICA</a:t>
            </a:r>
            <a:endParaRPr lang="pt-BR" sz="1125"/>
          </a:p>
        </p:txBody>
      </p:sp>
      <p:sp>
        <p:nvSpPr>
          <p:cNvPr id="24" name="Shape 24"/>
          <p:cNvSpPr txBox="1"/>
          <p:nvPr/>
        </p:nvSpPr>
        <p:spPr>
          <a:xfrm>
            <a:off x="2446020" y="3192780"/>
            <a:ext cx="278130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Login bloqueado</a:t>
            </a:r>
            <a:endParaRPr lang="pt-BR" sz="1275"/>
          </a:p>
        </p:txBody>
      </p:sp>
      <p:sp>
        <p:nvSpPr>
          <p:cNvPr id="25" name="Shape 25"/>
          <p:cNvSpPr/>
          <p:nvPr/>
        </p:nvSpPr>
        <p:spPr>
          <a:xfrm>
            <a:off x="960120" y="3611880"/>
            <a:ext cx="434340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26" name="Shape 26"/>
          <p:cNvSpPr txBox="1"/>
          <p:nvPr/>
        </p:nvSpPr>
        <p:spPr>
          <a:xfrm>
            <a:off x="975360" y="3688080"/>
            <a:ext cx="47244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5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#106</a:t>
            </a:r>
            <a:endParaRPr lang="pt-BR" sz="1500"/>
          </a:p>
        </p:txBody>
      </p:sp>
      <p:sp>
        <p:nvSpPr>
          <p:cNvPr id="27" name="Shape 27"/>
          <p:cNvSpPr txBox="1"/>
          <p:nvPr/>
        </p:nvSpPr>
        <p:spPr>
          <a:xfrm>
            <a:off x="1531620" y="3688080"/>
            <a:ext cx="85344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ALTA</a:t>
            </a:r>
            <a:endParaRPr lang="pt-BR" sz="1125"/>
          </a:p>
        </p:txBody>
      </p:sp>
      <p:sp>
        <p:nvSpPr>
          <p:cNvPr id="28" name="Shape 28"/>
          <p:cNvSpPr txBox="1"/>
          <p:nvPr/>
        </p:nvSpPr>
        <p:spPr>
          <a:xfrm>
            <a:off x="2446020" y="3688080"/>
            <a:ext cx="278130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Lentidão no frete</a:t>
            </a:r>
            <a:endParaRPr lang="pt-BR" sz="1275"/>
          </a:p>
        </p:txBody>
      </p:sp>
      <p:sp>
        <p:nvSpPr>
          <p:cNvPr id="29" name="Shape 29"/>
          <p:cNvSpPr/>
          <p:nvPr/>
        </p:nvSpPr>
        <p:spPr>
          <a:xfrm>
            <a:off x="960120" y="4107180"/>
            <a:ext cx="434340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30" name="Shape 30"/>
          <p:cNvSpPr txBox="1"/>
          <p:nvPr/>
        </p:nvSpPr>
        <p:spPr>
          <a:xfrm>
            <a:off x="975360" y="4183380"/>
            <a:ext cx="47244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5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#102</a:t>
            </a:r>
            <a:endParaRPr lang="pt-BR" sz="1500"/>
          </a:p>
        </p:txBody>
      </p:sp>
      <p:sp>
        <p:nvSpPr>
          <p:cNvPr id="31" name="Shape 31"/>
          <p:cNvSpPr txBox="1"/>
          <p:nvPr/>
        </p:nvSpPr>
        <p:spPr>
          <a:xfrm>
            <a:off x="1531620" y="4183380"/>
            <a:ext cx="85344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BAIXA</a:t>
            </a:r>
            <a:endParaRPr lang="pt-BR" sz="1125"/>
          </a:p>
        </p:txBody>
      </p:sp>
      <p:sp>
        <p:nvSpPr>
          <p:cNvPr id="32" name="Shape 32"/>
          <p:cNvSpPr txBox="1"/>
          <p:nvPr/>
        </p:nvSpPr>
        <p:spPr>
          <a:xfrm>
            <a:off x="2446020" y="4183380"/>
            <a:ext cx="278130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Texto da página de ajuda</a:t>
            </a:r>
            <a:endParaRPr lang="pt-BR" sz="1275"/>
          </a:p>
        </p:txBody>
      </p:sp>
      <p:sp>
        <p:nvSpPr>
          <p:cNvPr id="33" name="Shape 33"/>
          <p:cNvSpPr/>
          <p:nvPr/>
        </p:nvSpPr>
        <p:spPr>
          <a:xfrm>
            <a:off x="5882640" y="2148840"/>
            <a:ext cx="5577840" cy="292608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34" name="Shape 34"/>
          <p:cNvSpPr txBox="1"/>
          <p:nvPr/>
        </p:nvSpPr>
        <p:spPr>
          <a:xfrm>
            <a:off x="6141720" y="231648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PRÓXIMOS · PRIORITYQUEUE</a:t>
            </a:r>
            <a:endParaRPr lang="pt-BR" sz="1200"/>
          </a:p>
        </p:txBody>
      </p:sp>
      <p:sp>
        <p:nvSpPr>
          <p:cNvPr id="35" name="Shape 35"/>
          <p:cNvSpPr txBox="1"/>
          <p:nvPr/>
        </p:nvSpPr>
        <p:spPr>
          <a:xfrm>
            <a:off x="6141720" y="2674620"/>
            <a:ext cx="495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CRÍTICA primeiro; ID desempata</a:t>
            </a:r>
            <a:endParaRPr lang="pt-BR" sz="1725"/>
          </a:p>
        </p:txBody>
      </p:sp>
      <p:sp>
        <p:nvSpPr>
          <p:cNvPr id="36" name="Shape 36"/>
          <p:cNvSpPr/>
          <p:nvPr/>
        </p:nvSpPr>
        <p:spPr>
          <a:xfrm>
            <a:off x="6141720" y="3162300"/>
            <a:ext cx="1447800" cy="57912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37" name="Shape 37"/>
          <p:cNvSpPr txBox="1"/>
          <p:nvPr/>
        </p:nvSpPr>
        <p:spPr>
          <a:xfrm>
            <a:off x="6217920" y="3215640"/>
            <a:ext cx="24384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1</a:t>
            </a:r>
            <a:endParaRPr lang="pt-BR" sz="1200"/>
          </a:p>
        </p:txBody>
      </p:sp>
      <p:sp>
        <p:nvSpPr>
          <p:cNvPr id="38" name="Shape 38"/>
          <p:cNvSpPr txBox="1"/>
          <p:nvPr/>
        </p:nvSpPr>
        <p:spPr>
          <a:xfrm>
            <a:off x="6492240" y="3215640"/>
            <a:ext cx="1021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#101 · checkout</a:t>
            </a:r>
            <a:endParaRPr lang="pt-BR" sz="1200"/>
          </a:p>
        </p:txBody>
      </p:sp>
      <p:sp>
        <p:nvSpPr>
          <p:cNvPr id="39" name="Shape 39"/>
          <p:cNvSpPr/>
          <p:nvPr/>
        </p:nvSpPr>
        <p:spPr>
          <a:xfrm>
            <a:off x="7749540" y="3162300"/>
            <a:ext cx="1447800" cy="57912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40" name="Shape 40"/>
          <p:cNvSpPr txBox="1"/>
          <p:nvPr/>
        </p:nvSpPr>
        <p:spPr>
          <a:xfrm>
            <a:off x="7825740" y="3215640"/>
            <a:ext cx="24384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pt-BR" sz="1200"/>
          </a:p>
        </p:txBody>
      </p:sp>
      <p:sp>
        <p:nvSpPr>
          <p:cNvPr id="41" name="Shape 41"/>
          <p:cNvSpPr txBox="1"/>
          <p:nvPr/>
        </p:nvSpPr>
        <p:spPr>
          <a:xfrm>
            <a:off x="8100060" y="3215640"/>
            <a:ext cx="1021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#104 · login</a:t>
            </a:r>
            <a:endParaRPr lang="pt-BR" sz="1200"/>
          </a:p>
        </p:txBody>
      </p:sp>
      <p:sp>
        <p:nvSpPr>
          <p:cNvPr id="42" name="Shape 42"/>
          <p:cNvSpPr/>
          <p:nvPr/>
        </p:nvSpPr>
        <p:spPr>
          <a:xfrm>
            <a:off x="9357360" y="3162300"/>
            <a:ext cx="1447800" cy="57912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F4BA58"/>
            </a:solidFill>
          </a:ln>
        </p:spPr>
      </p:sp>
      <p:sp>
        <p:nvSpPr>
          <p:cNvPr id="43" name="Shape 43"/>
          <p:cNvSpPr txBox="1"/>
          <p:nvPr/>
        </p:nvSpPr>
        <p:spPr>
          <a:xfrm>
            <a:off x="9433560" y="3215640"/>
            <a:ext cx="24384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3</a:t>
            </a:r>
            <a:endParaRPr lang="pt-BR" sz="1200"/>
          </a:p>
        </p:txBody>
      </p:sp>
      <p:sp>
        <p:nvSpPr>
          <p:cNvPr id="44" name="Shape 44"/>
          <p:cNvSpPr txBox="1"/>
          <p:nvPr/>
        </p:nvSpPr>
        <p:spPr>
          <a:xfrm>
            <a:off x="9707880" y="3215640"/>
            <a:ext cx="1021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#107 · autenticação</a:t>
            </a:r>
            <a:endParaRPr lang="pt-BR" sz="1200"/>
          </a:p>
        </p:txBody>
      </p:sp>
      <p:sp>
        <p:nvSpPr>
          <p:cNvPr id="45" name="Shape 45"/>
          <p:cNvSpPr txBox="1"/>
          <p:nvPr/>
        </p:nvSpPr>
        <p:spPr>
          <a:xfrm>
            <a:off x="6141720" y="3977640"/>
            <a:ext cx="48006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O incidente #107 chega durante o plantão e entra na ordem pela mesma regra.</a:t>
            </a:r>
            <a:endParaRPr lang="pt-BR" sz="1350"/>
          </a:p>
        </p:txBody>
      </p:sp>
      <p:sp>
        <p:nvSpPr>
          <p:cNvPr id="46" name="Shape 46"/>
          <p:cNvSpPr/>
          <p:nvPr/>
        </p:nvSpPr>
        <p:spPr>
          <a:xfrm>
            <a:off x="6141720" y="4526280"/>
            <a:ext cx="9906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47" name="Shape 47"/>
          <p:cNvSpPr txBox="1"/>
          <p:nvPr/>
        </p:nvSpPr>
        <p:spPr>
          <a:xfrm>
            <a:off x="6240780" y="4541520"/>
            <a:ext cx="792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peek · olhar</a:t>
            </a:r>
            <a:endParaRPr lang="pt-BR" sz="1200"/>
          </a:p>
        </p:txBody>
      </p:sp>
      <p:sp>
        <p:nvSpPr>
          <p:cNvPr id="48" name="Shape 48"/>
          <p:cNvSpPr/>
          <p:nvPr/>
        </p:nvSpPr>
        <p:spPr>
          <a:xfrm>
            <a:off x="7223760" y="4526280"/>
            <a:ext cx="9906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F4BA58"/>
            </a:solidFill>
          </a:ln>
        </p:spPr>
      </p:sp>
      <p:sp>
        <p:nvSpPr>
          <p:cNvPr id="49" name="Shape 49"/>
          <p:cNvSpPr txBox="1"/>
          <p:nvPr/>
        </p:nvSpPr>
        <p:spPr>
          <a:xfrm>
            <a:off x="7322820" y="4541520"/>
            <a:ext cx="792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poll · retirar</a:t>
            </a:r>
            <a:endParaRPr lang="pt-BR" sz="1200"/>
          </a:p>
        </p:txBody>
      </p:sp>
      <p:sp>
        <p:nvSpPr>
          <p:cNvPr id="50" name="Shape 50"/>
          <p:cNvSpPr/>
          <p:nvPr/>
        </p:nvSpPr>
        <p:spPr>
          <a:xfrm>
            <a:off x="8305800" y="4526280"/>
            <a:ext cx="164592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F17C98"/>
            </a:solidFill>
          </a:ln>
        </p:spPr>
      </p:sp>
      <p:sp>
        <p:nvSpPr>
          <p:cNvPr id="51" name="Shape 51"/>
          <p:cNvSpPr txBox="1"/>
          <p:nvPr/>
        </p:nvSpPr>
        <p:spPr>
          <a:xfrm>
            <a:off x="8404860" y="4541520"/>
            <a:ext cx="1447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offer · enfileirar</a:t>
            </a:r>
            <a:endParaRPr lang="pt-BR" sz="1200"/>
          </a:p>
        </p:txBody>
      </p:sp>
      <p:sp>
        <p:nvSpPr>
          <p:cNvPr id="52" name="Shape 52"/>
          <p:cNvSpPr/>
          <p:nvPr/>
        </p:nvSpPr>
        <p:spPr>
          <a:xfrm>
            <a:off x="731520" y="5257800"/>
            <a:ext cx="10728960" cy="777240"/>
          </a:xfrm>
          <a:prstGeom prst="roundRect">
            <a:avLst/>
          </a:prstGeom>
          <a:solidFill>
            <a:srgbClr val="0C1029"/>
          </a:solidFill>
          <a:ln w="7620">
            <a:solidFill>
              <a:srgbClr val="3A427A"/>
            </a:solidFill>
          </a:ln>
        </p:spPr>
      </p:sp>
      <p:sp>
        <p:nvSpPr>
          <p:cNvPr id="53" name="Shape 53"/>
          <p:cNvSpPr txBox="1"/>
          <p:nvPr/>
        </p:nvSpPr>
        <p:spPr>
          <a:xfrm>
            <a:off x="899160" y="5364480"/>
            <a:ext cx="10393680" cy="1752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NA CONSULTA DO BACKLOG</a:t>
            </a:r>
            <a:endParaRPr lang="pt-BR" sz="1050"/>
          </a:p>
        </p:txBody>
      </p:sp>
      <p:sp>
        <p:nvSpPr>
          <p:cNvPr id="54" name="Shape 54"/>
          <p:cNvSpPr txBox="1"/>
          <p:nvPr/>
        </p:nvSpPr>
        <p:spPr>
          <a:xfrm>
            <a:off x="899160" y="5608320"/>
            <a:ext cx="10393680" cy="335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2000"/>
              </a:lnSpc>
            </a:pPr>
            <a:r>
              <a:rPr lang="pt-BR" sz="1575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filter(abertos)  →  sorted(prioridade, ID)  →  limit(3)</a:t>
            </a:r>
            <a:endParaRPr lang="pt-BR" sz="157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22250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2026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FUNDAMENTO · FILA / PILHA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6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A posição de entrada define a próxima ação</a:t>
            </a:r>
            <a:endParaRPr lang="pt-BR" sz="36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Queue modela chegada; Deque também pode modelar o histórico de desfazer.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06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148840"/>
            <a:ext cx="5181600" cy="327660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/>
          <p:nvPr/>
        </p:nvSpPr>
        <p:spPr>
          <a:xfrm>
            <a:off x="960120" y="2339340"/>
            <a:ext cx="82296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1059180" y="2354580"/>
            <a:ext cx="624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FIFO</a:t>
            </a:r>
            <a:endParaRPr lang="pt-BR" sz="1200"/>
          </a:p>
        </p:txBody>
      </p:sp>
      <p:sp>
        <p:nvSpPr>
          <p:cNvPr id="19" name="Shape 19"/>
          <p:cNvSpPr txBox="1"/>
          <p:nvPr/>
        </p:nvSpPr>
        <p:spPr>
          <a:xfrm>
            <a:off x="1905000" y="2369820"/>
            <a:ext cx="3619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PEDIDOS NA ORDEM DE APROVAÇÃO</a:t>
            </a:r>
            <a:endParaRPr lang="pt-BR" sz="1200"/>
          </a:p>
        </p:txBody>
      </p:sp>
      <p:sp>
        <p:nvSpPr>
          <p:cNvPr id="20" name="Shape 20"/>
          <p:cNvSpPr/>
          <p:nvPr/>
        </p:nvSpPr>
        <p:spPr>
          <a:xfrm>
            <a:off x="990600" y="2971800"/>
            <a:ext cx="1257300" cy="47244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990600" y="3017520"/>
            <a:ext cx="12573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PED-101</a:t>
            </a:r>
            <a:endParaRPr lang="pt-BR" sz="1275"/>
          </a:p>
        </p:txBody>
      </p:sp>
      <p:sp>
        <p:nvSpPr>
          <p:cNvPr id="22" name="Shape 22"/>
          <p:cNvSpPr/>
          <p:nvPr/>
        </p:nvSpPr>
        <p:spPr>
          <a:xfrm>
            <a:off x="2461260" y="2971800"/>
            <a:ext cx="1257300" cy="47244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2461260" y="3017520"/>
            <a:ext cx="12573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PED-102</a:t>
            </a:r>
            <a:endParaRPr lang="pt-BR" sz="1275"/>
          </a:p>
        </p:txBody>
      </p:sp>
      <p:sp>
        <p:nvSpPr>
          <p:cNvPr id="24" name="Shape 24"/>
          <p:cNvSpPr/>
          <p:nvPr/>
        </p:nvSpPr>
        <p:spPr>
          <a:xfrm>
            <a:off x="3931920" y="2971800"/>
            <a:ext cx="1257300" cy="47244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3931920" y="3017520"/>
            <a:ext cx="12573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PED-103</a:t>
            </a:r>
            <a:endParaRPr lang="pt-BR" sz="1275"/>
          </a:p>
        </p:txBody>
      </p:sp>
      <p:sp>
        <p:nvSpPr>
          <p:cNvPr id="26" name="Shape 26"/>
          <p:cNvSpPr txBox="1"/>
          <p:nvPr/>
        </p:nvSpPr>
        <p:spPr>
          <a:xfrm>
            <a:off x="990600" y="3566160"/>
            <a:ext cx="4343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peek() consulta  ·  poll() remove a cabeça</a:t>
            </a:r>
            <a:endParaRPr lang="pt-BR" sz="1350"/>
          </a:p>
        </p:txBody>
      </p:sp>
      <p:sp>
        <p:nvSpPr>
          <p:cNvPr id="27" name="Shape 27"/>
          <p:cNvSpPr txBox="1"/>
          <p:nvPr/>
        </p:nvSpPr>
        <p:spPr>
          <a:xfrm>
            <a:off x="990600" y="3931920"/>
            <a:ext cx="441960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6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PAGO  →  EM_SEPARACAO</a:t>
            </a:r>
            <a:endParaRPr lang="pt-BR" sz="1650"/>
          </a:p>
        </p:txBody>
      </p:sp>
      <p:sp>
        <p:nvSpPr>
          <p:cNvPr id="28" name="Shape 28"/>
          <p:cNvSpPr txBox="1"/>
          <p:nvPr/>
        </p:nvSpPr>
        <p:spPr>
          <a:xfrm>
            <a:off x="990600" y="4572000"/>
            <a:ext cx="441960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75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ArrayDeque + HashSet para evitar ID repetido.</a:t>
            </a:r>
            <a:endParaRPr lang="pt-BR" sz="1275"/>
          </a:p>
        </p:txBody>
      </p:sp>
      <p:sp>
        <p:nvSpPr>
          <p:cNvPr id="29" name="Shape 29"/>
          <p:cNvSpPr/>
          <p:nvPr/>
        </p:nvSpPr>
        <p:spPr>
          <a:xfrm>
            <a:off x="6278880" y="2148840"/>
            <a:ext cx="5181600" cy="327660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30" name="Shape 30"/>
          <p:cNvSpPr/>
          <p:nvPr/>
        </p:nvSpPr>
        <p:spPr>
          <a:xfrm>
            <a:off x="6507480" y="2339340"/>
            <a:ext cx="82296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F4BA58"/>
            </a:solidFill>
          </a:ln>
        </p:spPr>
      </p:sp>
      <p:sp>
        <p:nvSpPr>
          <p:cNvPr id="31" name="Shape 31"/>
          <p:cNvSpPr txBox="1"/>
          <p:nvPr/>
        </p:nvSpPr>
        <p:spPr>
          <a:xfrm>
            <a:off x="6606540" y="2354580"/>
            <a:ext cx="624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LIFO</a:t>
            </a:r>
            <a:endParaRPr lang="pt-BR" sz="1200"/>
          </a:p>
        </p:txBody>
      </p:sp>
      <p:sp>
        <p:nvSpPr>
          <p:cNvPr id="32" name="Shape 32"/>
          <p:cNvSpPr txBox="1"/>
          <p:nvPr/>
        </p:nvSpPr>
        <p:spPr>
          <a:xfrm>
            <a:off x="7467600" y="2369820"/>
            <a:ext cx="3619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DESFAZER CONFIGURAÇÃO</a:t>
            </a:r>
            <a:endParaRPr lang="pt-BR" sz="1200"/>
          </a:p>
        </p:txBody>
      </p:sp>
      <p:sp>
        <p:nvSpPr>
          <p:cNvPr id="33" name="Shape 33"/>
          <p:cNvSpPr/>
          <p:nvPr/>
        </p:nvSpPr>
        <p:spPr>
          <a:xfrm>
            <a:off x="7498080" y="2880360"/>
            <a:ext cx="2819400" cy="39624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F4BA58"/>
            </a:solidFill>
          </a:ln>
        </p:spPr>
      </p:sp>
      <p:sp>
        <p:nvSpPr>
          <p:cNvPr id="34" name="Shape 34"/>
          <p:cNvSpPr txBox="1"/>
          <p:nvPr/>
        </p:nvSpPr>
        <p:spPr>
          <a:xfrm>
            <a:off x="7627620" y="2918460"/>
            <a:ext cx="2545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logs detalhados = sim</a:t>
            </a:r>
            <a:endParaRPr lang="pt-BR" sz="1350"/>
          </a:p>
        </p:txBody>
      </p:sp>
      <p:sp>
        <p:nvSpPr>
          <p:cNvPr id="35" name="Shape 35"/>
          <p:cNvSpPr/>
          <p:nvPr/>
        </p:nvSpPr>
        <p:spPr>
          <a:xfrm>
            <a:off x="7498080" y="3390900"/>
            <a:ext cx="2819400" cy="39624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36" name="Shape 36"/>
          <p:cNvSpPr txBox="1"/>
          <p:nvPr/>
        </p:nvSpPr>
        <p:spPr>
          <a:xfrm>
            <a:off x="7627620" y="3429000"/>
            <a:ext cx="2545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timeout = 5 s</a:t>
            </a:r>
            <a:endParaRPr lang="pt-BR" sz="1350"/>
          </a:p>
        </p:txBody>
      </p:sp>
      <p:sp>
        <p:nvSpPr>
          <p:cNvPr id="37" name="Shape 37"/>
          <p:cNvSpPr/>
          <p:nvPr/>
        </p:nvSpPr>
        <p:spPr>
          <a:xfrm>
            <a:off x="7498080" y="3901440"/>
            <a:ext cx="2819400" cy="39624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38" name="Shape 38"/>
          <p:cNvSpPr txBox="1"/>
          <p:nvPr/>
        </p:nvSpPr>
        <p:spPr>
          <a:xfrm>
            <a:off x="7627620" y="3939540"/>
            <a:ext cx="2545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timeout = 2 s</a:t>
            </a:r>
            <a:endParaRPr lang="pt-BR" sz="1350"/>
          </a:p>
        </p:txBody>
      </p:sp>
      <p:sp>
        <p:nvSpPr>
          <p:cNvPr id="39" name="Shape 39"/>
          <p:cNvSpPr txBox="1"/>
          <p:nvPr/>
        </p:nvSpPr>
        <p:spPr>
          <a:xfrm>
            <a:off x="6507480" y="459486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push(snapshot)  →  pop() restaura o anterior</a:t>
            </a:r>
            <a:endParaRPr lang="pt-BR"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6154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FUNDAMENTO · MAPA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6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Um ID leva direto ao registro que você precisa</a:t>
            </a:r>
            <a:endParaRPr lang="pt-BR" sz="36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HashMap indexa; Optional comunica ausência sem confundir com erro.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07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179320"/>
            <a:ext cx="5486400" cy="327660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975360" y="23622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CHAVE  →  VALOR</a:t>
            </a:r>
            <a:endParaRPr lang="pt-BR" sz="1200"/>
          </a:p>
        </p:txBody>
      </p:sp>
      <p:sp>
        <p:nvSpPr>
          <p:cNvPr id="18" name="Shape 18"/>
          <p:cNvSpPr/>
          <p:nvPr/>
        </p:nvSpPr>
        <p:spPr>
          <a:xfrm>
            <a:off x="1005840" y="2781300"/>
            <a:ext cx="624840" cy="36576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1005840" y="2804160"/>
            <a:ext cx="62484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5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1</a:t>
            </a:r>
            <a:endParaRPr lang="pt-BR" sz="1500"/>
          </a:p>
        </p:txBody>
      </p:sp>
      <p:sp>
        <p:nvSpPr>
          <p:cNvPr id="20" name="Shape 20"/>
          <p:cNvSpPr txBox="1"/>
          <p:nvPr/>
        </p:nvSpPr>
        <p:spPr>
          <a:xfrm>
            <a:off x="1828800" y="28270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650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Ana · ativa</a:t>
            </a:r>
            <a:endParaRPr lang="pt-BR" sz="1650"/>
          </a:p>
        </p:txBody>
      </p:sp>
      <p:sp>
        <p:nvSpPr>
          <p:cNvPr id="21" name="Shape 21"/>
          <p:cNvSpPr/>
          <p:nvPr/>
        </p:nvSpPr>
        <p:spPr>
          <a:xfrm>
            <a:off x="1005840" y="3314700"/>
            <a:ext cx="624840" cy="36576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22" name="Shape 22"/>
          <p:cNvSpPr txBox="1"/>
          <p:nvPr/>
        </p:nvSpPr>
        <p:spPr>
          <a:xfrm>
            <a:off x="1005840" y="3337560"/>
            <a:ext cx="62484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5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pt-BR" sz="1500"/>
          </a:p>
        </p:txBody>
      </p:sp>
      <p:sp>
        <p:nvSpPr>
          <p:cNvPr id="23" name="Shape 23"/>
          <p:cNvSpPr txBox="1"/>
          <p:nvPr/>
        </p:nvSpPr>
        <p:spPr>
          <a:xfrm>
            <a:off x="1828800" y="33604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650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Bruno · inativo</a:t>
            </a:r>
            <a:endParaRPr lang="pt-BR" sz="1650"/>
          </a:p>
        </p:txBody>
      </p:sp>
      <p:sp>
        <p:nvSpPr>
          <p:cNvPr id="24" name="Shape 24"/>
          <p:cNvSpPr/>
          <p:nvPr/>
        </p:nvSpPr>
        <p:spPr>
          <a:xfrm>
            <a:off x="1005840" y="3848100"/>
            <a:ext cx="624840" cy="36576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1005840" y="3870960"/>
            <a:ext cx="62484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5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3</a:t>
            </a:r>
            <a:endParaRPr lang="pt-BR" sz="1500"/>
          </a:p>
        </p:txBody>
      </p:sp>
      <p:sp>
        <p:nvSpPr>
          <p:cNvPr id="26" name="Shape 26"/>
          <p:cNvSpPr txBox="1"/>
          <p:nvPr/>
        </p:nvSpPr>
        <p:spPr>
          <a:xfrm>
            <a:off x="1828800" y="38938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650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Clara · ativa</a:t>
            </a:r>
            <a:endParaRPr lang="pt-BR" sz="1650"/>
          </a:p>
        </p:txBody>
      </p:sp>
      <p:sp>
        <p:nvSpPr>
          <p:cNvPr id="27" name="Shape 27"/>
          <p:cNvSpPr/>
          <p:nvPr/>
        </p:nvSpPr>
        <p:spPr>
          <a:xfrm>
            <a:off x="6537960" y="2179320"/>
            <a:ext cx="4922520" cy="1584960"/>
          </a:xfrm>
          <a:prstGeom prst="roundRect">
            <a:avLst/>
          </a:prstGeom>
          <a:solidFill>
            <a:srgbClr val="0C1029"/>
          </a:solidFill>
          <a:ln w="7620">
            <a:solidFill>
              <a:srgbClr val="3A427A"/>
            </a:solidFill>
          </a:ln>
        </p:spPr>
      </p:sp>
      <p:sp>
        <p:nvSpPr>
          <p:cNvPr id="28" name="Shape 28"/>
          <p:cNvSpPr txBox="1"/>
          <p:nvPr/>
        </p:nvSpPr>
        <p:spPr>
          <a:xfrm>
            <a:off x="6705600" y="2286000"/>
            <a:ext cx="4587240" cy="1752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BUSCAR SEM EXIBIR O MAPA</a:t>
            </a:r>
            <a:endParaRPr lang="pt-BR" sz="1050"/>
          </a:p>
        </p:txBody>
      </p:sp>
      <p:sp>
        <p:nvSpPr>
          <p:cNvPr id="29" name="Shape 29"/>
          <p:cNvSpPr txBox="1"/>
          <p:nvPr/>
        </p:nvSpPr>
        <p:spPr>
          <a:xfrm>
            <a:off x="6705600" y="2529840"/>
            <a:ext cx="45872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2000"/>
              </a:lnSpc>
            </a:pPr>
            <a:r>
              <a:rPr lang="pt-BR" sz="1350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usuarios.buscarPorId(1)</a:t>
            </a:r>
            <a:endParaRPr lang="pt-BR" sz="1350"/>
          </a:p>
          <a:p>
            <a:pPr algn="l">
              <a:lnSpc>
                <a:spcPct val="132000"/>
              </a:lnSpc>
            </a:pPr>
            <a:r>
              <a:rPr lang="pt-BR" sz="1350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  .filter(Usuario::ativo)</a:t>
            </a:r>
            <a:endParaRPr lang="pt-BR" sz="1350"/>
          </a:p>
          <a:p>
            <a:pPr algn="l">
              <a:lnSpc>
                <a:spcPct val="132000"/>
              </a:lnSpc>
            </a:pPr>
            <a:r>
              <a:rPr lang="pt-BR" sz="1350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  .map(Usuario::email)</a:t>
            </a:r>
            <a:endParaRPr lang="pt-BR" sz="1350"/>
          </a:p>
        </p:txBody>
      </p:sp>
      <p:sp>
        <p:nvSpPr>
          <p:cNvPr id="30" name="Shape 30"/>
          <p:cNvSpPr/>
          <p:nvPr/>
        </p:nvSpPr>
        <p:spPr>
          <a:xfrm>
            <a:off x="6537960" y="3962400"/>
            <a:ext cx="4922520" cy="149352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537960" y="3962400"/>
            <a:ext cx="60960" cy="1493520"/>
          </a:xfrm>
          <a:prstGeom prst="roundRect">
            <a:avLst/>
          </a:prstGeom>
          <a:solidFill>
            <a:srgbClr val="F17C98"/>
          </a:solidFill>
          <a:ln>
            <a:noFill/>
          </a:ln>
        </p:spPr>
      </p:sp>
      <p:sp>
        <p:nvSpPr>
          <p:cNvPr id="32" name="Shape 32"/>
          <p:cNvSpPr txBox="1"/>
          <p:nvPr/>
        </p:nvSpPr>
        <p:spPr>
          <a:xfrm>
            <a:off x="6751320" y="4130040"/>
            <a:ext cx="4503420" cy="167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REGRAS DO REPOSITÓRIO</a:t>
            </a:r>
            <a:endParaRPr lang="pt-BR" sz="1125"/>
          </a:p>
        </p:txBody>
      </p:sp>
      <p:sp>
        <p:nvSpPr>
          <p:cNvPr id="33" name="Shape 33"/>
          <p:cNvSpPr txBox="1"/>
          <p:nvPr/>
        </p:nvSpPr>
        <p:spPr>
          <a:xfrm>
            <a:off x="6751320" y="4366260"/>
            <a:ext cx="45034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pt-BR" sz="16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ID repetido é recusado</a:t>
            </a:r>
            <a:endParaRPr lang="pt-BR" sz="1650"/>
          </a:p>
        </p:txBody>
      </p:sp>
      <p:sp>
        <p:nvSpPr>
          <p:cNvPr id="34" name="Shape 34"/>
          <p:cNvSpPr txBox="1"/>
          <p:nvPr/>
        </p:nvSpPr>
        <p:spPr>
          <a:xfrm>
            <a:off x="6751320" y="4838700"/>
            <a:ext cx="450342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8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putIfAbsent cadastra; replace atualiza somente quem existe.</a:t>
            </a:r>
            <a:endParaRPr lang="pt-BR" sz="1275"/>
          </a:p>
        </p:txBody>
      </p:sp>
      <p:sp>
        <p:nvSpPr>
          <p:cNvPr id="35" name="Shape 35"/>
          <p:cNvSpPr txBox="1"/>
          <p:nvPr/>
        </p:nvSpPr>
        <p:spPr>
          <a:xfrm>
            <a:off x="975360" y="4960620"/>
            <a:ext cx="4800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Busca por chave: O(1) esperado · ordem não garantida</a:t>
            </a:r>
            <a:endParaRPr lang="pt-BR" sz="127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24536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2255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FUNDAMENTO · ÁRVORE ORDENADA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6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Uma árvore ajuda a encontrar uma janela de tempo</a:t>
            </a:r>
            <a:endParaRPr lang="pt-BR" sz="36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TreeMap mantém chaves ordenadas; cada timestamp aponta para uma lista de logs.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08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179320"/>
            <a:ext cx="6400800" cy="323088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960120" y="2324100"/>
            <a:ext cx="59436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BUSCA POR TIMESTAMP · VISTA CONCEITUAL</a:t>
            </a:r>
            <a:endParaRPr lang="pt-BR" sz="1125"/>
          </a:p>
        </p:txBody>
      </p:sp>
      <p:cxnSp>
        <p:nvCxnSpPr>
          <p:cNvPr id="18" name="Connector 18"/>
          <p:cNvCxnSpPr/>
          <p:nvPr/>
        </p:nvCxnSpPr>
        <p:spPr>
          <a:xfrm flipH="1">
            <a:off x="2209800" y="3086100"/>
            <a:ext cx="1600200" cy="586740"/>
          </a:xfrm>
          <a:prstGeom prst="line">
            <a:avLst/>
          </a:prstGeom>
          <a:ln w="22860">
            <a:solidFill>
              <a:srgbClr val="858DB7"/>
            </a:solidFill>
            <a:prstDash val="solid"/>
          </a:ln>
        </p:spPr>
      </p:cxnSp>
      <p:cxnSp>
        <p:nvCxnSpPr>
          <p:cNvPr id="19" name="Connector 19"/>
          <p:cNvCxnSpPr/>
          <p:nvPr/>
        </p:nvCxnSpPr>
        <p:spPr>
          <a:xfrm>
            <a:off x="4648200" y="3086100"/>
            <a:ext cx="883920" cy="586740"/>
          </a:xfrm>
          <a:prstGeom prst="line">
            <a:avLst/>
          </a:prstGeom>
          <a:ln w="22860">
            <a:solidFill>
              <a:srgbClr val="858DB7"/>
            </a:solidFill>
            <a:prstDash val="solid"/>
          </a:ln>
        </p:spPr>
      </p:cxnSp>
      <p:cxnSp>
        <p:nvCxnSpPr>
          <p:cNvPr id="20" name="Connector 20"/>
          <p:cNvCxnSpPr/>
          <p:nvPr/>
        </p:nvCxnSpPr>
        <p:spPr>
          <a:xfrm>
            <a:off x="5532120" y="4251960"/>
            <a:ext cx="1" cy="350520"/>
          </a:xfrm>
          <a:prstGeom prst="line">
            <a:avLst/>
          </a:prstGeom>
          <a:ln w="22860">
            <a:solidFill>
              <a:srgbClr val="858DB7"/>
            </a:solidFill>
            <a:prstDash val="solid"/>
          </a:ln>
        </p:spPr>
      </p:cxnSp>
      <p:sp>
        <p:nvSpPr>
          <p:cNvPr id="21" name="Shape 21"/>
          <p:cNvSpPr/>
          <p:nvPr/>
        </p:nvSpPr>
        <p:spPr>
          <a:xfrm>
            <a:off x="3200400" y="2560320"/>
            <a:ext cx="1828800" cy="54864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12:00:30</a:t>
            </a:r>
            <a:endParaRPr lang="pt-BR" sz="1350"/>
          </a:p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2 logs</a:t>
            </a:r>
            <a:endParaRPr lang="pt-BR" sz="1350"/>
          </a:p>
        </p:txBody>
      </p:sp>
      <p:sp>
        <p:nvSpPr>
          <p:cNvPr id="22" name="Shape 22"/>
          <p:cNvSpPr/>
          <p:nvPr/>
        </p:nvSpPr>
        <p:spPr>
          <a:xfrm>
            <a:off x="1219200" y="3672840"/>
            <a:ext cx="1981200" cy="57912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7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12:00:00</a:t>
            </a:r>
            <a:endParaRPr lang="pt-BR" sz="1275"/>
          </a:p>
          <a:p>
            <a:pPr algn="ctr">
              <a:lnSpc>
                <a:spcPct val="105000"/>
              </a:lnSpc>
            </a:pPr>
            <a:r>
              <a:rPr lang="pt-BR" sz="127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pedido recebido</a:t>
            </a:r>
            <a:endParaRPr lang="pt-BR" sz="1275"/>
          </a:p>
        </p:txBody>
      </p:sp>
      <p:sp>
        <p:nvSpPr>
          <p:cNvPr id="23" name="Shape 23"/>
          <p:cNvSpPr/>
          <p:nvPr/>
        </p:nvSpPr>
        <p:spPr>
          <a:xfrm>
            <a:off x="4541520" y="3672840"/>
            <a:ext cx="1981200" cy="57912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7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12:00:45</a:t>
            </a:r>
            <a:endParaRPr lang="pt-BR" sz="1275"/>
          </a:p>
          <a:p>
            <a:pPr algn="ctr">
              <a:lnSpc>
                <a:spcPct val="105000"/>
              </a:lnSpc>
            </a:pPr>
            <a:r>
              <a:rPr lang="pt-BR" sz="127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gateway lento</a:t>
            </a:r>
            <a:endParaRPr lang="pt-BR" sz="1275"/>
          </a:p>
        </p:txBody>
      </p:sp>
      <p:sp>
        <p:nvSpPr>
          <p:cNvPr id="24" name="Shape 24"/>
          <p:cNvSpPr/>
          <p:nvPr/>
        </p:nvSpPr>
        <p:spPr>
          <a:xfrm>
            <a:off x="4541520" y="4602480"/>
            <a:ext cx="1981200" cy="57912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858DB7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75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12:01:00</a:t>
            </a:r>
            <a:endParaRPr lang="pt-BR" sz="1275"/>
          </a:p>
          <a:p>
            <a:pPr algn="ctr">
              <a:lnSpc>
                <a:spcPct val="105000"/>
              </a:lnSpc>
            </a:pPr>
            <a:r>
              <a:rPr lang="pt-BR" sz="1275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pedido confirmado</a:t>
            </a:r>
            <a:endParaRPr lang="pt-BR" sz="1275"/>
          </a:p>
        </p:txBody>
      </p:sp>
      <p:sp>
        <p:nvSpPr>
          <p:cNvPr id="25" name="Shape 25"/>
          <p:cNvSpPr/>
          <p:nvPr/>
        </p:nvSpPr>
        <p:spPr>
          <a:xfrm>
            <a:off x="7376160" y="2179320"/>
            <a:ext cx="4084320" cy="323088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26" name="Shape 26"/>
          <p:cNvSpPr txBox="1"/>
          <p:nvPr/>
        </p:nvSpPr>
        <p:spPr>
          <a:xfrm>
            <a:off x="7620000" y="2362200"/>
            <a:ext cx="3596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BUSCAR  [INÍCIO, FIM)</a:t>
            </a:r>
            <a:endParaRPr lang="pt-BR" sz="1200"/>
          </a:p>
        </p:txBody>
      </p:sp>
      <p:sp>
        <p:nvSpPr>
          <p:cNvPr id="27" name="Shape 27"/>
          <p:cNvSpPr txBox="1"/>
          <p:nvPr/>
        </p:nvSpPr>
        <p:spPr>
          <a:xfrm>
            <a:off x="7620000" y="2743200"/>
            <a:ext cx="3581400" cy="579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pt-BR" sz="1650" b="1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subMap(inicio, true,</a:t>
            </a:r>
            <a:endParaRPr lang="pt-BR" sz="1650"/>
          </a:p>
          <a:p>
            <a:pPr algn="l">
              <a:lnSpc>
                <a:spcPct val="130000"/>
              </a:lnSpc>
            </a:pPr>
            <a:r>
              <a:rPr lang="pt-BR" sz="1650" b="1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fim, false)</a:t>
            </a:r>
            <a:endParaRPr lang="pt-BR" sz="1650"/>
          </a:p>
        </p:txBody>
      </p:sp>
      <p:sp>
        <p:nvSpPr>
          <p:cNvPr id="28" name="Shape 28"/>
          <p:cNvSpPr/>
          <p:nvPr/>
        </p:nvSpPr>
        <p:spPr>
          <a:xfrm>
            <a:off x="7620000" y="3489960"/>
            <a:ext cx="1066800" cy="76200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7734300" y="3520440"/>
            <a:ext cx="83820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3</a:t>
            </a:r>
            <a:endParaRPr lang="pt-BR" sz="2175"/>
          </a:p>
        </p:txBody>
      </p:sp>
      <p:sp>
        <p:nvSpPr>
          <p:cNvPr id="30" name="Shape 30"/>
          <p:cNvSpPr txBox="1"/>
          <p:nvPr/>
        </p:nvSpPr>
        <p:spPr>
          <a:xfrm>
            <a:off x="7734300" y="3909060"/>
            <a:ext cx="838200" cy="259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timestamps</a:t>
            </a:r>
            <a:endParaRPr lang="pt-BR" sz="1050"/>
          </a:p>
        </p:txBody>
      </p:sp>
      <p:sp>
        <p:nvSpPr>
          <p:cNvPr id="31" name="Shape 31"/>
          <p:cNvSpPr/>
          <p:nvPr/>
        </p:nvSpPr>
        <p:spPr>
          <a:xfrm>
            <a:off x="8763000" y="3489960"/>
            <a:ext cx="1066800" cy="76200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32" name="Shape 32"/>
          <p:cNvSpPr txBox="1"/>
          <p:nvPr/>
        </p:nvSpPr>
        <p:spPr>
          <a:xfrm>
            <a:off x="8877300" y="3520440"/>
            <a:ext cx="83820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4</a:t>
            </a:r>
            <a:endParaRPr lang="pt-BR" sz="2175"/>
          </a:p>
        </p:txBody>
      </p:sp>
      <p:sp>
        <p:nvSpPr>
          <p:cNvPr id="33" name="Shape 33"/>
          <p:cNvSpPr txBox="1"/>
          <p:nvPr/>
        </p:nvSpPr>
        <p:spPr>
          <a:xfrm>
            <a:off x="8877300" y="3909060"/>
            <a:ext cx="838200" cy="259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registros</a:t>
            </a:r>
            <a:endParaRPr lang="pt-BR" sz="1050"/>
          </a:p>
        </p:txBody>
      </p:sp>
      <p:sp>
        <p:nvSpPr>
          <p:cNvPr id="34" name="Shape 34"/>
          <p:cNvSpPr/>
          <p:nvPr/>
        </p:nvSpPr>
        <p:spPr>
          <a:xfrm>
            <a:off x="9906000" y="3489960"/>
            <a:ext cx="1310640" cy="76200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35" name="Shape 35"/>
          <p:cNvSpPr txBox="1"/>
          <p:nvPr/>
        </p:nvSpPr>
        <p:spPr>
          <a:xfrm>
            <a:off x="10020300" y="3520440"/>
            <a:ext cx="108204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pt-BR" sz="2175"/>
          </a:p>
        </p:txBody>
      </p:sp>
      <p:sp>
        <p:nvSpPr>
          <p:cNvPr id="36" name="Shape 36"/>
          <p:cNvSpPr txBox="1"/>
          <p:nvPr/>
        </p:nvSpPr>
        <p:spPr>
          <a:xfrm>
            <a:off x="10020300" y="3909060"/>
            <a:ext cx="1082040" cy="259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erros</a:t>
            </a:r>
            <a:endParaRPr lang="pt-BR" sz="1050"/>
          </a:p>
        </p:txBody>
      </p:sp>
      <p:sp>
        <p:nvSpPr>
          <p:cNvPr id="37" name="Shape 37"/>
          <p:cNvSpPr txBox="1"/>
          <p:nvPr/>
        </p:nvSpPr>
        <p:spPr>
          <a:xfrm>
            <a:off x="7620000" y="4457700"/>
            <a:ext cx="3581400" cy="655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Inclui 12:00:00.</a:t>
            </a:r>
            <a:endParaRPr lang="pt-BR" sz="1275"/>
          </a:p>
          <a:p>
            <a:pPr algn="l">
              <a:lnSpc>
                <a:spcPct val="135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Exclui 12:01:00 para não repetir a fronteira.</a:t>
            </a:r>
            <a:endParaRPr lang="pt-BR" sz="1275"/>
          </a:p>
        </p:txBody>
      </p:sp>
      <p:sp>
        <p:nvSpPr>
          <p:cNvPr id="38" name="Shape 38"/>
          <p:cNvSpPr txBox="1"/>
          <p:nvPr/>
        </p:nvSpPr>
        <p:spPr>
          <a:xfrm>
            <a:off x="731520" y="5669280"/>
            <a:ext cx="1072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350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O desenho ensina a ordem da busca; não representa os nós internos da árvore balanceada do Java.</a:t>
            </a:r>
            <a:endParaRPr lang="pt-BR" sz="13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6916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493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SISTEMAS · EVENTOS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40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O que acontece quando a fila fica cheia?</a:t>
            </a:r>
            <a:endParaRPr lang="pt-BR" sz="405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O produtor usa offer: se não houver vaga, processa um evento e tenta inserir de novo.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09</a:t>
            </a:r>
            <a:endParaRPr lang="pt-BR" sz="1275"/>
          </a:p>
        </p:txBody>
      </p:sp>
      <p:cxnSp>
        <p:nvCxnSpPr>
          <p:cNvPr id="16" name="Connector 16"/>
          <p:cNvCxnSpPr/>
          <p:nvPr/>
        </p:nvCxnSpPr>
        <p:spPr>
          <a:xfrm>
            <a:off x="2484120" y="3124200"/>
            <a:ext cx="624840" cy="1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17" name="Connector 17"/>
          <p:cNvCxnSpPr/>
          <p:nvPr/>
        </p:nvCxnSpPr>
        <p:spPr>
          <a:xfrm>
            <a:off x="4953000" y="3124200"/>
            <a:ext cx="990600" cy="1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18" name="Connector 18"/>
          <p:cNvCxnSpPr/>
          <p:nvPr/>
        </p:nvCxnSpPr>
        <p:spPr>
          <a:xfrm>
            <a:off x="4038600" y="3581400"/>
            <a:ext cx="1" cy="594360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19" name="Connector 19"/>
          <p:cNvCxnSpPr/>
          <p:nvPr/>
        </p:nvCxnSpPr>
        <p:spPr>
          <a:xfrm>
            <a:off x="5638800" y="4518660"/>
            <a:ext cx="563880" cy="1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20" name="Connector 20"/>
          <p:cNvCxnSpPr/>
          <p:nvPr/>
        </p:nvCxnSpPr>
        <p:spPr>
          <a:xfrm>
            <a:off x="8305800" y="4518660"/>
            <a:ext cx="533400" cy="1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21" name="Connector 21"/>
          <p:cNvCxnSpPr/>
          <p:nvPr/>
        </p:nvCxnSpPr>
        <p:spPr>
          <a:xfrm flipV="1">
            <a:off x="11049000" y="3550920"/>
            <a:ext cx="1" cy="967740"/>
          </a:xfrm>
          <a:prstGeom prst="line">
            <a:avLst/>
          </a:prstGeom>
          <a:ln w="22860">
            <a:solidFill>
              <a:srgbClr val="F4BA58"/>
            </a:solidFill>
            <a:prstDash val="solid"/>
          </a:ln>
        </p:spPr>
      </p:cxnSp>
      <p:cxnSp>
        <p:nvCxnSpPr>
          <p:cNvPr id="22" name="Connector 22"/>
          <p:cNvCxnSpPr/>
          <p:nvPr/>
        </p:nvCxnSpPr>
        <p:spPr>
          <a:xfrm flipH="1">
            <a:off x="7086600" y="3550920"/>
            <a:ext cx="3962400" cy="1"/>
          </a:xfrm>
          <a:prstGeom prst="line">
            <a:avLst/>
          </a:prstGeom>
          <a:ln w="22860">
            <a:solidFill>
              <a:srgbClr val="F4BA58"/>
            </a:solidFill>
            <a:prstDash val="solid"/>
          </a:ln>
        </p:spPr>
      </p:cxnSp>
      <p:cxnSp>
        <p:nvCxnSpPr>
          <p:cNvPr id="23" name="Connector 23"/>
          <p:cNvCxnSpPr/>
          <p:nvPr/>
        </p:nvCxnSpPr>
        <p:spPr>
          <a:xfrm flipV="1">
            <a:off x="7086600" y="3467100"/>
            <a:ext cx="1" cy="83820"/>
          </a:xfrm>
          <a:prstGeom prst="line">
            <a:avLst/>
          </a:prstGeom>
          <a:ln w="22860">
            <a:solidFill>
              <a:srgbClr val="F4BA58"/>
            </a:solidFill>
            <a:prstDash val="solid"/>
            <a:headEnd type="triangle" w="sm" len="sm"/>
          </a:ln>
        </p:spPr>
      </p:cxnSp>
      <p:sp>
        <p:nvSpPr>
          <p:cNvPr id="24" name="Shape 24"/>
          <p:cNvSpPr/>
          <p:nvPr/>
        </p:nvSpPr>
        <p:spPr>
          <a:xfrm>
            <a:off x="731520" y="2781300"/>
            <a:ext cx="1752600" cy="68580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Produtor · IDs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401, 402, 401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404, 405, 406</a:t>
            </a:r>
            <a:endParaRPr lang="pt-BR" sz="1200"/>
          </a:p>
        </p:txBody>
      </p:sp>
      <p:sp>
        <p:nvSpPr>
          <p:cNvPr id="25" name="Shape 25"/>
          <p:cNvSpPr/>
          <p:nvPr/>
        </p:nvSpPr>
        <p:spPr>
          <a:xfrm>
            <a:off x="3108960" y="2667000"/>
            <a:ext cx="1844040" cy="914400"/>
          </a:xfrm>
          <a:prstGeom prst="diamond">
            <a:avLst/>
          </a:prstGeom>
          <a:solidFill>
            <a:srgbClr val="191D49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offer()</a:t>
            </a:r>
            <a:endParaRPr lang="pt-BR" sz="1350"/>
          </a:p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conseguiu?</a:t>
            </a:r>
            <a:endParaRPr lang="pt-BR" sz="1350"/>
          </a:p>
        </p:txBody>
      </p:sp>
      <p:sp>
        <p:nvSpPr>
          <p:cNvPr id="26" name="Shape 26"/>
          <p:cNvSpPr/>
          <p:nvPr/>
        </p:nvSpPr>
        <p:spPr>
          <a:xfrm>
            <a:off x="5943600" y="2781300"/>
            <a:ext cx="2362200" cy="68580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4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Fila limitada</a:t>
            </a:r>
            <a:endParaRPr lang="pt-BR" sz="1425"/>
          </a:p>
          <a:p>
            <a:pPr algn="ctr">
              <a:lnSpc>
                <a:spcPct val="105000"/>
              </a:lnSpc>
            </a:pPr>
            <a:r>
              <a:rPr lang="pt-BR" sz="14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ArrayBlockingQueue (3)</a:t>
            </a:r>
            <a:endParaRPr lang="pt-BR" sz="1425"/>
          </a:p>
        </p:txBody>
      </p:sp>
      <p:sp>
        <p:nvSpPr>
          <p:cNvPr id="27" name="Shape 27"/>
          <p:cNvSpPr/>
          <p:nvPr/>
        </p:nvSpPr>
        <p:spPr>
          <a:xfrm>
            <a:off x="3200400" y="4175760"/>
            <a:ext cx="2438400" cy="68580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17C9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7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NÃO · adiamentos + 1</a:t>
            </a:r>
            <a:endParaRPr lang="pt-BR" sz="1275"/>
          </a:p>
          <a:p>
            <a:pPr algn="ctr">
              <a:lnSpc>
                <a:spcPct val="105000"/>
              </a:lnSpc>
            </a:pPr>
            <a:r>
              <a:rPr lang="pt-BR" sz="127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liberar espaço</a:t>
            </a:r>
            <a:endParaRPr lang="pt-BR" sz="1275"/>
          </a:p>
        </p:txBody>
      </p:sp>
      <p:sp>
        <p:nvSpPr>
          <p:cNvPr id="28" name="Shape 28"/>
          <p:cNvSpPr/>
          <p:nvPr/>
        </p:nvSpPr>
        <p:spPr>
          <a:xfrm>
            <a:off x="6202680" y="4175760"/>
            <a:ext cx="2103120" cy="68580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Consumir um</a:t>
            </a:r>
            <a:endParaRPr lang="pt-BR" sz="1350"/>
          </a:p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evento da fila</a:t>
            </a:r>
            <a:endParaRPr lang="pt-BR" sz="1350"/>
          </a:p>
        </p:txBody>
      </p:sp>
      <p:sp>
        <p:nvSpPr>
          <p:cNvPr id="29" name="Shape 29"/>
          <p:cNvSpPr/>
          <p:nvPr/>
        </p:nvSpPr>
        <p:spPr>
          <a:xfrm>
            <a:off x="8839200" y="4175760"/>
            <a:ext cx="2209800" cy="68580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B2DF7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75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Enfileirar o evento</a:t>
            </a:r>
            <a:endParaRPr lang="pt-BR" sz="1275"/>
          </a:p>
          <a:p>
            <a:pPr algn="ctr">
              <a:lnSpc>
                <a:spcPct val="105000"/>
              </a:lnSpc>
            </a:pPr>
            <a:r>
              <a:rPr lang="pt-BR" sz="1275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que aguardava</a:t>
            </a:r>
            <a:endParaRPr lang="pt-BR" sz="1275"/>
          </a:p>
        </p:txBody>
      </p:sp>
      <p:sp>
        <p:nvSpPr>
          <p:cNvPr id="30" name="Shape 30"/>
          <p:cNvSpPr txBox="1"/>
          <p:nvPr/>
        </p:nvSpPr>
        <p:spPr>
          <a:xfrm>
            <a:off x="5219700" y="284988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SIM</a:t>
            </a:r>
            <a:endParaRPr lang="pt-BR" sz="1050"/>
          </a:p>
        </p:txBody>
      </p:sp>
      <p:sp>
        <p:nvSpPr>
          <p:cNvPr id="31" name="Shape 31"/>
          <p:cNvSpPr/>
          <p:nvPr/>
        </p:nvSpPr>
        <p:spPr>
          <a:xfrm>
            <a:off x="731520" y="5288280"/>
            <a:ext cx="10728960" cy="62484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32" name="Shape 32"/>
          <p:cNvSpPr/>
          <p:nvPr/>
        </p:nvSpPr>
        <p:spPr>
          <a:xfrm>
            <a:off x="944880" y="5364480"/>
            <a:ext cx="1447800" cy="47244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33" name="Shape 33"/>
          <p:cNvSpPr txBox="1"/>
          <p:nvPr/>
        </p:nvSpPr>
        <p:spPr>
          <a:xfrm>
            <a:off x="1059180" y="5394960"/>
            <a:ext cx="1219200" cy="21732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3</a:t>
            </a:r>
            <a:endParaRPr lang="pt-BR" sz="2175"/>
          </a:p>
        </p:txBody>
      </p:sp>
      <p:sp>
        <p:nvSpPr>
          <p:cNvPr id="34" name="Shape 34"/>
          <p:cNvSpPr txBox="1"/>
          <p:nvPr/>
        </p:nvSpPr>
        <p:spPr>
          <a:xfrm>
            <a:off x="1059180" y="5624322"/>
            <a:ext cx="1219200" cy="1606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capacidade</a:t>
            </a:r>
            <a:endParaRPr lang="pt-BR" sz="1050"/>
          </a:p>
        </p:txBody>
      </p:sp>
      <p:sp>
        <p:nvSpPr>
          <p:cNvPr id="35" name="Shape 35"/>
          <p:cNvSpPr/>
          <p:nvPr/>
        </p:nvSpPr>
        <p:spPr>
          <a:xfrm>
            <a:off x="2552700" y="5364480"/>
            <a:ext cx="1447800" cy="47244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36" name="Shape 36"/>
          <p:cNvSpPr txBox="1"/>
          <p:nvPr/>
        </p:nvSpPr>
        <p:spPr>
          <a:xfrm>
            <a:off x="2667000" y="5394960"/>
            <a:ext cx="1219200" cy="21732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6</a:t>
            </a:r>
            <a:endParaRPr lang="pt-BR" sz="2175"/>
          </a:p>
        </p:txBody>
      </p:sp>
      <p:sp>
        <p:nvSpPr>
          <p:cNvPr id="37" name="Shape 37"/>
          <p:cNvSpPr txBox="1"/>
          <p:nvPr/>
        </p:nvSpPr>
        <p:spPr>
          <a:xfrm>
            <a:off x="2667000" y="5624322"/>
            <a:ext cx="1219200" cy="1606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eventos</a:t>
            </a:r>
            <a:endParaRPr lang="pt-BR" sz="1050"/>
          </a:p>
        </p:txBody>
      </p:sp>
      <p:sp>
        <p:nvSpPr>
          <p:cNvPr id="38" name="Shape 38"/>
          <p:cNvSpPr/>
          <p:nvPr/>
        </p:nvSpPr>
        <p:spPr>
          <a:xfrm>
            <a:off x="4160520" y="5364480"/>
            <a:ext cx="1447800" cy="47244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39" name="Shape 39"/>
          <p:cNvSpPr txBox="1"/>
          <p:nvPr/>
        </p:nvSpPr>
        <p:spPr>
          <a:xfrm>
            <a:off x="4274820" y="5394960"/>
            <a:ext cx="1219200" cy="21732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3</a:t>
            </a:r>
            <a:endParaRPr lang="pt-BR" sz="2175"/>
          </a:p>
        </p:txBody>
      </p:sp>
      <p:sp>
        <p:nvSpPr>
          <p:cNvPr id="40" name="Shape 40"/>
          <p:cNvSpPr txBox="1"/>
          <p:nvPr/>
        </p:nvSpPr>
        <p:spPr>
          <a:xfrm>
            <a:off x="4274820" y="5624322"/>
            <a:ext cx="1219200" cy="1606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adiamentos</a:t>
            </a:r>
            <a:endParaRPr lang="pt-BR" sz="1050"/>
          </a:p>
        </p:txBody>
      </p:sp>
      <p:sp>
        <p:nvSpPr>
          <p:cNvPr id="41" name="Shape 41"/>
          <p:cNvSpPr txBox="1"/>
          <p:nvPr/>
        </p:nvSpPr>
        <p:spPr>
          <a:xfrm>
            <a:off x="5943600" y="539496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Este exemplo alterna produtor e consumidor em uma thread; não é um broker distribuído.</a:t>
            </a:r>
            <a:endParaRPr lang="pt-BR" sz="127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9202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722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SISTEMAS · CONSUMIDOR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6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Antes de alterar o pedido, valide o evento</a:t>
            </a:r>
            <a:endParaRPr lang="pt-BR" sz="36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50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HashSet protege contra repetição; HashMap localiza o pedido; falhas ficam disponíveis para análise.</a:t>
            </a:r>
            <a:endParaRPr lang="pt-BR" sz="1500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10</a:t>
            </a:r>
            <a:endParaRPr lang="pt-BR" sz="1275"/>
          </a:p>
        </p:txBody>
      </p:sp>
      <p:cxnSp>
        <p:nvCxnSpPr>
          <p:cNvPr id="16" name="Connector 16"/>
          <p:cNvCxnSpPr/>
          <p:nvPr/>
        </p:nvCxnSpPr>
        <p:spPr>
          <a:xfrm>
            <a:off x="2407920" y="3550920"/>
            <a:ext cx="609600" cy="1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17" name="Connector 17"/>
          <p:cNvCxnSpPr/>
          <p:nvPr/>
        </p:nvCxnSpPr>
        <p:spPr>
          <a:xfrm flipV="1">
            <a:off x="4846320" y="2628900"/>
            <a:ext cx="1005840" cy="708660"/>
          </a:xfrm>
          <a:prstGeom prst="line">
            <a:avLst/>
          </a:prstGeom>
          <a:ln w="22860">
            <a:solidFill>
              <a:srgbClr val="B2DF78"/>
            </a:solidFill>
            <a:prstDash val="solid"/>
            <a:headEnd type="triangle" w="sm" len="sm"/>
          </a:ln>
        </p:spPr>
      </p:cxnSp>
      <p:cxnSp>
        <p:nvCxnSpPr>
          <p:cNvPr id="18" name="Connector 18"/>
          <p:cNvCxnSpPr/>
          <p:nvPr/>
        </p:nvCxnSpPr>
        <p:spPr>
          <a:xfrm>
            <a:off x="4846320" y="3749040"/>
            <a:ext cx="1005840" cy="746760"/>
          </a:xfrm>
          <a:prstGeom prst="line">
            <a:avLst/>
          </a:prstGeom>
          <a:ln w="22860">
            <a:solidFill>
              <a:srgbClr val="F4BA58"/>
            </a:solidFill>
            <a:prstDash val="solid"/>
            <a:headEnd type="triangle" w="sm" len="sm"/>
          </a:ln>
        </p:spPr>
      </p:cxnSp>
      <p:cxnSp>
        <p:nvCxnSpPr>
          <p:cNvPr id="19" name="Connector 19"/>
          <p:cNvCxnSpPr/>
          <p:nvPr/>
        </p:nvCxnSpPr>
        <p:spPr>
          <a:xfrm flipV="1">
            <a:off x="7757160" y="3383280"/>
            <a:ext cx="853440" cy="883920"/>
          </a:xfrm>
          <a:prstGeom prst="line">
            <a:avLst/>
          </a:prstGeom>
          <a:ln w="22860">
            <a:solidFill>
              <a:srgbClr val="B2DF78"/>
            </a:solidFill>
            <a:prstDash val="solid"/>
            <a:headEnd type="triangle" w="sm" len="sm"/>
          </a:ln>
        </p:spPr>
      </p:cxnSp>
      <p:cxnSp>
        <p:nvCxnSpPr>
          <p:cNvPr id="20" name="Connector 20"/>
          <p:cNvCxnSpPr/>
          <p:nvPr/>
        </p:nvCxnSpPr>
        <p:spPr>
          <a:xfrm>
            <a:off x="7757160" y="4693920"/>
            <a:ext cx="853440" cy="259080"/>
          </a:xfrm>
          <a:prstGeom prst="line">
            <a:avLst/>
          </a:prstGeom>
          <a:ln w="22860">
            <a:solidFill>
              <a:srgbClr val="F17C98"/>
            </a:solidFill>
            <a:prstDash val="solid"/>
            <a:headEnd type="triangle" w="sm" len="sm"/>
          </a:ln>
        </p:spPr>
      </p:cxnSp>
      <p:sp>
        <p:nvSpPr>
          <p:cNvPr id="21" name="Shape 21"/>
          <p:cNvSpPr/>
          <p:nvPr/>
        </p:nvSpPr>
        <p:spPr>
          <a:xfrm>
            <a:off x="731520" y="3208020"/>
            <a:ext cx="1676400" cy="68580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4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poll()</a:t>
            </a:r>
            <a:endParaRPr lang="pt-BR" sz="1425"/>
          </a:p>
          <a:p>
            <a:pPr algn="ctr">
              <a:lnSpc>
                <a:spcPct val="105000"/>
              </a:lnSpc>
            </a:pPr>
            <a:r>
              <a:rPr lang="pt-BR" sz="14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recebe evento</a:t>
            </a:r>
            <a:endParaRPr lang="pt-BR" sz="1425"/>
          </a:p>
        </p:txBody>
      </p:sp>
      <p:sp>
        <p:nvSpPr>
          <p:cNvPr id="22" name="Shape 22"/>
          <p:cNvSpPr/>
          <p:nvPr/>
        </p:nvSpPr>
        <p:spPr>
          <a:xfrm>
            <a:off x="3017520" y="3093720"/>
            <a:ext cx="1828800" cy="914400"/>
          </a:xfrm>
          <a:prstGeom prst="diamond">
            <a:avLst/>
          </a:prstGeom>
          <a:solidFill>
            <a:srgbClr val="191D49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ID já foi</a:t>
            </a:r>
            <a:endParaRPr lang="pt-BR" sz="1425"/>
          </a:p>
          <a:p>
            <a:pPr algn="ctr">
              <a:lnSpc>
                <a:spcPct val="105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aplicado?</a:t>
            </a:r>
            <a:endParaRPr lang="pt-BR" sz="1425"/>
          </a:p>
        </p:txBody>
      </p:sp>
      <p:sp>
        <p:nvSpPr>
          <p:cNvPr id="23" name="Shape 23"/>
          <p:cNvSpPr/>
          <p:nvPr/>
        </p:nvSpPr>
        <p:spPr>
          <a:xfrm>
            <a:off x="5852160" y="2286000"/>
            <a:ext cx="1905000" cy="68580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SIM · duplicado</a:t>
            </a:r>
            <a:endParaRPr lang="pt-BR" sz="1350"/>
          </a:p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não reaplicar</a:t>
            </a:r>
            <a:endParaRPr lang="pt-BR" sz="1350"/>
          </a:p>
        </p:txBody>
      </p:sp>
      <p:sp>
        <p:nvSpPr>
          <p:cNvPr id="24" name="Shape 24"/>
          <p:cNvSpPr/>
          <p:nvPr/>
        </p:nvSpPr>
        <p:spPr>
          <a:xfrm>
            <a:off x="5852160" y="4038600"/>
            <a:ext cx="1905000" cy="914400"/>
          </a:xfrm>
          <a:prstGeom prst="diamond">
            <a:avLst/>
          </a:prstGeom>
          <a:solidFill>
            <a:srgbClr val="191D49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NÃO · pedido</a:t>
            </a:r>
            <a:endParaRPr lang="pt-BR" sz="1350"/>
          </a:p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existe?</a:t>
            </a:r>
            <a:endParaRPr lang="pt-BR" sz="1350"/>
          </a:p>
        </p:txBody>
      </p:sp>
      <p:sp>
        <p:nvSpPr>
          <p:cNvPr id="25" name="Shape 25"/>
          <p:cNvSpPr/>
          <p:nvPr/>
        </p:nvSpPr>
        <p:spPr>
          <a:xfrm>
            <a:off x="8610600" y="2971800"/>
            <a:ext cx="2621280" cy="73152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B2DF7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SIM · status PAGO</a:t>
            </a:r>
            <a:endParaRPr lang="pt-BR" sz="1350"/>
          </a:p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registrar ID aplicado</a:t>
            </a:r>
            <a:endParaRPr lang="pt-BR" sz="1350"/>
          </a:p>
        </p:txBody>
      </p:sp>
      <p:sp>
        <p:nvSpPr>
          <p:cNvPr id="26" name="Shape 26"/>
          <p:cNvSpPr/>
          <p:nvPr/>
        </p:nvSpPr>
        <p:spPr>
          <a:xfrm>
            <a:off x="8610600" y="4602480"/>
            <a:ext cx="2621280" cy="73152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17C9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NÃO · fila de falhas</a:t>
            </a:r>
            <a:endParaRPr lang="pt-BR" sz="1350"/>
          </a:p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para inspeção</a:t>
            </a:r>
            <a:endParaRPr lang="pt-BR" sz="1350"/>
          </a:p>
        </p:txBody>
      </p:sp>
      <p:sp>
        <p:nvSpPr>
          <p:cNvPr id="27" name="Shape 27"/>
          <p:cNvSpPr txBox="1"/>
          <p:nvPr/>
        </p:nvSpPr>
        <p:spPr>
          <a:xfrm>
            <a:off x="5074920" y="2697480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SIM</a:t>
            </a:r>
            <a:endParaRPr lang="pt-BR" sz="1050"/>
          </a:p>
        </p:txBody>
      </p:sp>
      <p:sp>
        <p:nvSpPr>
          <p:cNvPr id="28" name="Shape 28"/>
          <p:cNvSpPr txBox="1"/>
          <p:nvPr/>
        </p:nvSpPr>
        <p:spPr>
          <a:xfrm>
            <a:off x="5105400" y="3992880"/>
            <a:ext cx="5638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NÃO</a:t>
            </a:r>
            <a:endParaRPr lang="pt-BR" sz="1050"/>
          </a:p>
        </p:txBody>
      </p:sp>
      <p:sp>
        <p:nvSpPr>
          <p:cNvPr id="29" name="Shape 29"/>
          <p:cNvSpPr txBox="1"/>
          <p:nvPr/>
        </p:nvSpPr>
        <p:spPr>
          <a:xfrm>
            <a:off x="7802880" y="3535680"/>
            <a:ext cx="6096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SIM</a:t>
            </a:r>
            <a:endParaRPr lang="pt-BR" sz="1050"/>
          </a:p>
        </p:txBody>
      </p:sp>
      <p:sp>
        <p:nvSpPr>
          <p:cNvPr id="30" name="Shape 30"/>
          <p:cNvSpPr txBox="1"/>
          <p:nvPr/>
        </p:nvSpPr>
        <p:spPr>
          <a:xfrm>
            <a:off x="7833360" y="4838700"/>
            <a:ext cx="5638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NÃO</a:t>
            </a:r>
            <a:endParaRPr lang="pt-BR" sz="1050"/>
          </a:p>
        </p:txBody>
      </p:sp>
      <p:sp>
        <p:nvSpPr>
          <p:cNvPr id="31" name="Shape 31"/>
          <p:cNvSpPr/>
          <p:nvPr/>
        </p:nvSpPr>
        <p:spPr>
          <a:xfrm>
            <a:off x="731520" y="5608320"/>
            <a:ext cx="10728960" cy="44196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32" name="Shape 32"/>
          <p:cNvSpPr txBox="1"/>
          <p:nvPr/>
        </p:nvSpPr>
        <p:spPr>
          <a:xfrm>
            <a:off x="975360" y="566928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6 recebidos  ·  4 aplicados  ·  1 duplicado  ·  1 falha  ·  3 adiamentos na produção</a:t>
            </a:r>
            <a:endParaRPr lang="pt-BR" sz="142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6154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SISTEMAS · GRAFOS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3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Uma aresta direcionada responde quem pode ser afetado</a:t>
            </a:r>
            <a:endParaRPr lang="pt-BR" sz="33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No exemplo: fornecedor → consumidor. A busca segue esse sentido.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11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179320"/>
            <a:ext cx="6766560" cy="327660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/>
          <p:nvPr/>
        </p:nvSpPr>
        <p:spPr>
          <a:xfrm>
            <a:off x="1082040" y="3467100"/>
            <a:ext cx="1447800" cy="47244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17C98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1143000" y="3505200"/>
            <a:ext cx="1325880" cy="39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42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autenticação</a:t>
            </a:r>
            <a:endParaRPr lang="pt-BR" sz="1425"/>
          </a:p>
        </p:txBody>
      </p:sp>
      <p:sp>
        <p:nvSpPr>
          <p:cNvPr id="19" name="Shape 19"/>
          <p:cNvSpPr/>
          <p:nvPr/>
        </p:nvSpPr>
        <p:spPr>
          <a:xfrm>
            <a:off x="3291840" y="2727960"/>
            <a:ext cx="1447800" cy="47244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59D6C5"/>
            </a:solidFill>
          </a:ln>
        </p:spPr>
      </p:sp>
      <p:sp>
        <p:nvSpPr>
          <p:cNvPr id="20" name="Shape 20"/>
          <p:cNvSpPr txBox="1"/>
          <p:nvPr/>
        </p:nvSpPr>
        <p:spPr>
          <a:xfrm>
            <a:off x="3352800" y="2766060"/>
            <a:ext cx="1325880" cy="39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4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pedidos</a:t>
            </a:r>
            <a:endParaRPr lang="pt-BR" sz="1425"/>
          </a:p>
        </p:txBody>
      </p:sp>
      <p:sp>
        <p:nvSpPr>
          <p:cNvPr id="21" name="Shape 21"/>
          <p:cNvSpPr/>
          <p:nvPr/>
        </p:nvSpPr>
        <p:spPr>
          <a:xfrm>
            <a:off x="3291840" y="4229100"/>
            <a:ext cx="1447800" cy="47244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59D6C5"/>
            </a:solidFill>
          </a:ln>
        </p:spPr>
      </p:sp>
      <p:sp>
        <p:nvSpPr>
          <p:cNvPr id="22" name="Shape 22"/>
          <p:cNvSpPr txBox="1"/>
          <p:nvPr/>
        </p:nvSpPr>
        <p:spPr>
          <a:xfrm>
            <a:off x="3352800" y="4267200"/>
            <a:ext cx="1325880" cy="39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4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pagamentos</a:t>
            </a:r>
            <a:endParaRPr lang="pt-BR" sz="1425"/>
          </a:p>
        </p:txBody>
      </p:sp>
      <p:sp>
        <p:nvSpPr>
          <p:cNvPr id="23" name="Shape 23"/>
          <p:cNvSpPr/>
          <p:nvPr/>
        </p:nvSpPr>
        <p:spPr>
          <a:xfrm>
            <a:off x="5608320" y="3467100"/>
            <a:ext cx="1447800" cy="47244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4BA58"/>
            </a:solidFill>
          </a:ln>
        </p:spPr>
      </p:sp>
      <p:sp>
        <p:nvSpPr>
          <p:cNvPr id="24" name="Shape 24"/>
          <p:cNvSpPr txBox="1"/>
          <p:nvPr/>
        </p:nvSpPr>
        <p:spPr>
          <a:xfrm>
            <a:off x="5669280" y="3505200"/>
            <a:ext cx="1325880" cy="39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4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notificações</a:t>
            </a:r>
            <a:endParaRPr lang="pt-BR" sz="1425"/>
          </a:p>
        </p:txBody>
      </p:sp>
      <p:sp>
        <p:nvSpPr>
          <p:cNvPr id="25" name="Shape 25"/>
          <p:cNvSpPr txBox="1"/>
          <p:nvPr/>
        </p:nvSpPr>
        <p:spPr>
          <a:xfrm>
            <a:off x="2529840" y="284988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40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2400"/>
          </a:p>
        </p:txBody>
      </p:sp>
      <p:sp>
        <p:nvSpPr>
          <p:cNvPr id="26" name="Shape 26"/>
          <p:cNvSpPr txBox="1"/>
          <p:nvPr/>
        </p:nvSpPr>
        <p:spPr>
          <a:xfrm>
            <a:off x="2529840" y="430530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40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2400"/>
          </a:p>
        </p:txBody>
      </p:sp>
      <p:sp>
        <p:nvSpPr>
          <p:cNvPr id="27" name="Shape 27"/>
          <p:cNvSpPr txBox="1"/>
          <p:nvPr/>
        </p:nvSpPr>
        <p:spPr>
          <a:xfrm>
            <a:off x="4808220" y="284988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40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2400"/>
          </a:p>
        </p:txBody>
      </p:sp>
      <p:sp>
        <p:nvSpPr>
          <p:cNvPr id="28" name="Shape 28"/>
          <p:cNvSpPr txBox="1"/>
          <p:nvPr/>
        </p:nvSpPr>
        <p:spPr>
          <a:xfrm>
            <a:off x="4808220" y="430530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40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2400"/>
          </a:p>
        </p:txBody>
      </p:sp>
      <p:sp>
        <p:nvSpPr>
          <p:cNvPr id="29" name="Shape 29"/>
          <p:cNvSpPr/>
          <p:nvPr/>
        </p:nvSpPr>
        <p:spPr>
          <a:xfrm>
            <a:off x="7802880" y="2179320"/>
            <a:ext cx="3657600" cy="327660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30" name="Shape 30"/>
          <p:cNvSpPr/>
          <p:nvPr/>
        </p:nvSpPr>
        <p:spPr>
          <a:xfrm>
            <a:off x="8031480" y="2377440"/>
            <a:ext cx="16764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31" name="Shape 31"/>
          <p:cNvSpPr txBox="1"/>
          <p:nvPr/>
        </p:nvSpPr>
        <p:spPr>
          <a:xfrm>
            <a:off x="8130540" y="2392680"/>
            <a:ext cx="1478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BFS · POR CAMADAS</a:t>
            </a:r>
            <a:endParaRPr lang="pt-BR" sz="1200"/>
          </a:p>
        </p:txBody>
      </p:sp>
      <p:sp>
        <p:nvSpPr>
          <p:cNvPr id="32" name="Shape 32"/>
          <p:cNvSpPr txBox="1"/>
          <p:nvPr/>
        </p:nvSpPr>
        <p:spPr>
          <a:xfrm>
            <a:off x="8031480" y="2796540"/>
            <a:ext cx="3124200" cy="335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87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Falha em autenticação</a:t>
            </a:r>
            <a:endParaRPr lang="pt-BR" sz="1875"/>
          </a:p>
        </p:txBody>
      </p:sp>
      <p:sp>
        <p:nvSpPr>
          <p:cNvPr id="33" name="Shape 33"/>
          <p:cNvSpPr txBox="1"/>
          <p:nvPr/>
        </p:nvSpPr>
        <p:spPr>
          <a:xfrm>
            <a:off x="8031480" y="3276600"/>
            <a:ext cx="313944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pt-BR" sz="150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alcança pedidos, pagamentos</a:t>
            </a:r>
            <a:endParaRPr lang="pt-BR" sz="1500"/>
          </a:p>
          <a:p>
            <a:pPr algn="l">
              <a:lnSpc>
                <a:spcPct val="135000"/>
              </a:lnSpc>
            </a:pPr>
            <a:r>
              <a:rPr lang="pt-BR" sz="150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e notificações (uma vez)</a:t>
            </a:r>
            <a:endParaRPr lang="pt-BR" sz="1500"/>
          </a:p>
        </p:txBody>
      </p:sp>
      <p:sp>
        <p:nvSpPr>
          <p:cNvPr id="34" name="Shape 34"/>
          <p:cNvSpPr/>
          <p:nvPr/>
        </p:nvSpPr>
        <p:spPr>
          <a:xfrm>
            <a:off x="8031480" y="4160520"/>
            <a:ext cx="312420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35" name="Shape 35"/>
          <p:cNvSpPr txBox="1"/>
          <p:nvPr/>
        </p:nvSpPr>
        <p:spPr>
          <a:xfrm>
            <a:off x="8031480" y="4343400"/>
            <a:ext cx="3124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2100" b="1">
                <a:solidFill>
                  <a:srgbClr val="F4BA58"/>
                </a:solidFill>
                <a:latin typeface="Menlo"/>
                <a:ea typeface="Menlo"/>
                <a:cs typeface="Menlo"/>
              </a:rPr>
              <a:t xml:space="preserve">O(V + E)</a:t>
            </a:r>
            <a:endParaRPr lang="pt-BR" sz="2100"/>
          </a:p>
        </p:txBody>
      </p:sp>
      <p:sp>
        <p:nvSpPr>
          <p:cNvPr id="36" name="Shape 36"/>
          <p:cNvSpPr txBox="1"/>
          <p:nvPr/>
        </p:nvSpPr>
        <p:spPr>
          <a:xfrm>
            <a:off x="8031480" y="4724400"/>
            <a:ext cx="3124200" cy="441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pt-BR" sz="1275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Falha em notificações não volta</a:t>
            </a:r>
            <a:endParaRPr lang="pt-BR" sz="1275"/>
          </a:p>
          <a:p>
            <a:pPr algn="l">
              <a:lnSpc>
                <a:spcPct val="130000"/>
              </a:lnSpc>
            </a:pPr>
            <a:r>
              <a:rPr lang="pt-BR" sz="1275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aos fornecedores.</a:t>
            </a:r>
            <a:endParaRPr lang="pt-BR" sz="127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2344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036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IA · VETORES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40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Cosseno compara a proporção entre áreas</a:t>
            </a:r>
            <a:endParaRPr lang="pt-BR" sz="405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A consulta tem [pedidos, pagamentos, acesso] = [8, 6, 0].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12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179320"/>
            <a:ext cx="4876800" cy="321564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975360" y="236220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PERFIS HISTÓRICOS · LINHAS DO ARRAY</a:t>
            </a:r>
            <a:endParaRPr lang="pt-BR" sz="1200"/>
          </a:p>
        </p:txBody>
      </p:sp>
      <p:sp>
        <p:nvSpPr>
          <p:cNvPr id="18" name="Shape 18"/>
          <p:cNvSpPr txBox="1"/>
          <p:nvPr/>
        </p:nvSpPr>
        <p:spPr>
          <a:xfrm>
            <a:off x="990600" y="2788920"/>
            <a:ext cx="228600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Semana semelhante</a:t>
            </a:r>
            <a:endParaRPr lang="pt-BR" sz="1350"/>
          </a:p>
        </p:txBody>
      </p:sp>
      <p:sp>
        <p:nvSpPr>
          <p:cNvPr id="19" name="Shape 19"/>
          <p:cNvSpPr txBox="1"/>
          <p:nvPr/>
        </p:nvSpPr>
        <p:spPr>
          <a:xfrm>
            <a:off x="3413760" y="2788920"/>
            <a:ext cx="182880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425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[16, 12,  0]</a:t>
            </a:r>
            <a:endParaRPr lang="pt-BR" sz="1425"/>
          </a:p>
        </p:txBody>
      </p:sp>
      <p:sp>
        <p:nvSpPr>
          <p:cNvPr id="20" name="Shape 20"/>
          <p:cNvSpPr/>
          <p:nvPr/>
        </p:nvSpPr>
        <p:spPr>
          <a:xfrm>
            <a:off x="975360" y="3223260"/>
            <a:ext cx="434340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21" name="Shape 21"/>
          <p:cNvSpPr txBox="1"/>
          <p:nvPr/>
        </p:nvSpPr>
        <p:spPr>
          <a:xfrm>
            <a:off x="990600" y="3291840"/>
            <a:ext cx="228600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Equipe de pedidos</a:t>
            </a:r>
            <a:endParaRPr lang="pt-BR" sz="1350"/>
          </a:p>
        </p:txBody>
      </p:sp>
      <p:sp>
        <p:nvSpPr>
          <p:cNvPr id="22" name="Shape 22"/>
          <p:cNvSpPr txBox="1"/>
          <p:nvPr/>
        </p:nvSpPr>
        <p:spPr>
          <a:xfrm>
            <a:off x="3413760" y="3291840"/>
            <a:ext cx="182880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425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[ 4,  0,  0]</a:t>
            </a:r>
            <a:endParaRPr lang="pt-BR" sz="1425"/>
          </a:p>
        </p:txBody>
      </p:sp>
      <p:sp>
        <p:nvSpPr>
          <p:cNvPr id="23" name="Shape 23"/>
          <p:cNvSpPr/>
          <p:nvPr/>
        </p:nvSpPr>
        <p:spPr>
          <a:xfrm>
            <a:off x="975360" y="3726180"/>
            <a:ext cx="434340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24" name="Shape 24"/>
          <p:cNvSpPr txBox="1"/>
          <p:nvPr/>
        </p:nvSpPr>
        <p:spPr>
          <a:xfrm>
            <a:off x="990600" y="3794760"/>
            <a:ext cx="228600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Equipe de acesso</a:t>
            </a:r>
            <a:endParaRPr lang="pt-BR" sz="1350"/>
          </a:p>
        </p:txBody>
      </p:sp>
      <p:sp>
        <p:nvSpPr>
          <p:cNvPr id="25" name="Shape 25"/>
          <p:cNvSpPr txBox="1"/>
          <p:nvPr/>
        </p:nvSpPr>
        <p:spPr>
          <a:xfrm>
            <a:off x="3413760" y="3794760"/>
            <a:ext cx="182880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425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[ 0,  0, 12]</a:t>
            </a:r>
            <a:endParaRPr lang="pt-BR" sz="1425"/>
          </a:p>
        </p:txBody>
      </p:sp>
      <p:sp>
        <p:nvSpPr>
          <p:cNvPr id="26" name="Shape 26"/>
          <p:cNvSpPr/>
          <p:nvPr/>
        </p:nvSpPr>
        <p:spPr>
          <a:xfrm>
            <a:off x="975360" y="4229100"/>
            <a:ext cx="434340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990600" y="4297680"/>
            <a:ext cx="228600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Equipe de pagamentos</a:t>
            </a:r>
            <a:endParaRPr lang="pt-BR" sz="1350"/>
          </a:p>
        </p:txBody>
      </p:sp>
      <p:sp>
        <p:nvSpPr>
          <p:cNvPr id="28" name="Shape 28"/>
          <p:cNvSpPr txBox="1"/>
          <p:nvPr/>
        </p:nvSpPr>
        <p:spPr>
          <a:xfrm>
            <a:off x="3413760" y="4297680"/>
            <a:ext cx="182880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425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[ 0,  6,  0]</a:t>
            </a:r>
            <a:endParaRPr lang="pt-BR" sz="1425"/>
          </a:p>
        </p:txBody>
      </p:sp>
      <p:sp>
        <p:nvSpPr>
          <p:cNvPr id="29" name="Shape 29"/>
          <p:cNvSpPr/>
          <p:nvPr/>
        </p:nvSpPr>
        <p:spPr>
          <a:xfrm>
            <a:off x="5882640" y="2179320"/>
            <a:ext cx="5577840" cy="321564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30" name="Shape 30"/>
          <p:cNvSpPr txBox="1"/>
          <p:nvPr/>
        </p:nvSpPr>
        <p:spPr>
          <a:xfrm>
            <a:off x="6141720" y="23622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 b="1">
                <a:solidFill>
                  <a:srgbClr val="F4BA58"/>
                </a:solidFill>
                <a:latin typeface="Menlo"/>
                <a:ea typeface="Menlo"/>
                <a:cs typeface="Menlo"/>
              </a:rPr>
              <a:t xml:space="preserve">cosine_similarity(consulta, perfis)</a:t>
            </a:r>
            <a:endParaRPr lang="pt-BR" sz="1350"/>
          </a:p>
        </p:txBody>
      </p:sp>
      <p:sp>
        <p:nvSpPr>
          <p:cNvPr id="31" name="Shape 31"/>
          <p:cNvSpPr txBox="1"/>
          <p:nvPr/>
        </p:nvSpPr>
        <p:spPr>
          <a:xfrm>
            <a:off x="6141720" y="2819400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Semana semelhante</a:t>
            </a:r>
            <a:endParaRPr lang="pt-BR" sz="1200"/>
          </a:p>
        </p:txBody>
      </p:sp>
      <p:sp>
        <p:nvSpPr>
          <p:cNvPr id="32" name="Shape 32"/>
          <p:cNvSpPr/>
          <p:nvPr/>
        </p:nvSpPr>
        <p:spPr>
          <a:xfrm>
            <a:off x="8046720" y="2842260"/>
            <a:ext cx="2179320" cy="137160"/>
          </a:xfrm>
          <a:prstGeom prst="roundRect">
            <a:avLst/>
          </a:prstGeom>
          <a:solidFill>
            <a:srgbClr val="191D49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8046720" y="2842260"/>
            <a:ext cx="2179320" cy="137160"/>
          </a:xfrm>
          <a:prstGeom prst="roundRect">
            <a:avLst/>
          </a:prstGeom>
          <a:solidFill>
            <a:srgbClr val="59D6C5"/>
          </a:solidFill>
          <a:ln>
            <a:noFill/>
          </a:ln>
        </p:spPr>
      </p:sp>
      <p:sp>
        <p:nvSpPr>
          <p:cNvPr id="34" name="Shape 34"/>
          <p:cNvSpPr txBox="1"/>
          <p:nvPr/>
        </p:nvSpPr>
        <p:spPr>
          <a:xfrm>
            <a:off x="10309860" y="2804160"/>
            <a:ext cx="746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59D6C5"/>
                </a:solidFill>
                <a:latin typeface="Menlo"/>
                <a:ea typeface="Menlo"/>
                <a:cs typeface="Menlo"/>
              </a:rPr>
              <a:t xml:space="preserve">1.0000</a:t>
            </a:r>
            <a:endParaRPr lang="pt-BR" sz="1275"/>
          </a:p>
        </p:txBody>
      </p:sp>
      <p:sp>
        <p:nvSpPr>
          <p:cNvPr id="35" name="Shape 35"/>
          <p:cNvSpPr txBox="1"/>
          <p:nvPr/>
        </p:nvSpPr>
        <p:spPr>
          <a:xfrm>
            <a:off x="6141720" y="3329940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Equipe de pedidos</a:t>
            </a:r>
            <a:endParaRPr lang="pt-BR" sz="1200"/>
          </a:p>
        </p:txBody>
      </p:sp>
      <p:sp>
        <p:nvSpPr>
          <p:cNvPr id="36" name="Shape 36"/>
          <p:cNvSpPr/>
          <p:nvPr/>
        </p:nvSpPr>
        <p:spPr>
          <a:xfrm>
            <a:off x="8046720" y="3352800"/>
            <a:ext cx="2179320" cy="137160"/>
          </a:xfrm>
          <a:prstGeom prst="roundRect">
            <a:avLst/>
          </a:prstGeom>
          <a:solidFill>
            <a:srgbClr val="191D49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8046720" y="3352800"/>
            <a:ext cx="1743456" cy="137160"/>
          </a:xfrm>
          <a:prstGeom prst="roundRect">
            <a:avLst/>
          </a:prstGeom>
          <a:solidFill>
            <a:srgbClr val="F4BA58"/>
          </a:solidFill>
          <a:ln>
            <a:noFill/>
          </a:ln>
        </p:spPr>
      </p:sp>
      <p:sp>
        <p:nvSpPr>
          <p:cNvPr id="38" name="Shape 38"/>
          <p:cNvSpPr txBox="1"/>
          <p:nvPr/>
        </p:nvSpPr>
        <p:spPr>
          <a:xfrm>
            <a:off x="10309860" y="3314700"/>
            <a:ext cx="746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F4BA58"/>
                </a:solidFill>
                <a:latin typeface="Menlo"/>
                <a:ea typeface="Menlo"/>
                <a:cs typeface="Menlo"/>
              </a:rPr>
              <a:t xml:space="preserve">0.8000</a:t>
            </a:r>
            <a:endParaRPr lang="pt-BR" sz="1275"/>
          </a:p>
        </p:txBody>
      </p:sp>
      <p:sp>
        <p:nvSpPr>
          <p:cNvPr id="39" name="Shape 39"/>
          <p:cNvSpPr txBox="1"/>
          <p:nvPr/>
        </p:nvSpPr>
        <p:spPr>
          <a:xfrm>
            <a:off x="6141720" y="3840480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Equipe de pagamentos</a:t>
            </a:r>
            <a:endParaRPr lang="pt-BR" sz="1200"/>
          </a:p>
        </p:txBody>
      </p:sp>
      <p:sp>
        <p:nvSpPr>
          <p:cNvPr id="40" name="Shape 40"/>
          <p:cNvSpPr/>
          <p:nvPr/>
        </p:nvSpPr>
        <p:spPr>
          <a:xfrm>
            <a:off x="8046720" y="3863340"/>
            <a:ext cx="2179320" cy="137160"/>
          </a:xfrm>
          <a:prstGeom prst="roundRect">
            <a:avLst/>
          </a:prstGeom>
          <a:solidFill>
            <a:srgbClr val="191D49"/>
          </a:solidFill>
          <a:ln>
            <a:noFill/>
          </a:ln>
        </p:spPr>
      </p:sp>
      <p:sp>
        <p:nvSpPr>
          <p:cNvPr id="41" name="Shape 41"/>
          <p:cNvSpPr/>
          <p:nvPr/>
        </p:nvSpPr>
        <p:spPr>
          <a:xfrm>
            <a:off x="8046720" y="3863340"/>
            <a:ext cx="1307592" cy="137160"/>
          </a:xfrm>
          <a:prstGeom prst="roundRect">
            <a:avLst/>
          </a:prstGeom>
          <a:solidFill>
            <a:srgbClr val="F17C98"/>
          </a:solidFill>
          <a:ln>
            <a:noFill/>
          </a:ln>
        </p:spPr>
      </p:sp>
      <p:sp>
        <p:nvSpPr>
          <p:cNvPr id="42" name="Shape 42"/>
          <p:cNvSpPr txBox="1"/>
          <p:nvPr/>
        </p:nvSpPr>
        <p:spPr>
          <a:xfrm>
            <a:off x="10309860" y="3825240"/>
            <a:ext cx="746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F17C98"/>
                </a:solidFill>
                <a:latin typeface="Menlo"/>
                <a:ea typeface="Menlo"/>
                <a:cs typeface="Menlo"/>
              </a:rPr>
              <a:t xml:space="preserve">0.6000</a:t>
            </a:r>
            <a:endParaRPr lang="pt-BR" sz="1275"/>
          </a:p>
        </p:txBody>
      </p:sp>
      <p:sp>
        <p:nvSpPr>
          <p:cNvPr id="43" name="Shape 43"/>
          <p:cNvSpPr txBox="1"/>
          <p:nvPr/>
        </p:nvSpPr>
        <p:spPr>
          <a:xfrm>
            <a:off x="6141720" y="4351020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Equipe de acesso</a:t>
            </a:r>
            <a:endParaRPr lang="pt-BR" sz="1200"/>
          </a:p>
        </p:txBody>
      </p:sp>
      <p:sp>
        <p:nvSpPr>
          <p:cNvPr id="44" name="Shape 44"/>
          <p:cNvSpPr/>
          <p:nvPr/>
        </p:nvSpPr>
        <p:spPr>
          <a:xfrm>
            <a:off x="8046720" y="4373880"/>
            <a:ext cx="2179320" cy="137160"/>
          </a:xfrm>
          <a:prstGeom prst="roundRect">
            <a:avLst/>
          </a:prstGeom>
          <a:solidFill>
            <a:srgbClr val="191D49"/>
          </a:solidFill>
          <a:ln>
            <a:noFill/>
          </a:ln>
        </p:spPr>
      </p:sp>
      <p:sp>
        <p:nvSpPr>
          <p:cNvPr id="45" name="Shape 45"/>
          <p:cNvSpPr txBox="1"/>
          <p:nvPr/>
        </p:nvSpPr>
        <p:spPr>
          <a:xfrm>
            <a:off x="10309860" y="4335780"/>
            <a:ext cx="746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Menlo"/>
                <a:ea typeface="Menlo"/>
                <a:cs typeface="Menlo"/>
              </a:rPr>
              <a:t xml:space="preserve">0.0000</a:t>
            </a:r>
            <a:endParaRPr lang="pt-BR" sz="1275"/>
          </a:p>
        </p:txBody>
      </p:sp>
      <p:sp>
        <p:nvSpPr>
          <p:cNvPr id="46" name="Shape 46"/>
          <p:cNvSpPr txBox="1"/>
          <p:nvPr/>
        </p:nvSpPr>
        <p:spPr>
          <a:xfrm>
            <a:off x="6141720" y="4953000"/>
            <a:ext cx="496824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7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Mesma proporção → escore 1, mesmo com dobro do volume.</a:t>
            </a:r>
            <a:endParaRPr lang="pt-BR" sz="127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1430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944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IA · RAG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3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Recuperar fontes é diferente de gerar uma resposta</a:t>
            </a:r>
            <a:endParaRPr lang="pt-BR" sz="33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A oficina faz busca lexical com TF-IDF e prepara o contexto.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13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453640"/>
            <a:ext cx="2362200" cy="211836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/>
          <p:nvPr/>
        </p:nvSpPr>
        <p:spPr>
          <a:xfrm>
            <a:off x="891540" y="2590800"/>
            <a:ext cx="10668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F4BA58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990600" y="260604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1 · DOCUMENTOS</a:t>
            </a:r>
            <a:endParaRPr lang="pt-BR" sz="1200"/>
          </a:p>
        </p:txBody>
      </p:sp>
      <p:sp>
        <p:nvSpPr>
          <p:cNvPr id="19" name="Shape 19"/>
          <p:cNvSpPr txBox="1"/>
          <p:nvPr/>
        </p:nvSpPr>
        <p:spPr>
          <a:xfrm>
            <a:off x="914400" y="3009900"/>
            <a:ext cx="1996440" cy="1082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8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D1 · pedidos</a:t>
            </a:r>
            <a:endParaRPr lang="pt-BR" sz="1425"/>
          </a:p>
          <a:p>
            <a:pPr algn="l">
              <a:lnSpc>
                <a:spcPct val="138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D2 · pagamento</a:t>
            </a:r>
            <a:endParaRPr lang="pt-BR" sz="1425"/>
          </a:p>
          <a:p>
            <a:pPr algn="l">
              <a:lnSpc>
                <a:spcPct val="138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D3 · acesso</a:t>
            </a:r>
            <a:endParaRPr lang="pt-BR" sz="1425"/>
          </a:p>
          <a:p>
            <a:pPr algn="l">
              <a:lnSpc>
                <a:spcPct val="138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D4 · reembolso</a:t>
            </a:r>
            <a:endParaRPr lang="pt-BR" sz="1425"/>
          </a:p>
        </p:txBody>
      </p:sp>
      <p:sp>
        <p:nvSpPr>
          <p:cNvPr id="20" name="Shape 20"/>
          <p:cNvSpPr txBox="1"/>
          <p:nvPr/>
        </p:nvSpPr>
        <p:spPr>
          <a:xfrm>
            <a:off x="3108960" y="3230880"/>
            <a:ext cx="335280" cy="335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40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2400"/>
          </a:p>
        </p:txBody>
      </p:sp>
      <p:sp>
        <p:nvSpPr>
          <p:cNvPr id="21" name="Shape 21"/>
          <p:cNvSpPr/>
          <p:nvPr/>
        </p:nvSpPr>
        <p:spPr>
          <a:xfrm>
            <a:off x="3474720" y="2453640"/>
            <a:ext cx="2362200" cy="211836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22" name="Shape 22"/>
          <p:cNvSpPr/>
          <p:nvPr/>
        </p:nvSpPr>
        <p:spPr>
          <a:xfrm>
            <a:off x="3634740" y="2590800"/>
            <a:ext cx="10668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3733800" y="260604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2 · ÍNDICE</a:t>
            </a:r>
            <a:endParaRPr lang="pt-BR" sz="1200"/>
          </a:p>
        </p:txBody>
      </p:sp>
      <p:sp>
        <p:nvSpPr>
          <p:cNvPr id="24" name="Shape 24"/>
          <p:cNvSpPr txBox="1"/>
          <p:nvPr/>
        </p:nvSpPr>
        <p:spPr>
          <a:xfrm>
            <a:off x="3657600" y="3009900"/>
            <a:ext cx="1996440" cy="1082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8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TF-IDF</a:t>
            </a:r>
            <a:endParaRPr lang="pt-BR" sz="1425"/>
          </a:p>
          <a:p>
            <a:pPr algn="l">
              <a:lnSpc>
                <a:spcPct val="138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matriz esparsa</a:t>
            </a:r>
            <a:endParaRPr lang="pt-BR" sz="1425"/>
          </a:p>
          <a:p>
            <a:pPr algn="l">
              <a:lnSpc>
                <a:spcPct val="138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linhas = artigos</a:t>
            </a:r>
            <a:endParaRPr lang="pt-BR" sz="1425"/>
          </a:p>
        </p:txBody>
      </p:sp>
      <p:sp>
        <p:nvSpPr>
          <p:cNvPr id="25" name="Shape 25"/>
          <p:cNvSpPr txBox="1"/>
          <p:nvPr/>
        </p:nvSpPr>
        <p:spPr>
          <a:xfrm>
            <a:off x="5852160" y="3230880"/>
            <a:ext cx="335280" cy="335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40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2400"/>
          </a:p>
        </p:txBody>
      </p:sp>
      <p:sp>
        <p:nvSpPr>
          <p:cNvPr id="26" name="Shape 26"/>
          <p:cNvSpPr/>
          <p:nvPr/>
        </p:nvSpPr>
        <p:spPr>
          <a:xfrm>
            <a:off x="6217920" y="2453640"/>
            <a:ext cx="2362200" cy="211836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27" name="Shape 27"/>
          <p:cNvSpPr/>
          <p:nvPr/>
        </p:nvSpPr>
        <p:spPr>
          <a:xfrm>
            <a:off x="6377940" y="2590800"/>
            <a:ext cx="10668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F17C98"/>
            </a:solidFill>
          </a:ln>
        </p:spPr>
      </p:sp>
      <p:sp>
        <p:nvSpPr>
          <p:cNvPr id="28" name="Shape 28"/>
          <p:cNvSpPr txBox="1"/>
          <p:nvPr/>
        </p:nvSpPr>
        <p:spPr>
          <a:xfrm>
            <a:off x="6477000" y="260604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3 · CONSULTA</a:t>
            </a:r>
            <a:endParaRPr lang="pt-BR" sz="1200"/>
          </a:p>
        </p:txBody>
      </p:sp>
      <p:sp>
        <p:nvSpPr>
          <p:cNvPr id="29" name="Shape 29"/>
          <p:cNvSpPr txBox="1"/>
          <p:nvPr/>
        </p:nvSpPr>
        <p:spPr>
          <a:xfrm>
            <a:off x="6400800" y="3009900"/>
            <a:ext cx="1996440" cy="1082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8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“Como vejo o pedido</a:t>
            </a:r>
            <a:endParaRPr lang="pt-BR" sz="1425"/>
          </a:p>
          <a:p>
            <a:pPr algn="l">
              <a:lnSpc>
                <a:spcPct val="138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após o pagamento?”</a:t>
            </a:r>
            <a:endParaRPr lang="pt-BR" sz="1425"/>
          </a:p>
          <a:p>
            <a:pPr algn="l">
              <a:lnSpc>
                <a:spcPct val="138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cosseno + ranking</a:t>
            </a:r>
            <a:endParaRPr lang="pt-BR" sz="1425"/>
          </a:p>
        </p:txBody>
      </p:sp>
      <p:sp>
        <p:nvSpPr>
          <p:cNvPr id="30" name="Shape 30"/>
          <p:cNvSpPr txBox="1"/>
          <p:nvPr/>
        </p:nvSpPr>
        <p:spPr>
          <a:xfrm>
            <a:off x="8595360" y="3230880"/>
            <a:ext cx="335280" cy="335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40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2400"/>
          </a:p>
        </p:txBody>
      </p:sp>
      <p:sp>
        <p:nvSpPr>
          <p:cNvPr id="31" name="Shape 31"/>
          <p:cNvSpPr/>
          <p:nvPr/>
        </p:nvSpPr>
        <p:spPr>
          <a:xfrm>
            <a:off x="8961120" y="2453640"/>
            <a:ext cx="2362200" cy="211836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32" name="Shape 32"/>
          <p:cNvSpPr/>
          <p:nvPr/>
        </p:nvSpPr>
        <p:spPr>
          <a:xfrm>
            <a:off x="9121140" y="2590800"/>
            <a:ext cx="10668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B2DF78"/>
            </a:solidFill>
          </a:ln>
        </p:spPr>
      </p:sp>
      <p:sp>
        <p:nvSpPr>
          <p:cNvPr id="33" name="Shape 33"/>
          <p:cNvSpPr txBox="1"/>
          <p:nvPr/>
        </p:nvSpPr>
        <p:spPr>
          <a:xfrm>
            <a:off x="9220200" y="260604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4 · CONTEXTO</a:t>
            </a:r>
            <a:endParaRPr lang="pt-BR" sz="1200"/>
          </a:p>
        </p:txBody>
      </p:sp>
      <p:sp>
        <p:nvSpPr>
          <p:cNvPr id="34" name="Shape 34"/>
          <p:cNvSpPr txBox="1"/>
          <p:nvPr/>
        </p:nvSpPr>
        <p:spPr>
          <a:xfrm>
            <a:off x="9144000" y="3009900"/>
            <a:ext cx="1996440" cy="1082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8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D2 → D1</a:t>
            </a:r>
            <a:endParaRPr lang="pt-BR" sz="1425"/>
          </a:p>
          <a:p>
            <a:pPr algn="l">
              <a:lnSpc>
                <a:spcPct val="138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títulos + textos</a:t>
            </a:r>
            <a:endParaRPr lang="pt-BR" sz="1425"/>
          </a:p>
          <a:p>
            <a:pPr algn="l">
              <a:lnSpc>
                <a:spcPct val="138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para a próxima etapa</a:t>
            </a:r>
            <a:endParaRPr lang="pt-BR" sz="1425"/>
          </a:p>
        </p:txBody>
      </p:sp>
      <p:sp>
        <p:nvSpPr>
          <p:cNvPr id="35" name="Shape 35"/>
          <p:cNvSpPr/>
          <p:nvPr/>
        </p:nvSpPr>
        <p:spPr>
          <a:xfrm>
            <a:off x="731520" y="4838700"/>
            <a:ext cx="10728960" cy="61722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36" name="Shape 36"/>
          <p:cNvSpPr txBox="1"/>
          <p:nvPr/>
        </p:nvSpPr>
        <p:spPr>
          <a:xfrm>
            <a:off x="929640" y="4960620"/>
            <a:ext cx="103251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87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RAG: recuperar  →  montar contexto  →  enviar ao gerador</a:t>
            </a:r>
            <a:endParaRPr lang="pt-BR" sz="1875"/>
          </a:p>
        </p:txBody>
      </p:sp>
      <p:sp>
        <p:nvSpPr>
          <p:cNvPr id="37" name="Shape 37"/>
          <p:cNvSpPr txBox="1"/>
          <p:nvPr/>
        </p:nvSpPr>
        <p:spPr>
          <a:xfrm>
            <a:off x="731520" y="5737860"/>
            <a:ext cx="1072896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3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Este repositório para na recuperação; não chama um modelo e não gera a resposta.</a:t>
            </a:r>
            <a:endParaRPr lang="pt-BR" sz="13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25298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IA · HDBSCAN DE PONTA A PONTA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40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Do registro ao cluster: nove etapas</a:t>
            </a:r>
            <a:endParaRPr lang="pt-BR" sz="405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Cada estrutura alimenta a próxima; os rótulos continuam alinhados às linhas A–I.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14</a:t>
            </a:r>
            <a:endParaRPr lang="pt-BR" sz="1275"/>
          </a:p>
        </p:txBody>
      </p:sp>
      <p:cxnSp>
        <p:nvCxnSpPr>
          <p:cNvPr id="16" name="Connector 16"/>
          <p:cNvCxnSpPr/>
          <p:nvPr/>
        </p:nvCxnSpPr>
        <p:spPr>
          <a:xfrm>
            <a:off x="2560320" y="2827020"/>
            <a:ext cx="327660" cy="1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17" name="Connector 17"/>
          <p:cNvCxnSpPr/>
          <p:nvPr/>
        </p:nvCxnSpPr>
        <p:spPr>
          <a:xfrm>
            <a:off x="4716780" y="2827020"/>
            <a:ext cx="327660" cy="1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18" name="Connector 18"/>
          <p:cNvCxnSpPr/>
          <p:nvPr/>
        </p:nvCxnSpPr>
        <p:spPr>
          <a:xfrm>
            <a:off x="6873240" y="2827020"/>
            <a:ext cx="327660" cy="1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19" name="Connector 19"/>
          <p:cNvCxnSpPr/>
          <p:nvPr/>
        </p:nvCxnSpPr>
        <p:spPr>
          <a:xfrm>
            <a:off x="9029700" y="2827020"/>
            <a:ext cx="327660" cy="1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20" name="Connector 20"/>
          <p:cNvCxnSpPr/>
          <p:nvPr/>
        </p:nvCxnSpPr>
        <p:spPr>
          <a:xfrm>
            <a:off x="10271760" y="3253740"/>
            <a:ext cx="1" cy="586740"/>
          </a:xfrm>
          <a:prstGeom prst="line">
            <a:avLst/>
          </a:prstGeom>
          <a:ln w="22860">
            <a:solidFill>
              <a:srgbClr val="858DB7"/>
            </a:solidFill>
            <a:prstDash val="solid"/>
          </a:ln>
        </p:spPr>
      </p:cxnSp>
      <p:cxnSp>
        <p:nvCxnSpPr>
          <p:cNvPr id="21" name="Connector 21"/>
          <p:cNvCxnSpPr/>
          <p:nvPr/>
        </p:nvCxnSpPr>
        <p:spPr>
          <a:xfrm>
            <a:off x="10271760" y="3840480"/>
            <a:ext cx="1" cy="198120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22" name="Connector 22"/>
          <p:cNvCxnSpPr/>
          <p:nvPr/>
        </p:nvCxnSpPr>
        <p:spPr>
          <a:xfrm flipH="1">
            <a:off x="9029700" y="4465320"/>
            <a:ext cx="327660" cy="1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23" name="Connector 23"/>
          <p:cNvCxnSpPr/>
          <p:nvPr/>
        </p:nvCxnSpPr>
        <p:spPr>
          <a:xfrm flipH="1">
            <a:off x="6873240" y="4465320"/>
            <a:ext cx="327660" cy="1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24" name="Connector 24"/>
          <p:cNvCxnSpPr/>
          <p:nvPr/>
        </p:nvCxnSpPr>
        <p:spPr>
          <a:xfrm flipH="1">
            <a:off x="4716780" y="4465320"/>
            <a:ext cx="327660" cy="1"/>
          </a:xfrm>
          <a:prstGeom prst="line">
            <a:avLst/>
          </a:prstGeom>
          <a:ln w="22860">
            <a:solidFill>
              <a:srgbClr val="858DB7"/>
            </a:solidFill>
            <a:prstDash val="solid"/>
            <a:headEnd type="triangle" w="sm" len="sm"/>
          </a:ln>
        </p:spPr>
      </p:cxnSp>
      <p:cxnSp>
        <p:nvCxnSpPr>
          <p:cNvPr id="25" name="Connector 25"/>
          <p:cNvCxnSpPr/>
          <p:nvPr/>
        </p:nvCxnSpPr>
        <p:spPr>
          <a:xfrm flipH="1">
            <a:off x="2560320" y="4465320"/>
            <a:ext cx="327660" cy="1"/>
          </a:xfrm>
          <a:prstGeom prst="line">
            <a:avLst/>
          </a:prstGeom>
          <a:ln w="22860">
            <a:solidFill>
              <a:srgbClr val="B2DF78"/>
            </a:solidFill>
            <a:prstDash val="solid"/>
            <a:headEnd type="triangle" w="sm" len="sm"/>
          </a:ln>
        </p:spPr>
      </p:cxnSp>
      <p:sp>
        <p:nvSpPr>
          <p:cNvPr id="26" name="Shape 26"/>
          <p:cNvSpPr/>
          <p:nvPr/>
        </p:nvSpPr>
        <p:spPr>
          <a:xfrm>
            <a:off x="731520" y="2400300"/>
            <a:ext cx="1828800" cy="853440"/>
          </a:xfrm>
          <a:prstGeom prst="roundRect">
            <a:avLst/>
          </a:prstGeom>
          <a:solidFill>
            <a:srgbClr val="1D2454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01 · REGISTROS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9 objetos → ndarray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(9, 2) padronizado</a:t>
            </a:r>
            <a:endParaRPr lang="pt-BR" sz="1200"/>
          </a:p>
        </p:txBody>
      </p:sp>
      <p:sp>
        <p:nvSpPr>
          <p:cNvPr id="27" name="Shape 27"/>
          <p:cNvSpPr/>
          <p:nvPr/>
        </p:nvSpPr>
        <p:spPr>
          <a:xfrm>
            <a:off x="2887980" y="2400300"/>
            <a:ext cx="1828800" cy="853440"/>
          </a:xfrm>
          <a:prstGeom prst="roundRect">
            <a:avLst/>
          </a:prstGeom>
          <a:solidFill>
            <a:srgbClr val="1D2454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02 · DISTÂNCIAS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pairwise distances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matriz 9 × 9</a:t>
            </a:r>
            <a:endParaRPr lang="pt-BR" sz="1200"/>
          </a:p>
        </p:txBody>
      </p:sp>
      <p:sp>
        <p:nvSpPr>
          <p:cNvPr id="28" name="Shape 28"/>
          <p:cNvSpPr/>
          <p:nvPr/>
        </p:nvSpPr>
        <p:spPr>
          <a:xfrm>
            <a:off x="5044440" y="2400300"/>
            <a:ext cx="1828800" cy="853440"/>
          </a:xfrm>
          <a:prstGeom prst="roundRect">
            <a:avLst/>
          </a:prstGeom>
          <a:solidFill>
            <a:srgbClr val="1D2454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03 · VIZINHOS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KDTree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core distances</a:t>
            </a:r>
            <a:endParaRPr lang="pt-BR" sz="1200"/>
          </a:p>
        </p:txBody>
      </p:sp>
      <p:sp>
        <p:nvSpPr>
          <p:cNvPr id="29" name="Shape 29"/>
          <p:cNvSpPr/>
          <p:nvPr/>
        </p:nvSpPr>
        <p:spPr>
          <a:xfrm>
            <a:off x="7200900" y="2400300"/>
            <a:ext cx="1828800" cy="853440"/>
          </a:xfrm>
          <a:prstGeom prst="roundRect">
            <a:avLst/>
          </a:prstGeom>
          <a:solidFill>
            <a:srgbClr val="1D2454"/>
          </a:solidFill>
          <a:ln w="15240">
            <a:solidFill>
              <a:srgbClr val="F17C9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04 · PESOS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mutual reachability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matriz CSR</a:t>
            </a:r>
            <a:endParaRPr lang="pt-BR" sz="1200"/>
          </a:p>
        </p:txBody>
      </p:sp>
      <p:sp>
        <p:nvSpPr>
          <p:cNvPr id="30" name="Shape 30"/>
          <p:cNvSpPr/>
          <p:nvPr/>
        </p:nvSpPr>
        <p:spPr>
          <a:xfrm>
            <a:off x="9357360" y="2400300"/>
            <a:ext cx="1828800" cy="853440"/>
          </a:xfrm>
          <a:prstGeom prst="roundRect">
            <a:avLst/>
          </a:prstGeom>
          <a:solidFill>
            <a:srgbClr val="1D2454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05 · MST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8 arestas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sem ciclos</a:t>
            </a:r>
            <a:endParaRPr lang="pt-BR" sz="1200"/>
          </a:p>
        </p:txBody>
      </p:sp>
      <p:sp>
        <p:nvSpPr>
          <p:cNvPr id="31" name="Shape 31"/>
          <p:cNvSpPr/>
          <p:nvPr/>
        </p:nvSpPr>
        <p:spPr>
          <a:xfrm>
            <a:off x="9357360" y="4038600"/>
            <a:ext cx="1828800" cy="853440"/>
          </a:xfrm>
          <a:prstGeom prst="roundRect">
            <a:avLst/>
          </a:prstGeom>
          <a:solidFill>
            <a:srgbClr val="1D2454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06 · LINKAGE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fusões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por peso</a:t>
            </a:r>
            <a:endParaRPr lang="pt-BR" sz="1200"/>
          </a:p>
        </p:txBody>
      </p:sp>
      <p:sp>
        <p:nvSpPr>
          <p:cNvPr id="32" name="Shape 32"/>
          <p:cNvSpPr/>
          <p:nvPr/>
        </p:nvSpPr>
        <p:spPr>
          <a:xfrm>
            <a:off x="7200900" y="4038600"/>
            <a:ext cx="1828800" cy="853440"/>
          </a:xfrm>
          <a:prstGeom prst="roundRect">
            <a:avLst/>
          </a:prstGeom>
          <a:solidFill>
            <a:srgbClr val="1D2454"/>
          </a:solidFill>
          <a:ln w="15240">
            <a:solidFill>
              <a:srgbClr val="F17C9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07 · CONDENSAR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árvore + EOM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estabilidade</a:t>
            </a:r>
            <a:endParaRPr lang="pt-BR" sz="1200"/>
          </a:p>
        </p:txBody>
      </p:sp>
      <p:sp>
        <p:nvSpPr>
          <p:cNvPr id="33" name="Shape 33"/>
          <p:cNvSpPr/>
          <p:nvPr/>
        </p:nvSpPr>
        <p:spPr>
          <a:xfrm>
            <a:off x="5044440" y="4038600"/>
            <a:ext cx="1828800" cy="853440"/>
          </a:xfrm>
          <a:prstGeom prst="roundRect">
            <a:avLst/>
          </a:prstGeom>
          <a:solidFill>
            <a:srgbClr val="1D2454"/>
          </a:solidFill>
          <a:ln w="15240">
            <a:solidFill>
              <a:srgbClr val="B2DF7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08 · RÓTULOS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clusters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e ruído</a:t>
            </a:r>
            <a:endParaRPr lang="pt-BR" sz="1200"/>
          </a:p>
        </p:txBody>
      </p:sp>
      <p:sp>
        <p:nvSpPr>
          <p:cNvPr id="34" name="Shape 34"/>
          <p:cNvSpPr/>
          <p:nvPr/>
        </p:nvSpPr>
        <p:spPr>
          <a:xfrm>
            <a:off x="2887980" y="4038600"/>
            <a:ext cx="1828800" cy="853440"/>
          </a:xfrm>
          <a:prstGeom prst="roundRect">
            <a:avLst/>
          </a:prstGeom>
          <a:solidFill>
            <a:srgbClr val="1D2454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09 · COMPARAR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HDBSCAN.fit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API pública</a:t>
            </a:r>
            <a:endParaRPr lang="pt-BR" sz="1200"/>
          </a:p>
        </p:txBody>
      </p:sp>
      <p:sp>
        <p:nvSpPr>
          <p:cNvPr id="35" name="Shape 35"/>
          <p:cNvSpPr/>
          <p:nvPr/>
        </p:nvSpPr>
        <p:spPr>
          <a:xfrm>
            <a:off x="731520" y="4038600"/>
            <a:ext cx="1828800" cy="853440"/>
          </a:xfrm>
          <a:prstGeom prst="roundRect">
            <a:avLst/>
          </a:prstGeom>
          <a:solidFill>
            <a:srgbClr val="191D49"/>
          </a:solidFill>
          <a:ln w="15240">
            <a:solidFill>
              <a:srgbClr val="B2DF7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SAÍDA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4 IAM · 4 pagamentos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1 ponto isolado</a:t>
            </a:r>
            <a:endParaRPr lang="pt-BR" sz="1200"/>
          </a:p>
        </p:txBody>
      </p:sp>
      <p:sp>
        <p:nvSpPr>
          <p:cNvPr id="36" name="Shape 36"/>
          <p:cNvSpPr txBox="1"/>
          <p:nvPr/>
        </p:nvSpPr>
        <p:spPr>
          <a:xfrm>
            <a:off x="731520" y="5379720"/>
            <a:ext cx="10728960" cy="39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50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O exemplo abre as estruturas para estudo e compara o resultado com HDBSCAN.fit na etapa 9.</a:t>
            </a:r>
            <a:endParaRPr lang="pt-BR"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24536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2255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HDBSCAN · PREPARAR A ENTRADA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6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Primeiro defina o que cada ponto significa</a:t>
            </a:r>
            <a:endParaRPr lang="pt-BR" sz="36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Nove incidentes fictícios; somente duas medidas numéricas entram no agrupamento.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15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179320"/>
            <a:ext cx="5791200" cy="329184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975360" y="2346960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REGISTRO DE NEGÓCIO  →  FEATURE NUMÉRICA</a:t>
            </a:r>
            <a:endParaRPr lang="pt-BR" sz="1200"/>
          </a:p>
        </p:txBody>
      </p:sp>
      <p:sp>
        <p:nvSpPr>
          <p:cNvPr id="18" name="Shape 18"/>
          <p:cNvSpPr/>
          <p:nvPr/>
        </p:nvSpPr>
        <p:spPr>
          <a:xfrm>
            <a:off x="990600" y="2788920"/>
            <a:ext cx="441960" cy="335280"/>
          </a:xfrm>
          <a:prstGeom prst="roundRect">
            <a:avLst/>
          </a:prstGeom>
          <a:solidFill>
            <a:srgbClr val="59D6C5"/>
          </a:solidFill>
          <a:ln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990600" y="2811780"/>
            <a:ext cx="441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350" b="1">
                <a:solidFill>
                  <a:srgbClr val="111436"/>
                </a:solidFill>
                <a:latin typeface="Aptos"/>
                <a:ea typeface="Aptos"/>
                <a:cs typeface="Aptos"/>
              </a:rPr>
              <a:t xml:space="preserve">A–D</a:t>
            </a:r>
            <a:endParaRPr lang="pt-BR" sz="1350"/>
          </a:p>
        </p:txBody>
      </p:sp>
      <p:sp>
        <p:nvSpPr>
          <p:cNvPr id="20" name="Shape 20"/>
          <p:cNvSpPr txBox="1"/>
          <p:nvPr/>
        </p:nvSpPr>
        <p:spPr>
          <a:xfrm>
            <a:off x="1615440" y="2788920"/>
            <a:ext cx="1447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IAM</a:t>
            </a:r>
            <a:endParaRPr lang="pt-BR" sz="1425"/>
          </a:p>
        </p:txBody>
      </p:sp>
      <p:sp>
        <p:nvSpPr>
          <p:cNvPr id="21" name="Shape 21"/>
          <p:cNvSpPr txBox="1"/>
          <p:nvPr/>
        </p:nvSpPr>
        <p:spPr>
          <a:xfrm>
            <a:off x="3078480" y="2788920"/>
            <a:ext cx="30099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~1 hora · 4–7 usuários</a:t>
            </a:r>
            <a:endParaRPr lang="pt-BR" sz="1275"/>
          </a:p>
        </p:txBody>
      </p:sp>
      <p:sp>
        <p:nvSpPr>
          <p:cNvPr id="22" name="Shape 22"/>
          <p:cNvSpPr/>
          <p:nvPr/>
        </p:nvSpPr>
        <p:spPr>
          <a:xfrm>
            <a:off x="990600" y="3383280"/>
            <a:ext cx="441960" cy="335280"/>
          </a:xfrm>
          <a:prstGeom prst="roundRect">
            <a:avLst/>
          </a:prstGeom>
          <a:solidFill>
            <a:srgbClr val="F4BA58"/>
          </a:solidFill>
          <a:ln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990600" y="3406140"/>
            <a:ext cx="441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350" b="1">
                <a:solidFill>
                  <a:srgbClr val="111436"/>
                </a:solidFill>
                <a:latin typeface="Aptos"/>
                <a:ea typeface="Aptos"/>
                <a:cs typeface="Aptos"/>
              </a:rPr>
              <a:t xml:space="preserve">E–H</a:t>
            </a:r>
            <a:endParaRPr lang="pt-BR" sz="1350"/>
          </a:p>
        </p:txBody>
      </p:sp>
      <p:sp>
        <p:nvSpPr>
          <p:cNvPr id="24" name="Shape 24"/>
          <p:cNvSpPr txBox="1"/>
          <p:nvPr/>
        </p:nvSpPr>
        <p:spPr>
          <a:xfrm>
            <a:off x="1615440" y="3383280"/>
            <a:ext cx="1447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Pagamentos</a:t>
            </a:r>
            <a:endParaRPr lang="pt-BR" sz="1425"/>
          </a:p>
        </p:txBody>
      </p:sp>
      <p:sp>
        <p:nvSpPr>
          <p:cNvPr id="25" name="Shape 25"/>
          <p:cNvSpPr txBox="1"/>
          <p:nvPr/>
        </p:nvSpPr>
        <p:spPr>
          <a:xfrm>
            <a:off x="3078480" y="3383280"/>
            <a:ext cx="30099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~5 horas · 47–55 usuários</a:t>
            </a:r>
            <a:endParaRPr lang="pt-BR" sz="1275"/>
          </a:p>
        </p:txBody>
      </p:sp>
      <p:sp>
        <p:nvSpPr>
          <p:cNvPr id="26" name="Shape 26"/>
          <p:cNvSpPr/>
          <p:nvPr/>
        </p:nvSpPr>
        <p:spPr>
          <a:xfrm>
            <a:off x="990600" y="3977640"/>
            <a:ext cx="441960" cy="335280"/>
          </a:xfrm>
          <a:prstGeom prst="roundRect">
            <a:avLst/>
          </a:prstGeom>
          <a:solidFill>
            <a:srgbClr val="F17C98"/>
          </a:solidFill>
          <a:ln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990600" y="4000500"/>
            <a:ext cx="441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350" b="1">
                <a:solidFill>
                  <a:srgbClr val="111436"/>
                </a:solidFill>
                <a:latin typeface="Aptos"/>
                <a:ea typeface="Aptos"/>
                <a:cs typeface="Aptos"/>
              </a:rPr>
              <a:t xml:space="preserve">I</a:t>
            </a:r>
            <a:endParaRPr lang="pt-BR" sz="1350"/>
          </a:p>
        </p:txBody>
      </p:sp>
      <p:sp>
        <p:nvSpPr>
          <p:cNvPr id="28" name="Shape 28"/>
          <p:cNvSpPr txBox="1"/>
          <p:nvPr/>
        </p:nvSpPr>
        <p:spPr>
          <a:xfrm>
            <a:off x="1615440" y="3977640"/>
            <a:ext cx="1447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Plataforma</a:t>
            </a:r>
            <a:endParaRPr lang="pt-BR" sz="1425"/>
          </a:p>
        </p:txBody>
      </p:sp>
      <p:sp>
        <p:nvSpPr>
          <p:cNvPr id="29" name="Shape 29"/>
          <p:cNvSpPr txBox="1"/>
          <p:nvPr/>
        </p:nvSpPr>
        <p:spPr>
          <a:xfrm>
            <a:off x="3078480" y="3977640"/>
            <a:ext cx="30099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24 horas · 500 usuários</a:t>
            </a:r>
            <a:endParaRPr lang="pt-BR" sz="1275"/>
          </a:p>
        </p:txBody>
      </p:sp>
      <p:sp>
        <p:nvSpPr>
          <p:cNvPr id="30" name="Shape 30"/>
          <p:cNvSpPr txBox="1"/>
          <p:nvPr/>
        </p:nvSpPr>
        <p:spPr>
          <a:xfrm>
            <a:off x="990600" y="472440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Features: [horas, usuários]  →  StandardScaler</a:t>
            </a:r>
            <a:endParaRPr lang="pt-BR" sz="1350"/>
          </a:p>
        </p:txBody>
      </p:sp>
      <p:sp>
        <p:nvSpPr>
          <p:cNvPr id="31" name="Shape 31"/>
          <p:cNvSpPr txBox="1"/>
          <p:nvPr/>
        </p:nvSpPr>
        <p:spPr>
          <a:xfrm>
            <a:off x="990600" y="502920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Resumo, grupo e número identificam; não entram no cálculo.</a:t>
            </a:r>
            <a:endParaRPr lang="pt-BR" sz="1200"/>
          </a:p>
        </p:txBody>
      </p:sp>
      <p:pic>
        <p:nvPicPr>
          <p:cNvPr id="32" name="Ilustração" descr="Incidentes passam por normalização e se separam em dois grupos densos, com um ponto isolado."/>
          <p:cNvPicPr>
            <a:picLocks noChangeAspect="1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>
            <a:off x="6644640" y="2362200"/>
            <a:ext cx="4724400" cy="1965960"/>
          </a:xfrm>
          <a:prstGeom prst="rect">
            <a:avLst/>
          </a:prstGeom>
          <a:ln>
            <a:noFill/>
          </a:ln>
        </p:spPr>
      </p:pic>
      <p:sp>
        <p:nvSpPr>
          <p:cNvPr id="33" name="Shape 33"/>
          <p:cNvSpPr txBox="1"/>
          <p:nvPr/>
        </p:nvSpPr>
        <p:spPr>
          <a:xfrm>
            <a:off x="6858000" y="4358640"/>
            <a:ext cx="4297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9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ILUSTRAÇÃO CONCEITUAL · NÃO É UM GRÁFICO DOS DADOS</a:t>
            </a:r>
            <a:endParaRPr lang="pt-BR" sz="975"/>
          </a:p>
        </p:txBody>
      </p:sp>
      <p:sp>
        <p:nvSpPr>
          <p:cNvPr id="34" name="Shape 34"/>
          <p:cNvSpPr/>
          <p:nvPr/>
        </p:nvSpPr>
        <p:spPr>
          <a:xfrm>
            <a:off x="6858000" y="4686300"/>
            <a:ext cx="1371600" cy="7162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35" name="Shape 35"/>
          <p:cNvSpPr txBox="1"/>
          <p:nvPr/>
        </p:nvSpPr>
        <p:spPr>
          <a:xfrm>
            <a:off x="6972300" y="4716780"/>
            <a:ext cx="1143000" cy="3294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9 × 2</a:t>
            </a:r>
            <a:endParaRPr lang="pt-BR" sz="2175"/>
          </a:p>
        </p:txBody>
      </p:sp>
      <p:sp>
        <p:nvSpPr>
          <p:cNvPr id="36" name="Shape 36"/>
          <p:cNvSpPr txBox="1"/>
          <p:nvPr/>
        </p:nvSpPr>
        <p:spPr>
          <a:xfrm>
            <a:off x="6972300" y="5080254"/>
            <a:ext cx="1143000" cy="2435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ndarray</a:t>
            </a:r>
            <a:endParaRPr lang="pt-BR" sz="1050"/>
          </a:p>
        </p:txBody>
      </p:sp>
      <p:sp>
        <p:nvSpPr>
          <p:cNvPr id="37" name="Shape 37"/>
          <p:cNvSpPr/>
          <p:nvPr/>
        </p:nvSpPr>
        <p:spPr>
          <a:xfrm>
            <a:off x="8321040" y="4686300"/>
            <a:ext cx="1371600" cy="7162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38" name="Shape 38"/>
          <p:cNvSpPr txBox="1"/>
          <p:nvPr/>
        </p:nvSpPr>
        <p:spPr>
          <a:xfrm>
            <a:off x="8435340" y="4716780"/>
            <a:ext cx="1143000" cy="3294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A–I</a:t>
            </a:r>
            <a:endParaRPr lang="pt-BR" sz="2175"/>
          </a:p>
        </p:txBody>
      </p:sp>
      <p:sp>
        <p:nvSpPr>
          <p:cNvPr id="39" name="Shape 39"/>
          <p:cNvSpPr txBox="1"/>
          <p:nvPr/>
        </p:nvSpPr>
        <p:spPr>
          <a:xfrm>
            <a:off x="8435340" y="5080254"/>
            <a:ext cx="1143000" cy="2435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índice ↔ ticket</a:t>
            </a:r>
            <a:endParaRPr lang="pt-BR" sz="1050"/>
          </a:p>
        </p:txBody>
      </p:sp>
      <p:sp>
        <p:nvSpPr>
          <p:cNvPr id="40" name="Shape 40"/>
          <p:cNvSpPr/>
          <p:nvPr/>
        </p:nvSpPr>
        <p:spPr>
          <a:xfrm>
            <a:off x="9784080" y="4686300"/>
            <a:ext cx="1371600" cy="7162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41" name="Shape 41"/>
          <p:cNvSpPr txBox="1"/>
          <p:nvPr/>
        </p:nvSpPr>
        <p:spPr>
          <a:xfrm>
            <a:off x="9898380" y="4716780"/>
            <a:ext cx="1143000" cy="3294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2</a:t>
            </a:r>
            <a:endParaRPr lang="pt-BR" sz="2175"/>
          </a:p>
        </p:txBody>
      </p:sp>
      <p:sp>
        <p:nvSpPr>
          <p:cNvPr id="42" name="Shape 42"/>
          <p:cNvSpPr txBox="1"/>
          <p:nvPr/>
        </p:nvSpPr>
        <p:spPr>
          <a:xfrm>
            <a:off x="9898380" y="5080254"/>
            <a:ext cx="1143000" cy="2435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features</a:t>
            </a:r>
            <a:endParaRPr lang="pt-BR" sz="1050"/>
          </a:p>
        </p:txBody>
      </p:sp>
      <p:sp>
        <p:nvSpPr>
          <p:cNvPr id="43" name="Shape 43"/>
          <p:cNvSpPr txBox="1"/>
          <p:nvPr/>
        </p:nvSpPr>
        <p:spPr>
          <a:xfrm>
            <a:off x="731520" y="5737860"/>
            <a:ext cx="1072896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Padronizar aproxima as escalas de horas e usuários.</a:t>
            </a:r>
            <a:endParaRPr lang="pt-BR" sz="127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8440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HDBSCAN · ETAPAS 2–3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6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Todas as distâncias; depois, a vizinhança local</a:t>
            </a:r>
            <a:endParaRPr lang="pt-BR" sz="36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A matriz vê todos os pares. A KDTree expõe os vizinhos mais próximos.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16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179320"/>
            <a:ext cx="5059680" cy="320040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975360" y="23469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PAIRWISE_DISTANCES  ·  9 × 9</a:t>
            </a:r>
            <a:endParaRPr lang="pt-BR" sz="1200"/>
          </a:p>
        </p:txBody>
      </p:sp>
      <p:sp>
        <p:nvSpPr>
          <p:cNvPr id="18" name="Shape 18"/>
          <p:cNvSpPr txBox="1"/>
          <p:nvPr/>
        </p:nvSpPr>
        <p:spPr>
          <a:xfrm>
            <a:off x="1127760" y="2766060"/>
            <a:ext cx="4267200" cy="899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lang="pt-BR" sz="1800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d(A,B) = 0.032</a:t>
            </a:r>
            <a:endParaRPr lang="pt-BR" sz="1800"/>
          </a:p>
          <a:p>
            <a:pPr algn="l">
              <a:lnSpc>
                <a:spcPct val="140000"/>
              </a:lnSpc>
            </a:pPr>
            <a:r>
              <a:rPr lang="pt-BR" sz="1800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d(A,I) = 4.708</a:t>
            </a:r>
            <a:endParaRPr lang="pt-BR" sz="1800"/>
          </a:p>
          <a:p>
            <a:pPr algn="l">
              <a:lnSpc>
                <a:spcPct val="140000"/>
              </a:lnSpc>
            </a:pPr>
            <a:r>
              <a:rPr lang="pt-BR" sz="1800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d(i,i) = 0</a:t>
            </a:r>
            <a:endParaRPr lang="pt-BR" sz="1800"/>
          </a:p>
        </p:txBody>
      </p:sp>
      <p:sp>
        <p:nvSpPr>
          <p:cNvPr id="19" name="Shape 19"/>
          <p:cNvSpPr/>
          <p:nvPr/>
        </p:nvSpPr>
        <p:spPr>
          <a:xfrm>
            <a:off x="975360" y="4122420"/>
            <a:ext cx="1447800" cy="85344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20" name="Shape 20"/>
          <p:cNvSpPr txBox="1"/>
          <p:nvPr/>
        </p:nvSpPr>
        <p:spPr>
          <a:xfrm>
            <a:off x="1089660" y="4152900"/>
            <a:ext cx="1219200" cy="392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81</a:t>
            </a:r>
            <a:endParaRPr lang="pt-BR" sz="2175"/>
          </a:p>
        </p:txBody>
      </p:sp>
      <p:sp>
        <p:nvSpPr>
          <p:cNvPr id="21" name="Shape 21"/>
          <p:cNvSpPr txBox="1"/>
          <p:nvPr/>
        </p:nvSpPr>
        <p:spPr>
          <a:xfrm>
            <a:off x="1089660" y="4591812"/>
            <a:ext cx="1219200" cy="29017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células · O(n²)</a:t>
            </a:r>
            <a:endParaRPr lang="pt-BR" sz="1050"/>
          </a:p>
        </p:txBody>
      </p:sp>
      <p:sp>
        <p:nvSpPr>
          <p:cNvPr id="22" name="Shape 22"/>
          <p:cNvSpPr/>
          <p:nvPr/>
        </p:nvSpPr>
        <p:spPr>
          <a:xfrm>
            <a:off x="2529840" y="4122420"/>
            <a:ext cx="1447800" cy="85344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2644140" y="4152900"/>
            <a:ext cx="1219200" cy="392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0</a:t>
            </a:r>
            <a:endParaRPr lang="pt-BR" sz="2175"/>
          </a:p>
        </p:txBody>
      </p:sp>
      <p:sp>
        <p:nvSpPr>
          <p:cNvPr id="24" name="Shape 24"/>
          <p:cNvSpPr txBox="1"/>
          <p:nvPr/>
        </p:nvSpPr>
        <p:spPr>
          <a:xfrm>
            <a:off x="2644140" y="4591812"/>
            <a:ext cx="1219200" cy="29017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diagonal</a:t>
            </a:r>
            <a:endParaRPr lang="pt-BR" sz="1050"/>
          </a:p>
        </p:txBody>
      </p:sp>
      <p:sp>
        <p:nvSpPr>
          <p:cNvPr id="25" name="Shape 25"/>
          <p:cNvSpPr/>
          <p:nvPr/>
        </p:nvSpPr>
        <p:spPr>
          <a:xfrm>
            <a:off x="4084320" y="4122420"/>
            <a:ext cx="1447800" cy="85344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26" name="Shape 26"/>
          <p:cNvSpPr txBox="1"/>
          <p:nvPr/>
        </p:nvSpPr>
        <p:spPr>
          <a:xfrm>
            <a:off x="4198620" y="4152900"/>
            <a:ext cx="1219200" cy="392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simétrica</a:t>
            </a:r>
            <a:endParaRPr lang="pt-BR" sz="2175"/>
          </a:p>
        </p:txBody>
      </p:sp>
      <p:sp>
        <p:nvSpPr>
          <p:cNvPr id="27" name="Shape 27"/>
          <p:cNvSpPr txBox="1"/>
          <p:nvPr/>
        </p:nvSpPr>
        <p:spPr>
          <a:xfrm>
            <a:off x="4198620" y="4591812"/>
            <a:ext cx="1219200" cy="29017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A↔B</a:t>
            </a:r>
            <a:endParaRPr lang="pt-BR" sz="1050"/>
          </a:p>
        </p:txBody>
      </p:sp>
      <p:sp>
        <p:nvSpPr>
          <p:cNvPr id="28" name="Shape 28"/>
          <p:cNvSpPr/>
          <p:nvPr/>
        </p:nvSpPr>
        <p:spPr>
          <a:xfrm>
            <a:off x="6065520" y="2179320"/>
            <a:ext cx="5394960" cy="320040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6324600" y="2324100"/>
            <a:ext cx="48768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KDTREE · get_arrays() · 7 NÓS</a:t>
            </a:r>
            <a:endParaRPr lang="pt-BR" sz="1125"/>
          </a:p>
        </p:txBody>
      </p:sp>
      <p:cxnSp>
        <p:nvCxnSpPr>
          <p:cNvPr id="30" name="Connector 30"/>
          <p:cNvCxnSpPr/>
          <p:nvPr/>
        </p:nvCxnSpPr>
        <p:spPr>
          <a:xfrm>
            <a:off x="8763000" y="3063240"/>
            <a:ext cx="1" cy="152400"/>
          </a:xfrm>
          <a:prstGeom prst="line">
            <a:avLst/>
          </a:prstGeom>
          <a:ln w="15240">
            <a:solidFill>
              <a:srgbClr val="858DB7"/>
            </a:solidFill>
            <a:prstDash val="solid"/>
          </a:ln>
        </p:spPr>
      </p:cxnSp>
      <p:cxnSp>
        <p:nvCxnSpPr>
          <p:cNvPr id="31" name="Connector 31"/>
          <p:cNvCxnSpPr/>
          <p:nvPr/>
        </p:nvCxnSpPr>
        <p:spPr>
          <a:xfrm>
            <a:off x="7200900" y="3215640"/>
            <a:ext cx="3124200" cy="1"/>
          </a:xfrm>
          <a:prstGeom prst="line">
            <a:avLst/>
          </a:prstGeom>
          <a:ln w="15240">
            <a:solidFill>
              <a:srgbClr val="858DB7"/>
            </a:solidFill>
            <a:prstDash val="solid"/>
          </a:ln>
        </p:spPr>
      </p:cxnSp>
      <p:cxnSp>
        <p:nvCxnSpPr>
          <p:cNvPr id="32" name="Connector 32"/>
          <p:cNvCxnSpPr/>
          <p:nvPr/>
        </p:nvCxnSpPr>
        <p:spPr>
          <a:xfrm>
            <a:off x="7200900" y="3215640"/>
            <a:ext cx="1" cy="175260"/>
          </a:xfrm>
          <a:prstGeom prst="line">
            <a:avLst/>
          </a:prstGeom>
          <a:ln w="15240">
            <a:solidFill>
              <a:srgbClr val="59D6C5"/>
            </a:solidFill>
            <a:prstDash val="solid"/>
            <a:headEnd type="triangle" w="sm" len="sm"/>
          </a:ln>
        </p:spPr>
      </p:cxnSp>
      <p:cxnSp>
        <p:nvCxnSpPr>
          <p:cNvPr id="33" name="Connector 33"/>
          <p:cNvCxnSpPr/>
          <p:nvPr/>
        </p:nvCxnSpPr>
        <p:spPr>
          <a:xfrm>
            <a:off x="10325100" y="3215640"/>
            <a:ext cx="1" cy="175260"/>
          </a:xfrm>
          <a:prstGeom prst="line">
            <a:avLst/>
          </a:prstGeom>
          <a:ln w="15240">
            <a:solidFill>
              <a:srgbClr val="F4BA58"/>
            </a:solidFill>
            <a:prstDash val="solid"/>
            <a:headEnd type="triangle" w="sm" len="sm"/>
          </a:ln>
        </p:spPr>
      </p:cxnSp>
      <p:cxnSp>
        <p:nvCxnSpPr>
          <p:cNvPr id="34" name="Connector 34"/>
          <p:cNvCxnSpPr/>
          <p:nvPr/>
        </p:nvCxnSpPr>
        <p:spPr>
          <a:xfrm>
            <a:off x="7200900" y="3848100"/>
            <a:ext cx="1" cy="160020"/>
          </a:xfrm>
          <a:prstGeom prst="line">
            <a:avLst/>
          </a:prstGeom>
          <a:ln w="15240">
            <a:solidFill>
              <a:srgbClr val="858DB7"/>
            </a:solidFill>
            <a:prstDash val="solid"/>
          </a:ln>
        </p:spPr>
      </p:cxnSp>
      <p:cxnSp>
        <p:nvCxnSpPr>
          <p:cNvPr id="35" name="Connector 35"/>
          <p:cNvCxnSpPr/>
          <p:nvPr/>
        </p:nvCxnSpPr>
        <p:spPr>
          <a:xfrm>
            <a:off x="6629400" y="4008120"/>
            <a:ext cx="1676400" cy="1"/>
          </a:xfrm>
          <a:prstGeom prst="line">
            <a:avLst/>
          </a:prstGeom>
          <a:ln w="15240">
            <a:solidFill>
              <a:srgbClr val="858DB7"/>
            </a:solidFill>
            <a:prstDash val="solid"/>
          </a:ln>
        </p:spPr>
      </p:cxnSp>
      <p:cxnSp>
        <p:nvCxnSpPr>
          <p:cNvPr id="36" name="Connector 36"/>
          <p:cNvCxnSpPr/>
          <p:nvPr/>
        </p:nvCxnSpPr>
        <p:spPr>
          <a:xfrm>
            <a:off x="6629400" y="4008120"/>
            <a:ext cx="1" cy="160020"/>
          </a:xfrm>
          <a:prstGeom prst="line">
            <a:avLst/>
          </a:prstGeom>
          <a:ln w="15240">
            <a:solidFill>
              <a:srgbClr val="59D6C5"/>
            </a:solidFill>
            <a:prstDash val="solid"/>
            <a:headEnd type="triangle" w="sm" len="sm"/>
          </a:ln>
        </p:spPr>
      </p:cxnSp>
      <p:cxnSp>
        <p:nvCxnSpPr>
          <p:cNvPr id="37" name="Connector 37"/>
          <p:cNvCxnSpPr/>
          <p:nvPr/>
        </p:nvCxnSpPr>
        <p:spPr>
          <a:xfrm>
            <a:off x="8305800" y="4008120"/>
            <a:ext cx="1" cy="160020"/>
          </a:xfrm>
          <a:prstGeom prst="line">
            <a:avLst/>
          </a:prstGeom>
          <a:ln w="15240">
            <a:solidFill>
              <a:srgbClr val="59D6C5"/>
            </a:solidFill>
            <a:prstDash val="solid"/>
            <a:headEnd type="triangle" w="sm" len="sm"/>
          </a:ln>
        </p:spPr>
      </p:cxnSp>
      <p:cxnSp>
        <p:nvCxnSpPr>
          <p:cNvPr id="38" name="Connector 38"/>
          <p:cNvCxnSpPr/>
          <p:nvPr/>
        </p:nvCxnSpPr>
        <p:spPr>
          <a:xfrm>
            <a:off x="10325100" y="3848100"/>
            <a:ext cx="1" cy="160020"/>
          </a:xfrm>
          <a:prstGeom prst="line">
            <a:avLst/>
          </a:prstGeom>
          <a:ln w="15240">
            <a:solidFill>
              <a:srgbClr val="858DB7"/>
            </a:solidFill>
            <a:prstDash val="solid"/>
          </a:ln>
        </p:spPr>
      </p:cxnSp>
      <p:cxnSp>
        <p:nvCxnSpPr>
          <p:cNvPr id="39" name="Connector 39"/>
          <p:cNvCxnSpPr/>
          <p:nvPr/>
        </p:nvCxnSpPr>
        <p:spPr>
          <a:xfrm>
            <a:off x="9677400" y="4008120"/>
            <a:ext cx="1295400" cy="1"/>
          </a:xfrm>
          <a:prstGeom prst="line">
            <a:avLst/>
          </a:prstGeom>
          <a:ln w="15240">
            <a:solidFill>
              <a:srgbClr val="858DB7"/>
            </a:solidFill>
            <a:prstDash val="solid"/>
          </a:ln>
        </p:spPr>
      </p:cxnSp>
      <p:cxnSp>
        <p:nvCxnSpPr>
          <p:cNvPr id="40" name="Connector 40"/>
          <p:cNvCxnSpPr/>
          <p:nvPr/>
        </p:nvCxnSpPr>
        <p:spPr>
          <a:xfrm>
            <a:off x="9677400" y="4008120"/>
            <a:ext cx="1" cy="160020"/>
          </a:xfrm>
          <a:prstGeom prst="line">
            <a:avLst/>
          </a:prstGeom>
          <a:ln w="15240">
            <a:solidFill>
              <a:srgbClr val="F4BA58"/>
            </a:solidFill>
            <a:prstDash val="solid"/>
            <a:headEnd type="triangle" w="sm" len="sm"/>
          </a:ln>
        </p:spPr>
      </p:cxnSp>
      <p:cxnSp>
        <p:nvCxnSpPr>
          <p:cNvPr id="41" name="Connector 41"/>
          <p:cNvCxnSpPr/>
          <p:nvPr/>
        </p:nvCxnSpPr>
        <p:spPr>
          <a:xfrm>
            <a:off x="10972800" y="4008120"/>
            <a:ext cx="1" cy="160020"/>
          </a:xfrm>
          <a:prstGeom prst="line">
            <a:avLst/>
          </a:prstGeom>
          <a:ln w="15240">
            <a:solidFill>
              <a:srgbClr val="F4BA58"/>
            </a:solidFill>
            <a:prstDash val="solid"/>
            <a:headEnd type="triangle" w="sm" len="sm"/>
          </a:ln>
        </p:spPr>
      </p:cxnSp>
      <p:sp>
        <p:nvSpPr>
          <p:cNvPr id="42" name="Shape 42"/>
          <p:cNvSpPr/>
          <p:nvPr/>
        </p:nvSpPr>
        <p:spPr>
          <a:xfrm>
            <a:off x="8077200" y="2636520"/>
            <a:ext cx="1371600" cy="42672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858DB7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7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0 · [0:9)</a:t>
            </a:r>
            <a:endParaRPr lang="pt-BR" sz="1275"/>
          </a:p>
        </p:txBody>
      </p:sp>
      <p:sp>
        <p:nvSpPr>
          <p:cNvPr id="43" name="Shape 43"/>
          <p:cNvSpPr/>
          <p:nvPr/>
        </p:nvSpPr>
        <p:spPr>
          <a:xfrm>
            <a:off x="6477000" y="3390900"/>
            <a:ext cx="1447800" cy="45720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1 · [0:4)</a:t>
            </a:r>
            <a:endParaRPr lang="pt-BR" sz="1200"/>
          </a:p>
        </p:txBody>
      </p:sp>
      <p:sp>
        <p:nvSpPr>
          <p:cNvPr id="44" name="Shape 44"/>
          <p:cNvSpPr/>
          <p:nvPr/>
        </p:nvSpPr>
        <p:spPr>
          <a:xfrm>
            <a:off x="9601200" y="3390900"/>
            <a:ext cx="1447800" cy="45720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2 · [4:9)</a:t>
            </a:r>
            <a:endParaRPr lang="pt-BR" sz="1200"/>
          </a:p>
        </p:txBody>
      </p:sp>
      <p:sp>
        <p:nvSpPr>
          <p:cNvPr id="45" name="Shape 45"/>
          <p:cNvSpPr/>
          <p:nvPr/>
        </p:nvSpPr>
        <p:spPr>
          <a:xfrm>
            <a:off x="6096000" y="4168140"/>
            <a:ext cx="1066800" cy="50292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1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3 · [0:2)</a:t>
            </a:r>
            <a:endParaRPr lang="pt-BR" sz="1125"/>
          </a:p>
          <a:p>
            <a:pPr algn="ctr">
              <a:lnSpc>
                <a:spcPct val="105000"/>
              </a:lnSpc>
            </a:pPr>
            <a:r>
              <a:rPr lang="pt-BR" sz="11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folha</a:t>
            </a:r>
            <a:endParaRPr lang="pt-BR" sz="1125"/>
          </a:p>
        </p:txBody>
      </p:sp>
      <p:sp>
        <p:nvSpPr>
          <p:cNvPr id="46" name="Shape 46"/>
          <p:cNvSpPr/>
          <p:nvPr/>
        </p:nvSpPr>
        <p:spPr>
          <a:xfrm>
            <a:off x="7772400" y="4168140"/>
            <a:ext cx="1066800" cy="50292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1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4 · [2:4)</a:t>
            </a:r>
            <a:endParaRPr lang="pt-BR" sz="1125"/>
          </a:p>
          <a:p>
            <a:pPr algn="ctr">
              <a:lnSpc>
                <a:spcPct val="105000"/>
              </a:lnSpc>
            </a:pPr>
            <a:r>
              <a:rPr lang="pt-BR" sz="11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folha</a:t>
            </a:r>
            <a:endParaRPr lang="pt-BR" sz="1125"/>
          </a:p>
        </p:txBody>
      </p:sp>
      <p:sp>
        <p:nvSpPr>
          <p:cNvPr id="47" name="Shape 47"/>
          <p:cNvSpPr/>
          <p:nvPr/>
        </p:nvSpPr>
        <p:spPr>
          <a:xfrm>
            <a:off x="9144000" y="4168140"/>
            <a:ext cx="1066800" cy="50292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1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5 · [4:6)</a:t>
            </a:r>
            <a:endParaRPr lang="pt-BR" sz="1125"/>
          </a:p>
          <a:p>
            <a:pPr algn="ctr">
              <a:lnSpc>
                <a:spcPct val="105000"/>
              </a:lnSpc>
            </a:pPr>
            <a:r>
              <a:rPr lang="pt-BR" sz="11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folha</a:t>
            </a:r>
            <a:endParaRPr lang="pt-BR" sz="1125"/>
          </a:p>
        </p:txBody>
      </p:sp>
      <p:sp>
        <p:nvSpPr>
          <p:cNvPr id="48" name="Shape 48"/>
          <p:cNvSpPr/>
          <p:nvPr/>
        </p:nvSpPr>
        <p:spPr>
          <a:xfrm>
            <a:off x="10515600" y="4168140"/>
            <a:ext cx="914400" cy="50292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1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6 · [6:9)</a:t>
            </a:r>
            <a:endParaRPr lang="pt-BR" sz="1125"/>
          </a:p>
          <a:p>
            <a:pPr algn="ctr">
              <a:lnSpc>
                <a:spcPct val="105000"/>
              </a:lnSpc>
            </a:pPr>
            <a:r>
              <a:rPr lang="pt-BR" sz="11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folha</a:t>
            </a:r>
            <a:endParaRPr lang="pt-BR" sz="1125"/>
          </a:p>
        </p:txBody>
      </p:sp>
      <p:sp>
        <p:nvSpPr>
          <p:cNvPr id="49" name="Shape 49"/>
          <p:cNvSpPr txBox="1"/>
          <p:nvPr/>
        </p:nvSpPr>
        <p:spPr>
          <a:xfrm>
            <a:off x="6324600" y="4724400"/>
            <a:ext cx="4876800" cy="259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[início:fim) recorta o array de índices interno da árvore.</a:t>
            </a:r>
            <a:endParaRPr lang="pt-BR" sz="1125"/>
          </a:p>
        </p:txBody>
      </p:sp>
      <p:sp>
        <p:nvSpPr>
          <p:cNvPr id="50" name="Shape 50"/>
          <p:cNvSpPr txBox="1"/>
          <p:nvPr/>
        </p:nvSpPr>
        <p:spPr>
          <a:xfrm>
            <a:off x="6324600" y="4983480"/>
            <a:ext cx="4876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query k=3 inclui o próprio ponto + 2 vizinhos.  core(A)=0.0299 · core(I)=4.0621</a:t>
            </a:r>
            <a:endParaRPr lang="pt-BR" sz="1050"/>
          </a:p>
        </p:txBody>
      </p:sp>
      <p:sp>
        <p:nvSpPr>
          <p:cNvPr id="51" name="Shape 51"/>
          <p:cNvSpPr txBox="1"/>
          <p:nvPr/>
        </p:nvSpPr>
        <p:spPr>
          <a:xfrm>
            <a:off x="731520" y="5737860"/>
            <a:ext cx="1072896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A KDTree é uma inspeção didática; a etapa seguinte calcula os core distances pela matriz.</a:t>
            </a:r>
            <a:endParaRPr lang="pt-BR" sz="1275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6154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HDBSCAN · ETAPA 4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6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A distância ganha o contexto da densidade</a:t>
            </a:r>
            <a:endParaRPr lang="pt-BR" sz="36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Conexões em regiões esparsas ficam mais caras antes de montar a árvore.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17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179320"/>
            <a:ext cx="4953000" cy="320040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975360" y="236220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MUTUAL REACHABILITY</a:t>
            </a:r>
            <a:endParaRPr lang="pt-BR" sz="1200"/>
          </a:p>
        </p:txBody>
      </p:sp>
      <p:sp>
        <p:nvSpPr>
          <p:cNvPr id="18" name="Shape 18"/>
          <p:cNvSpPr txBox="1"/>
          <p:nvPr/>
        </p:nvSpPr>
        <p:spPr>
          <a:xfrm>
            <a:off x="975360" y="2819400"/>
            <a:ext cx="426720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</a:pPr>
            <a:r>
              <a:rPr lang="pt-BR" sz="17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peso(i,j) = max(core(i), core(j), d(i,j))</a:t>
            </a:r>
            <a:endParaRPr lang="pt-BR" sz="1725"/>
          </a:p>
        </p:txBody>
      </p:sp>
      <p:sp>
        <p:nvSpPr>
          <p:cNvPr id="19" name="Shape 19"/>
          <p:cNvSpPr txBox="1"/>
          <p:nvPr/>
        </p:nvSpPr>
        <p:spPr>
          <a:xfrm>
            <a:off x="975360" y="3489960"/>
            <a:ext cx="4229100" cy="853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lang="pt-BR" sz="1500">
                <a:solidFill>
                  <a:srgbClr val="F4BA58"/>
                </a:solidFill>
                <a:latin typeface="Menlo"/>
                <a:ea typeface="Menlo"/>
                <a:cs typeface="Menlo"/>
              </a:rPr>
              <a:t xml:space="preserve">A—D: distância 0.016</a:t>
            </a:r>
            <a:endParaRPr lang="pt-BR" sz="1500"/>
          </a:p>
          <a:p>
            <a:pPr algn="l">
              <a:lnSpc>
                <a:spcPct val="140000"/>
              </a:lnSpc>
            </a:pPr>
            <a:r>
              <a:rPr lang="pt-BR" sz="1500">
                <a:solidFill>
                  <a:srgbClr val="F4BA58"/>
                </a:solidFill>
                <a:latin typeface="Menlo"/>
                <a:ea typeface="Menlo"/>
                <a:cs typeface="Menlo"/>
              </a:rPr>
              <a:t xml:space="preserve">core(A) 0.0299 → peso 0.0299</a:t>
            </a:r>
            <a:endParaRPr lang="pt-BR" sz="1500"/>
          </a:p>
        </p:txBody>
      </p:sp>
      <p:sp>
        <p:nvSpPr>
          <p:cNvPr id="20" name="Shape 20"/>
          <p:cNvSpPr txBox="1"/>
          <p:nvPr/>
        </p:nvSpPr>
        <p:spPr>
          <a:xfrm>
            <a:off x="975360" y="4564380"/>
            <a:ext cx="422910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A vizinhança local muda o peso da conexão.</a:t>
            </a:r>
            <a:endParaRPr lang="pt-BR" sz="1350"/>
          </a:p>
        </p:txBody>
      </p:sp>
      <p:sp>
        <p:nvSpPr>
          <p:cNvPr id="21" name="Shape 21"/>
          <p:cNvSpPr/>
          <p:nvPr/>
        </p:nvSpPr>
        <p:spPr>
          <a:xfrm>
            <a:off x="5974080" y="2179320"/>
            <a:ext cx="5486400" cy="320040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22" name="Shape 22"/>
          <p:cNvSpPr txBox="1"/>
          <p:nvPr/>
        </p:nvSpPr>
        <p:spPr>
          <a:xfrm>
            <a:off x="6233160" y="23622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GRAFO EM CSR  ·  scipy.sparse.csr_matrix</a:t>
            </a:r>
            <a:endParaRPr lang="pt-BR" sz="1200"/>
          </a:p>
        </p:txBody>
      </p:sp>
      <p:sp>
        <p:nvSpPr>
          <p:cNvPr id="23" name="Shape 23"/>
          <p:cNvSpPr/>
          <p:nvPr/>
        </p:nvSpPr>
        <p:spPr>
          <a:xfrm>
            <a:off x="6263640" y="2849880"/>
            <a:ext cx="1219200" cy="35052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24" name="Shape 24"/>
          <p:cNvSpPr txBox="1"/>
          <p:nvPr/>
        </p:nvSpPr>
        <p:spPr>
          <a:xfrm>
            <a:off x="6339840" y="2880360"/>
            <a:ext cx="1066800" cy="289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350" b="1">
                <a:solidFill>
                  <a:srgbClr val="59D6C5"/>
                </a:solidFill>
                <a:latin typeface="Menlo"/>
                <a:ea typeface="Menlo"/>
                <a:cs typeface="Menlo"/>
              </a:rPr>
              <a:t xml:space="preserve">indptr</a:t>
            </a:r>
            <a:endParaRPr lang="pt-BR" sz="1350"/>
          </a:p>
        </p:txBody>
      </p:sp>
      <p:sp>
        <p:nvSpPr>
          <p:cNvPr id="25" name="Shape 25"/>
          <p:cNvSpPr txBox="1"/>
          <p:nvPr/>
        </p:nvSpPr>
        <p:spPr>
          <a:xfrm>
            <a:off x="7635240" y="2880360"/>
            <a:ext cx="3124200" cy="289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limites de cada linha</a:t>
            </a:r>
            <a:endParaRPr lang="pt-BR" sz="1350"/>
          </a:p>
        </p:txBody>
      </p:sp>
      <p:sp>
        <p:nvSpPr>
          <p:cNvPr id="26" name="Shape 26"/>
          <p:cNvSpPr/>
          <p:nvPr/>
        </p:nvSpPr>
        <p:spPr>
          <a:xfrm>
            <a:off x="6263640" y="3421380"/>
            <a:ext cx="1219200" cy="35052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27" name="Shape 27"/>
          <p:cNvSpPr txBox="1"/>
          <p:nvPr/>
        </p:nvSpPr>
        <p:spPr>
          <a:xfrm>
            <a:off x="6339840" y="3451860"/>
            <a:ext cx="1066800" cy="289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350" b="1">
                <a:solidFill>
                  <a:srgbClr val="59D6C5"/>
                </a:solidFill>
                <a:latin typeface="Menlo"/>
                <a:ea typeface="Menlo"/>
                <a:cs typeface="Menlo"/>
              </a:rPr>
              <a:t xml:space="preserve">indices</a:t>
            </a:r>
            <a:endParaRPr lang="pt-BR" sz="1350"/>
          </a:p>
        </p:txBody>
      </p:sp>
      <p:sp>
        <p:nvSpPr>
          <p:cNvPr id="28" name="Shape 28"/>
          <p:cNvSpPr txBox="1"/>
          <p:nvPr/>
        </p:nvSpPr>
        <p:spPr>
          <a:xfrm>
            <a:off x="7635240" y="3451860"/>
            <a:ext cx="3124200" cy="289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coluna / vizinho</a:t>
            </a:r>
            <a:endParaRPr lang="pt-BR" sz="1350"/>
          </a:p>
        </p:txBody>
      </p:sp>
      <p:sp>
        <p:nvSpPr>
          <p:cNvPr id="29" name="Shape 29"/>
          <p:cNvSpPr/>
          <p:nvPr/>
        </p:nvSpPr>
        <p:spPr>
          <a:xfrm>
            <a:off x="6263640" y="3992880"/>
            <a:ext cx="1219200" cy="35052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30" name="Shape 30"/>
          <p:cNvSpPr txBox="1"/>
          <p:nvPr/>
        </p:nvSpPr>
        <p:spPr>
          <a:xfrm>
            <a:off x="6339840" y="4023360"/>
            <a:ext cx="1066800" cy="289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350" b="1">
                <a:solidFill>
                  <a:srgbClr val="59D6C5"/>
                </a:solidFill>
                <a:latin typeface="Menlo"/>
                <a:ea typeface="Menlo"/>
                <a:cs typeface="Menlo"/>
              </a:rPr>
              <a:t xml:space="preserve">data</a:t>
            </a:r>
            <a:endParaRPr lang="pt-BR" sz="1350"/>
          </a:p>
        </p:txBody>
      </p:sp>
      <p:sp>
        <p:nvSpPr>
          <p:cNvPr id="31" name="Shape 31"/>
          <p:cNvSpPr txBox="1"/>
          <p:nvPr/>
        </p:nvSpPr>
        <p:spPr>
          <a:xfrm>
            <a:off x="7635240" y="4023360"/>
            <a:ext cx="3124200" cy="289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peso da aresta</a:t>
            </a:r>
            <a:endParaRPr lang="pt-BR" sz="1350"/>
          </a:p>
        </p:txBody>
      </p:sp>
      <p:sp>
        <p:nvSpPr>
          <p:cNvPr id="32" name="Shape 32"/>
          <p:cNvSpPr/>
          <p:nvPr/>
        </p:nvSpPr>
        <p:spPr>
          <a:xfrm>
            <a:off x="6233160" y="4747260"/>
            <a:ext cx="13868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F4BA58"/>
            </a:solidFill>
          </a:ln>
        </p:spPr>
      </p:sp>
      <p:sp>
        <p:nvSpPr>
          <p:cNvPr id="33" name="Shape 33"/>
          <p:cNvSpPr txBox="1"/>
          <p:nvPr/>
        </p:nvSpPr>
        <p:spPr>
          <a:xfrm>
            <a:off x="6332220" y="476250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shape (9, 9)</a:t>
            </a:r>
            <a:endParaRPr lang="pt-BR" sz="1200"/>
          </a:p>
        </p:txBody>
      </p:sp>
      <p:sp>
        <p:nvSpPr>
          <p:cNvPr id="34" name="Shape 34"/>
          <p:cNvSpPr/>
          <p:nvPr/>
        </p:nvSpPr>
        <p:spPr>
          <a:xfrm>
            <a:off x="7741920" y="4747260"/>
            <a:ext cx="12954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35" name="Shape 35"/>
          <p:cNvSpPr txBox="1"/>
          <p:nvPr/>
        </p:nvSpPr>
        <p:spPr>
          <a:xfrm>
            <a:off x="7840980" y="47625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72 entradas</a:t>
            </a:r>
            <a:endParaRPr lang="pt-BR" sz="1200"/>
          </a:p>
        </p:txBody>
      </p:sp>
      <p:sp>
        <p:nvSpPr>
          <p:cNvPr id="36" name="Shape 36"/>
          <p:cNvSpPr txBox="1"/>
          <p:nvPr/>
        </p:nvSpPr>
        <p:spPr>
          <a:xfrm>
            <a:off x="9144000" y="4770120"/>
            <a:ext cx="2004060" cy="2209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grafo completo · denso</a:t>
            </a:r>
            <a:endParaRPr lang="pt-BR" sz="1125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6154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HDBSCAN · ETAPA 5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3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A árvore geradora mínima conecta os nove incidentes</a:t>
            </a:r>
            <a:endParaRPr lang="pt-BR" sz="33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50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Cada linha é uma aresta real da MST; a cor destaca grupos próximos e as ligações mais caras.</a:t>
            </a:r>
            <a:endParaRPr lang="pt-BR" sz="1500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18</a:t>
            </a:r>
            <a:endParaRPr lang="pt-BR" sz="1275"/>
          </a:p>
        </p:txBody>
      </p:sp>
      <p:cxnSp>
        <p:nvCxnSpPr>
          <p:cNvPr id="16" name="Connector 16"/>
          <p:cNvCxnSpPr/>
          <p:nvPr/>
        </p:nvCxnSpPr>
        <p:spPr>
          <a:xfrm flipH="1" flipV="1">
            <a:off x="1203960" y="2788920"/>
            <a:ext cx="495300" cy="853440"/>
          </a:xfrm>
          <a:prstGeom prst="line">
            <a:avLst/>
          </a:prstGeom>
          <a:ln w="30480">
            <a:solidFill>
              <a:srgbClr val="59D6C5"/>
            </a:solidFill>
            <a:prstDash val="solid"/>
          </a:ln>
        </p:spPr>
      </p:cxnSp>
      <p:sp>
        <p:nvSpPr>
          <p:cNvPr id="17" name="Shape 17"/>
          <p:cNvSpPr/>
          <p:nvPr/>
        </p:nvSpPr>
        <p:spPr>
          <a:xfrm>
            <a:off x="731520" y="3048000"/>
            <a:ext cx="701040" cy="198120"/>
          </a:xfrm>
          <a:prstGeom prst="roundRect">
            <a:avLst/>
          </a:prstGeom>
          <a:solidFill>
            <a:srgbClr val="111436">
              <a:alpha val="93000"/>
            </a:srgbClr>
          </a:solidFill>
          <a:ln>
            <a:noFill/>
          </a:ln>
        </p:spPr>
      </p:sp>
      <p:sp>
        <p:nvSpPr>
          <p:cNvPr id="18" name="Shape 18"/>
          <p:cNvSpPr txBox="1"/>
          <p:nvPr/>
        </p:nvSpPr>
        <p:spPr>
          <a:xfrm>
            <a:off x="731520" y="3048000"/>
            <a:ext cx="701040" cy="198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Menlo"/>
                <a:ea typeface="Menlo"/>
                <a:cs typeface="Menlo"/>
              </a:rPr>
              <a:t xml:space="preserve">0.0299</a:t>
            </a:r>
            <a:endParaRPr lang="pt-BR" sz="1125"/>
          </a:p>
        </p:txBody>
      </p:sp>
      <p:cxnSp>
        <p:nvCxnSpPr>
          <p:cNvPr id="19" name="Connector 19"/>
          <p:cNvCxnSpPr/>
          <p:nvPr/>
        </p:nvCxnSpPr>
        <p:spPr>
          <a:xfrm flipV="1">
            <a:off x="1699260" y="2788920"/>
            <a:ext cx="1828800" cy="853440"/>
          </a:xfrm>
          <a:prstGeom prst="line">
            <a:avLst/>
          </a:prstGeom>
          <a:ln w="30480">
            <a:solidFill>
              <a:srgbClr val="59D6C5"/>
            </a:solidFill>
            <a:prstDash val="solid"/>
          </a:ln>
        </p:spPr>
      </p:cxnSp>
      <p:sp>
        <p:nvSpPr>
          <p:cNvPr id="20" name="Shape 20"/>
          <p:cNvSpPr/>
          <p:nvPr/>
        </p:nvSpPr>
        <p:spPr>
          <a:xfrm>
            <a:off x="2225040" y="2933700"/>
            <a:ext cx="822960" cy="198120"/>
          </a:xfrm>
          <a:prstGeom prst="roundRect">
            <a:avLst/>
          </a:prstGeom>
          <a:solidFill>
            <a:srgbClr val="111436">
              <a:alpha val="93000"/>
            </a:srgbClr>
          </a:solidFill>
          <a:ln>
            <a:noFill/>
          </a:ln>
        </p:spPr>
      </p:sp>
      <p:sp>
        <p:nvSpPr>
          <p:cNvPr id="21" name="Shape 21"/>
          <p:cNvSpPr txBox="1"/>
          <p:nvPr/>
        </p:nvSpPr>
        <p:spPr>
          <a:xfrm>
            <a:off x="2225040" y="2933700"/>
            <a:ext cx="822960" cy="198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Menlo"/>
                <a:ea typeface="Menlo"/>
                <a:cs typeface="Menlo"/>
              </a:rPr>
              <a:t xml:space="preserve">0.0321</a:t>
            </a:r>
            <a:endParaRPr lang="pt-BR" sz="1125"/>
          </a:p>
        </p:txBody>
      </p:sp>
      <p:cxnSp>
        <p:nvCxnSpPr>
          <p:cNvPr id="22" name="Connector 22"/>
          <p:cNvCxnSpPr/>
          <p:nvPr/>
        </p:nvCxnSpPr>
        <p:spPr>
          <a:xfrm>
            <a:off x="1699260" y="3642360"/>
            <a:ext cx="762000" cy="1097280"/>
          </a:xfrm>
          <a:prstGeom prst="line">
            <a:avLst/>
          </a:prstGeom>
          <a:ln w="30480">
            <a:solidFill>
              <a:srgbClr val="59D6C5"/>
            </a:solidFill>
            <a:prstDash val="solid"/>
          </a:ln>
        </p:spPr>
      </p:cxnSp>
      <p:sp>
        <p:nvSpPr>
          <p:cNvPr id="23" name="Shape 23"/>
          <p:cNvSpPr/>
          <p:nvPr/>
        </p:nvSpPr>
        <p:spPr>
          <a:xfrm>
            <a:off x="1676400" y="3962400"/>
            <a:ext cx="838200" cy="198120"/>
          </a:xfrm>
          <a:prstGeom prst="roundRect">
            <a:avLst/>
          </a:prstGeom>
          <a:solidFill>
            <a:srgbClr val="111436">
              <a:alpha val="93000"/>
            </a:srgbClr>
          </a:solidFill>
          <a:ln>
            <a:noFill/>
          </a:ln>
        </p:spPr>
      </p:sp>
      <p:sp>
        <p:nvSpPr>
          <p:cNvPr id="24" name="Shape 24"/>
          <p:cNvSpPr txBox="1"/>
          <p:nvPr/>
        </p:nvSpPr>
        <p:spPr>
          <a:xfrm>
            <a:off x="1676400" y="3962400"/>
            <a:ext cx="838200" cy="198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Menlo"/>
                <a:ea typeface="Menlo"/>
                <a:cs typeface="Menlo"/>
              </a:rPr>
              <a:t xml:space="preserve">0.0457</a:t>
            </a:r>
            <a:endParaRPr lang="pt-BR" sz="1125"/>
          </a:p>
        </p:txBody>
      </p:sp>
      <p:cxnSp>
        <p:nvCxnSpPr>
          <p:cNvPr id="25" name="Connector 25"/>
          <p:cNvCxnSpPr/>
          <p:nvPr/>
        </p:nvCxnSpPr>
        <p:spPr>
          <a:xfrm>
            <a:off x="3528060" y="2788920"/>
            <a:ext cx="1790700" cy="1005840"/>
          </a:xfrm>
          <a:prstGeom prst="line">
            <a:avLst/>
          </a:prstGeom>
          <a:ln w="30480">
            <a:solidFill>
              <a:srgbClr val="F4BA58"/>
            </a:solidFill>
            <a:prstDash val="solid"/>
          </a:ln>
        </p:spPr>
      </p:cxnSp>
      <p:sp>
        <p:nvSpPr>
          <p:cNvPr id="26" name="Shape 26"/>
          <p:cNvSpPr/>
          <p:nvPr/>
        </p:nvSpPr>
        <p:spPr>
          <a:xfrm>
            <a:off x="3870960" y="3101340"/>
            <a:ext cx="853440" cy="198120"/>
          </a:xfrm>
          <a:prstGeom prst="roundRect">
            <a:avLst/>
          </a:prstGeom>
          <a:solidFill>
            <a:srgbClr val="111436">
              <a:alpha val="93000"/>
            </a:srgbClr>
          </a:solidFill>
          <a:ln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3870960" y="3101340"/>
            <a:ext cx="853440" cy="198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F4BA58"/>
                </a:solidFill>
                <a:latin typeface="Menlo"/>
                <a:ea typeface="Menlo"/>
                <a:cs typeface="Menlo"/>
              </a:rPr>
              <a:t xml:space="preserve">0.5890</a:t>
            </a:r>
            <a:endParaRPr lang="pt-BR" sz="1125"/>
          </a:p>
        </p:txBody>
      </p:sp>
      <p:cxnSp>
        <p:nvCxnSpPr>
          <p:cNvPr id="28" name="Connector 28"/>
          <p:cNvCxnSpPr/>
          <p:nvPr/>
        </p:nvCxnSpPr>
        <p:spPr>
          <a:xfrm flipH="1">
            <a:off x="5318760" y="2781300"/>
            <a:ext cx="1676400" cy="1013460"/>
          </a:xfrm>
          <a:prstGeom prst="line">
            <a:avLst/>
          </a:prstGeom>
          <a:ln w="30480">
            <a:solidFill>
              <a:srgbClr val="F4BA58"/>
            </a:solidFill>
            <a:prstDash val="solid"/>
          </a:ln>
        </p:spPr>
      </p:cxnSp>
      <p:sp>
        <p:nvSpPr>
          <p:cNvPr id="29" name="Shape 29"/>
          <p:cNvSpPr/>
          <p:nvPr/>
        </p:nvSpPr>
        <p:spPr>
          <a:xfrm>
            <a:off x="5715000" y="2926080"/>
            <a:ext cx="853440" cy="198120"/>
          </a:xfrm>
          <a:prstGeom prst="roundRect">
            <a:avLst/>
          </a:prstGeom>
          <a:solidFill>
            <a:srgbClr val="111436">
              <a:alpha val="93000"/>
            </a:srgbClr>
          </a:solidFill>
          <a:ln>
            <a:noFill/>
          </a:ln>
        </p:spPr>
      </p:sp>
      <p:sp>
        <p:nvSpPr>
          <p:cNvPr id="30" name="Shape 30"/>
          <p:cNvSpPr txBox="1"/>
          <p:nvPr/>
        </p:nvSpPr>
        <p:spPr>
          <a:xfrm>
            <a:off x="5715000" y="2926080"/>
            <a:ext cx="853440" cy="198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F4BA58"/>
                </a:solidFill>
                <a:latin typeface="Menlo"/>
                <a:ea typeface="Menlo"/>
                <a:cs typeface="Menlo"/>
              </a:rPr>
              <a:t xml:space="preserve">0.0593</a:t>
            </a:r>
            <a:endParaRPr lang="pt-BR" sz="1125"/>
          </a:p>
        </p:txBody>
      </p:sp>
      <p:cxnSp>
        <p:nvCxnSpPr>
          <p:cNvPr id="31" name="Connector 31"/>
          <p:cNvCxnSpPr/>
          <p:nvPr/>
        </p:nvCxnSpPr>
        <p:spPr>
          <a:xfrm>
            <a:off x="6995160" y="2781300"/>
            <a:ext cx="1028700" cy="731520"/>
          </a:xfrm>
          <a:prstGeom prst="line">
            <a:avLst/>
          </a:prstGeom>
          <a:ln w="30480">
            <a:solidFill>
              <a:srgbClr val="59D6C5"/>
            </a:solidFill>
            <a:prstDash val="solid"/>
          </a:ln>
        </p:spPr>
      </p:cxnSp>
      <p:sp>
        <p:nvSpPr>
          <p:cNvPr id="32" name="Shape 32"/>
          <p:cNvSpPr/>
          <p:nvPr/>
        </p:nvSpPr>
        <p:spPr>
          <a:xfrm>
            <a:off x="7239000" y="3032760"/>
            <a:ext cx="853440" cy="198120"/>
          </a:xfrm>
          <a:prstGeom prst="roundRect">
            <a:avLst/>
          </a:prstGeom>
          <a:solidFill>
            <a:srgbClr val="111436">
              <a:alpha val="93000"/>
            </a:srgbClr>
          </a:solidFill>
          <a:ln>
            <a:noFill/>
          </a:ln>
        </p:spPr>
      </p:sp>
      <p:sp>
        <p:nvSpPr>
          <p:cNvPr id="33" name="Shape 33"/>
          <p:cNvSpPr txBox="1"/>
          <p:nvPr/>
        </p:nvSpPr>
        <p:spPr>
          <a:xfrm>
            <a:off x="7239000" y="3032760"/>
            <a:ext cx="853440" cy="198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Menlo"/>
                <a:ea typeface="Menlo"/>
                <a:cs typeface="Menlo"/>
              </a:rPr>
              <a:t xml:space="preserve">0.0354</a:t>
            </a:r>
            <a:endParaRPr lang="pt-BR" sz="1125"/>
          </a:p>
        </p:txBody>
      </p:sp>
      <p:cxnSp>
        <p:nvCxnSpPr>
          <p:cNvPr id="34" name="Connector 34"/>
          <p:cNvCxnSpPr/>
          <p:nvPr/>
        </p:nvCxnSpPr>
        <p:spPr>
          <a:xfrm>
            <a:off x="6995160" y="2781300"/>
            <a:ext cx="38100" cy="1958340"/>
          </a:xfrm>
          <a:prstGeom prst="line">
            <a:avLst/>
          </a:prstGeom>
          <a:ln w="30480">
            <a:solidFill>
              <a:srgbClr val="59D6C5"/>
            </a:solidFill>
            <a:prstDash val="solid"/>
          </a:ln>
        </p:spPr>
      </p:cxnSp>
      <p:sp>
        <p:nvSpPr>
          <p:cNvPr id="35" name="Shape 35"/>
          <p:cNvSpPr/>
          <p:nvPr/>
        </p:nvSpPr>
        <p:spPr>
          <a:xfrm>
            <a:off x="6438900" y="3657600"/>
            <a:ext cx="853440" cy="198120"/>
          </a:xfrm>
          <a:prstGeom prst="roundRect">
            <a:avLst/>
          </a:prstGeom>
          <a:solidFill>
            <a:srgbClr val="111436">
              <a:alpha val="93000"/>
            </a:srgbClr>
          </a:solidFill>
          <a:ln>
            <a:noFill/>
          </a:ln>
        </p:spPr>
      </p:sp>
      <p:sp>
        <p:nvSpPr>
          <p:cNvPr id="36" name="Shape 36"/>
          <p:cNvSpPr txBox="1"/>
          <p:nvPr/>
        </p:nvSpPr>
        <p:spPr>
          <a:xfrm>
            <a:off x="6438900" y="3657600"/>
            <a:ext cx="853440" cy="198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Menlo"/>
                <a:ea typeface="Menlo"/>
                <a:cs typeface="Menlo"/>
              </a:rPr>
              <a:t xml:space="preserve">0.0443</a:t>
            </a:r>
            <a:endParaRPr lang="pt-BR" sz="1125"/>
          </a:p>
        </p:txBody>
      </p:sp>
      <p:cxnSp>
        <p:nvCxnSpPr>
          <p:cNvPr id="37" name="Connector 37"/>
          <p:cNvCxnSpPr/>
          <p:nvPr/>
        </p:nvCxnSpPr>
        <p:spPr>
          <a:xfrm>
            <a:off x="7033260" y="4739640"/>
            <a:ext cx="2667000" cy="1"/>
          </a:xfrm>
          <a:prstGeom prst="line">
            <a:avLst/>
          </a:prstGeom>
          <a:ln w="30480">
            <a:solidFill>
              <a:srgbClr val="F17C98"/>
            </a:solidFill>
            <a:prstDash val="solid"/>
          </a:ln>
        </p:spPr>
      </p:cxnSp>
      <p:sp>
        <p:nvSpPr>
          <p:cNvPr id="38" name="Shape 38"/>
          <p:cNvSpPr/>
          <p:nvPr/>
        </p:nvSpPr>
        <p:spPr>
          <a:xfrm>
            <a:off x="7772400" y="4328160"/>
            <a:ext cx="1005840" cy="198120"/>
          </a:xfrm>
          <a:prstGeom prst="roundRect">
            <a:avLst/>
          </a:prstGeom>
          <a:solidFill>
            <a:srgbClr val="111436">
              <a:alpha val="93000"/>
            </a:srgbClr>
          </a:solidFill>
          <a:ln>
            <a:noFill/>
          </a:ln>
        </p:spPr>
      </p:sp>
      <p:sp>
        <p:nvSpPr>
          <p:cNvPr id="39" name="Shape 39"/>
          <p:cNvSpPr txBox="1"/>
          <p:nvPr/>
        </p:nvSpPr>
        <p:spPr>
          <a:xfrm>
            <a:off x="7772400" y="4328160"/>
            <a:ext cx="1005840" cy="198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F17C98"/>
                </a:solidFill>
                <a:latin typeface="Menlo"/>
                <a:ea typeface="Menlo"/>
                <a:cs typeface="Menlo"/>
              </a:rPr>
              <a:t xml:space="preserve">4.0621</a:t>
            </a:r>
            <a:endParaRPr lang="pt-BR" sz="1125"/>
          </a:p>
        </p:txBody>
      </p:sp>
      <p:sp>
        <p:nvSpPr>
          <p:cNvPr id="40" name="Shape 40"/>
          <p:cNvSpPr/>
          <p:nvPr/>
        </p:nvSpPr>
        <p:spPr>
          <a:xfrm>
            <a:off x="1447800" y="3429000"/>
            <a:ext cx="502920" cy="42672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A</a:t>
            </a:r>
            <a:endParaRPr lang="pt-BR" sz="1350"/>
          </a:p>
        </p:txBody>
      </p:sp>
      <p:sp>
        <p:nvSpPr>
          <p:cNvPr id="41" name="Shape 41"/>
          <p:cNvSpPr/>
          <p:nvPr/>
        </p:nvSpPr>
        <p:spPr>
          <a:xfrm>
            <a:off x="952500" y="2575560"/>
            <a:ext cx="502920" cy="42672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D</a:t>
            </a:r>
            <a:endParaRPr lang="pt-BR" sz="1350"/>
          </a:p>
        </p:txBody>
      </p:sp>
      <p:sp>
        <p:nvSpPr>
          <p:cNvPr id="42" name="Shape 42"/>
          <p:cNvSpPr/>
          <p:nvPr/>
        </p:nvSpPr>
        <p:spPr>
          <a:xfrm>
            <a:off x="3276600" y="2575560"/>
            <a:ext cx="502920" cy="42672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B</a:t>
            </a:r>
            <a:endParaRPr lang="pt-BR" sz="1350"/>
          </a:p>
        </p:txBody>
      </p:sp>
      <p:sp>
        <p:nvSpPr>
          <p:cNvPr id="43" name="Shape 43"/>
          <p:cNvSpPr/>
          <p:nvPr/>
        </p:nvSpPr>
        <p:spPr>
          <a:xfrm>
            <a:off x="2209800" y="4526280"/>
            <a:ext cx="502920" cy="42672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pt-BR" sz="1350"/>
          </a:p>
        </p:txBody>
      </p:sp>
      <p:sp>
        <p:nvSpPr>
          <p:cNvPr id="44" name="Shape 44"/>
          <p:cNvSpPr/>
          <p:nvPr/>
        </p:nvSpPr>
        <p:spPr>
          <a:xfrm>
            <a:off x="5067300" y="3581400"/>
            <a:ext cx="502920" cy="42672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G</a:t>
            </a:r>
            <a:endParaRPr lang="pt-BR" sz="1350"/>
          </a:p>
        </p:txBody>
      </p:sp>
      <p:sp>
        <p:nvSpPr>
          <p:cNvPr id="45" name="Shape 45"/>
          <p:cNvSpPr/>
          <p:nvPr/>
        </p:nvSpPr>
        <p:spPr>
          <a:xfrm>
            <a:off x="6743700" y="2567940"/>
            <a:ext cx="502920" cy="42672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E</a:t>
            </a:r>
            <a:endParaRPr lang="pt-BR" sz="1350"/>
          </a:p>
        </p:txBody>
      </p:sp>
      <p:sp>
        <p:nvSpPr>
          <p:cNvPr id="46" name="Shape 46"/>
          <p:cNvSpPr/>
          <p:nvPr/>
        </p:nvSpPr>
        <p:spPr>
          <a:xfrm>
            <a:off x="7772400" y="3299460"/>
            <a:ext cx="502920" cy="42672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H</a:t>
            </a:r>
            <a:endParaRPr lang="pt-BR" sz="1350"/>
          </a:p>
        </p:txBody>
      </p:sp>
      <p:sp>
        <p:nvSpPr>
          <p:cNvPr id="47" name="Shape 47"/>
          <p:cNvSpPr/>
          <p:nvPr/>
        </p:nvSpPr>
        <p:spPr>
          <a:xfrm>
            <a:off x="6781800" y="4526280"/>
            <a:ext cx="502920" cy="42672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F</a:t>
            </a:r>
            <a:endParaRPr lang="pt-BR" sz="1350"/>
          </a:p>
        </p:txBody>
      </p:sp>
      <p:sp>
        <p:nvSpPr>
          <p:cNvPr id="48" name="Shape 48"/>
          <p:cNvSpPr/>
          <p:nvPr/>
        </p:nvSpPr>
        <p:spPr>
          <a:xfrm>
            <a:off x="9448800" y="4526280"/>
            <a:ext cx="502920" cy="42672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F17C9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35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I</a:t>
            </a:r>
            <a:endParaRPr lang="pt-BR" sz="1350"/>
          </a:p>
        </p:txBody>
      </p:sp>
      <p:sp>
        <p:nvSpPr>
          <p:cNvPr id="49" name="Shape 49"/>
          <p:cNvSpPr/>
          <p:nvPr/>
        </p:nvSpPr>
        <p:spPr>
          <a:xfrm>
            <a:off x="731520" y="5440680"/>
            <a:ext cx="10728960" cy="53340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50" name="Shape 50"/>
          <p:cNvSpPr txBox="1"/>
          <p:nvPr/>
        </p:nvSpPr>
        <p:spPr>
          <a:xfrm>
            <a:off x="952500" y="551688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42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36 pares possíveis  →  8 arestas (n−1)  ·  sem ciclos  ·  conectividade preservada  ·  peso total = 4.8978</a:t>
            </a:r>
            <a:endParaRPr lang="pt-BR" sz="1425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6154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HDBSCAN · ETAPA 6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40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O dendrograma mostra a ordem das fusões</a:t>
            </a:r>
            <a:endParaRPr lang="pt-BR" sz="405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Subárvores compactas se unem primeiro; a ligação longa de I aparece no topo.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19</a:t>
            </a:r>
            <a:endParaRPr lang="pt-BR" sz="1275"/>
          </a:p>
        </p:txBody>
      </p:sp>
      <p:cxnSp>
        <p:nvCxnSpPr>
          <p:cNvPr id="16" name="Connector 16"/>
          <p:cNvCxnSpPr/>
          <p:nvPr/>
        </p:nvCxnSpPr>
        <p:spPr>
          <a:xfrm flipV="1">
            <a:off x="1143000" y="4709160"/>
            <a:ext cx="1" cy="243840"/>
          </a:xfrm>
          <a:prstGeom prst="line">
            <a:avLst/>
          </a:prstGeom>
          <a:ln w="22860">
            <a:solidFill>
              <a:srgbClr val="59D6C5"/>
            </a:solidFill>
            <a:prstDash val="solid"/>
          </a:ln>
        </p:spPr>
      </p:cxnSp>
      <p:cxnSp>
        <p:nvCxnSpPr>
          <p:cNvPr id="17" name="Connector 17"/>
          <p:cNvCxnSpPr/>
          <p:nvPr/>
        </p:nvCxnSpPr>
        <p:spPr>
          <a:xfrm flipV="1">
            <a:off x="1981200" y="4709160"/>
            <a:ext cx="1" cy="243840"/>
          </a:xfrm>
          <a:prstGeom prst="line">
            <a:avLst/>
          </a:prstGeom>
          <a:ln w="22860">
            <a:solidFill>
              <a:srgbClr val="59D6C5"/>
            </a:solidFill>
            <a:prstDash val="solid"/>
          </a:ln>
        </p:spPr>
      </p:cxnSp>
      <p:cxnSp>
        <p:nvCxnSpPr>
          <p:cNvPr id="18" name="Connector 18"/>
          <p:cNvCxnSpPr/>
          <p:nvPr/>
        </p:nvCxnSpPr>
        <p:spPr>
          <a:xfrm>
            <a:off x="1143000" y="4709160"/>
            <a:ext cx="838200" cy="1"/>
          </a:xfrm>
          <a:prstGeom prst="line">
            <a:avLst/>
          </a:prstGeom>
          <a:ln w="22860">
            <a:solidFill>
              <a:srgbClr val="59D6C5"/>
            </a:solidFill>
            <a:prstDash val="solid"/>
          </a:ln>
        </p:spPr>
      </p:cxnSp>
      <p:sp>
        <p:nvSpPr>
          <p:cNvPr id="19" name="Shape 19"/>
          <p:cNvSpPr txBox="1"/>
          <p:nvPr/>
        </p:nvSpPr>
        <p:spPr>
          <a:xfrm>
            <a:off x="647700" y="4472940"/>
            <a:ext cx="838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59D6C5"/>
                </a:solidFill>
                <a:latin typeface="Menlo"/>
                <a:ea typeface="Menlo"/>
                <a:cs typeface="Menlo"/>
              </a:rPr>
              <a:t xml:space="preserve">0.0299</a:t>
            </a:r>
            <a:endParaRPr lang="pt-BR" sz="1050"/>
          </a:p>
        </p:txBody>
      </p:sp>
      <p:cxnSp>
        <p:nvCxnSpPr>
          <p:cNvPr id="20" name="Connector 20"/>
          <p:cNvCxnSpPr/>
          <p:nvPr/>
        </p:nvCxnSpPr>
        <p:spPr>
          <a:xfrm flipV="1">
            <a:off x="1562100" y="4602480"/>
            <a:ext cx="1" cy="106680"/>
          </a:xfrm>
          <a:prstGeom prst="line">
            <a:avLst/>
          </a:prstGeom>
          <a:ln w="22860">
            <a:solidFill>
              <a:srgbClr val="59D6C5"/>
            </a:solidFill>
            <a:prstDash val="solid"/>
          </a:ln>
        </p:spPr>
      </p:cxnSp>
      <p:cxnSp>
        <p:nvCxnSpPr>
          <p:cNvPr id="21" name="Connector 21"/>
          <p:cNvCxnSpPr/>
          <p:nvPr/>
        </p:nvCxnSpPr>
        <p:spPr>
          <a:xfrm flipV="1">
            <a:off x="2819400" y="4602480"/>
            <a:ext cx="1" cy="350520"/>
          </a:xfrm>
          <a:prstGeom prst="line">
            <a:avLst/>
          </a:prstGeom>
          <a:ln w="22860">
            <a:solidFill>
              <a:srgbClr val="59D6C5"/>
            </a:solidFill>
            <a:prstDash val="solid"/>
          </a:ln>
        </p:spPr>
      </p:cxnSp>
      <p:cxnSp>
        <p:nvCxnSpPr>
          <p:cNvPr id="22" name="Connector 22"/>
          <p:cNvCxnSpPr/>
          <p:nvPr/>
        </p:nvCxnSpPr>
        <p:spPr>
          <a:xfrm>
            <a:off x="1562100" y="4602480"/>
            <a:ext cx="1257300" cy="1"/>
          </a:xfrm>
          <a:prstGeom prst="line">
            <a:avLst/>
          </a:prstGeom>
          <a:ln w="22860">
            <a:solidFill>
              <a:srgbClr val="59D6C5"/>
            </a:solidFill>
            <a:prstDash val="solid"/>
          </a:ln>
        </p:spPr>
      </p:cxnSp>
      <p:sp>
        <p:nvSpPr>
          <p:cNvPr id="23" name="Shape 23"/>
          <p:cNvSpPr txBox="1"/>
          <p:nvPr/>
        </p:nvSpPr>
        <p:spPr>
          <a:xfrm>
            <a:off x="1828800" y="4366260"/>
            <a:ext cx="838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59D6C5"/>
                </a:solidFill>
                <a:latin typeface="Menlo"/>
                <a:ea typeface="Menlo"/>
                <a:cs typeface="Menlo"/>
              </a:rPr>
              <a:t xml:space="preserve">0.0321</a:t>
            </a:r>
            <a:endParaRPr lang="pt-BR" sz="1050"/>
          </a:p>
        </p:txBody>
      </p:sp>
      <p:cxnSp>
        <p:nvCxnSpPr>
          <p:cNvPr id="24" name="Connector 24"/>
          <p:cNvCxnSpPr/>
          <p:nvPr/>
        </p:nvCxnSpPr>
        <p:spPr>
          <a:xfrm flipV="1">
            <a:off x="2190750" y="4419600"/>
            <a:ext cx="1" cy="182880"/>
          </a:xfrm>
          <a:prstGeom prst="line">
            <a:avLst/>
          </a:prstGeom>
          <a:ln w="22860">
            <a:solidFill>
              <a:srgbClr val="59D6C5"/>
            </a:solidFill>
            <a:prstDash val="solid"/>
          </a:ln>
        </p:spPr>
      </p:cxnSp>
      <p:cxnSp>
        <p:nvCxnSpPr>
          <p:cNvPr id="25" name="Connector 25"/>
          <p:cNvCxnSpPr/>
          <p:nvPr/>
        </p:nvCxnSpPr>
        <p:spPr>
          <a:xfrm flipV="1">
            <a:off x="3657600" y="4419600"/>
            <a:ext cx="1" cy="533400"/>
          </a:xfrm>
          <a:prstGeom prst="line">
            <a:avLst/>
          </a:prstGeom>
          <a:ln w="22860">
            <a:solidFill>
              <a:srgbClr val="59D6C5"/>
            </a:solidFill>
            <a:prstDash val="solid"/>
          </a:ln>
        </p:spPr>
      </p:cxnSp>
      <p:cxnSp>
        <p:nvCxnSpPr>
          <p:cNvPr id="26" name="Connector 26"/>
          <p:cNvCxnSpPr/>
          <p:nvPr/>
        </p:nvCxnSpPr>
        <p:spPr>
          <a:xfrm>
            <a:off x="2190750" y="4419600"/>
            <a:ext cx="1466850" cy="1"/>
          </a:xfrm>
          <a:prstGeom prst="line">
            <a:avLst/>
          </a:prstGeom>
          <a:ln w="22860">
            <a:solidFill>
              <a:srgbClr val="59D6C5"/>
            </a:solidFill>
            <a:prstDash val="solid"/>
          </a:ln>
        </p:spPr>
      </p:cxnSp>
      <p:sp>
        <p:nvSpPr>
          <p:cNvPr id="27" name="Shape 27"/>
          <p:cNvSpPr txBox="1"/>
          <p:nvPr/>
        </p:nvSpPr>
        <p:spPr>
          <a:xfrm>
            <a:off x="2453640" y="4183380"/>
            <a:ext cx="838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59D6C5"/>
                </a:solidFill>
                <a:latin typeface="Menlo"/>
                <a:ea typeface="Menlo"/>
                <a:cs typeface="Menlo"/>
              </a:rPr>
              <a:t xml:space="preserve">0.0457</a:t>
            </a:r>
            <a:endParaRPr lang="pt-BR" sz="1050"/>
          </a:p>
        </p:txBody>
      </p:sp>
      <p:cxnSp>
        <p:nvCxnSpPr>
          <p:cNvPr id="28" name="Connector 28"/>
          <p:cNvCxnSpPr/>
          <p:nvPr/>
        </p:nvCxnSpPr>
        <p:spPr>
          <a:xfrm flipV="1">
            <a:off x="5486400" y="4572000"/>
            <a:ext cx="1" cy="381000"/>
          </a:xfrm>
          <a:prstGeom prst="line">
            <a:avLst/>
          </a:prstGeom>
          <a:ln w="22860">
            <a:solidFill>
              <a:srgbClr val="F4BA58"/>
            </a:solidFill>
            <a:prstDash val="solid"/>
          </a:ln>
        </p:spPr>
      </p:cxnSp>
      <p:cxnSp>
        <p:nvCxnSpPr>
          <p:cNvPr id="29" name="Connector 29"/>
          <p:cNvCxnSpPr/>
          <p:nvPr/>
        </p:nvCxnSpPr>
        <p:spPr>
          <a:xfrm flipV="1">
            <a:off x="6324600" y="4572000"/>
            <a:ext cx="1" cy="381000"/>
          </a:xfrm>
          <a:prstGeom prst="line">
            <a:avLst/>
          </a:prstGeom>
          <a:ln w="22860">
            <a:solidFill>
              <a:srgbClr val="F4BA58"/>
            </a:solidFill>
            <a:prstDash val="solid"/>
          </a:ln>
        </p:spPr>
      </p:cxnSp>
      <p:cxnSp>
        <p:nvCxnSpPr>
          <p:cNvPr id="30" name="Connector 30"/>
          <p:cNvCxnSpPr/>
          <p:nvPr/>
        </p:nvCxnSpPr>
        <p:spPr>
          <a:xfrm>
            <a:off x="5486400" y="4572000"/>
            <a:ext cx="838200" cy="1"/>
          </a:xfrm>
          <a:prstGeom prst="line">
            <a:avLst/>
          </a:prstGeom>
          <a:ln w="22860">
            <a:solidFill>
              <a:srgbClr val="F4BA58"/>
            </a:solidFill>
            <a:prstDash val="solid"/>
          </a:ln>
        </p:spPr>
      </p:cxnSp>
      <p:sp>
        <p:nvSpPr>
          <p:cNvPr id="31" name="Shape 31"/>
          <p:cNvSpPr txBox="1"/>
          <p:nvPr/>
        </p:nvSpPr>
        <p:spPr>
          <a:xfrm>
            <a:off x="4953000" y="4335780"/>
            <a:ext cx="838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F4BA58"/>
                </a:solidFill>
                <a:latin typeface="Menlo"/>
                <a:ea typeface="Menlo"/>
                <a:cs typeface="Menlo"/>
              </a:rPr>
              <a:t xml:space="preserve">0.0354</a:t>
            </a:r>
            <a:endParaRPr lang="pt-BR" sz="1050"/>
          </a:p>
        </p:txBody>
      </p:sp>
      <p:cxnSp>
        <p:nvCxnSpPr>
          <p:cNvPr id="32" name="Connector 32"/>
          <p:cNvCxnSpPr/>
          <p:nvPr/>
        </p:nvCxnSpPr>
        <p:spPr>
          <a:xfrm flipV="1">
            <a:off x="5905500" y="4495800"/>
            <a:ext cx="1" cy="76200"/>
          </a:xfrm>
          <a:prstGeom prst="line">
            <a:avLst/>
          </a:prstGeom>
          <a:ln w="22860">
            <a:solidFill>
              <a:srgbClr val="F4BA58"/>
            </a:solidFill>
            <a:prstDash val="solid"/>
          </a:ln>
        </p:spPr>
      </p:cxnSp>
      <p:cxnSp>
        <p:nvCxnSpPr>
          <p:cNvPr id="33" name="Connector 33"/>
          <p:cNvCxnSpPr/>
          <p:nvPr/>
        </p:nvCxnSpPr>
        <p:spPr>
          <a:xfrm flipV="1">
            <a:off x="7162800" y="4495800"/>
            <a:ext cx="1" cy="457200"/>
          </a:xfrm>
          <a:prstGeom prst="line">
            <a:avLst/>
          </a:prstGeom>
          <a:ln w="22860">
            <a:solidFill>
              <a:srgbClr val="F4BA58"/>
            </a:solidFill>
            <a:prstDash val="solid"/>
          </a:ln>
        </p:spPr>
      </p:cxnSp>
      <p:cxnSp>
        <p:nvCxnSpPr>
          <p:cNvPr id="34" name="Connector 34"/>
          <p:cNvCxnSpPr/>
          <p:nvPr/>
        </p:nvCxnSpPr>
        <p:spPr>
          <a:xfrm>
            <a:off x="5905500" y="4495800"/>
            <a:ext cx="1257300" cy="1"/>
          </a:xfrm>
          <a:prstGeom prst="line">
            <a:avLst/>
          </a:prstGeom>
          <a:ln w="22860">
            <a:solidFill>
              <a:srgbClr val="F4BA58"/>
            </a:solidFill>
            <a:prstDash val="solid"/>
          </a:ln>
        </p:spPr>
      </p:cxnSp>
      <p:sp>
        <p:nvSpPr>
          <p:cNvPr id="35" name="Shape 35"/>
          <p:cNvSpPr txBox="1"/>
          <p:nvPr/>
        </p:nvSpPr>
        <p:spPr>
          <a:xfrm>
            <a:off x="6111240" y="4259580"/>
            <a:ext cx="838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F4BA58"/>
                </a:solidFill>
                <a:latin typeface="Menlo"/>
                <a:ea typeface="Menlo"/>
                <a:cs typeface="Menlo"/>
              </a:rPr>
              <a:t xml:space="preserve">0.0443</a:t>
            </a:r>
            <a:endParaRPr lang="pt-BR" sz="1050"/>
          </a:p>
        </p:txBody>
      </p:sp>
      <p:cxnSp>
        <p:nvCxnSpPr>
          <p:cNvPr id="36" name="Connector 36"/>
          <p:cNvCxnSpPr/>
          <p:nvPr/>
        </p:nvCxnSpPr>
        <p:spPr>
          <a:xfrm flipV="1">
            <a:off x="6534150" y="4312920"/>
            <a:ext cx="1" cy="182880"/>
          </a:xfrm>
          <a:prstGeom prst="line">
            <a:avLst/>
          </a:prstGeom>
          <a:ln w="22860">
            <a:solidFill>
              <a:srgbClr val="F4BA58"/>
            </a:solidFill>
            <a:prstDash val="solid"/>
          </a:ln>
        </p:spPr>
      </p:cxnSp>
      <p:cxnSp>
        <p:nvCxnSpPr>
          <p:cNvPr id="37" name="Connector 37"/>
          <p:cNvCxnSpPr/>
          <p:nvPr/>
        </p:nvCxnSpPr>
        <p:spPr>
          <a:xfrm flipV="1">
            <a:off x="8001000" y="4312920"/>
            <a:ext cx="1" cy="640080"/>
          </a:xfrm>
          <a:prstGeom prst="line">
            <a:avLst/>
          </a:prstGeom>
          <a:ln w="22860">
            <a:solidFill>
              <a:srgbClr val="F4BA58"/>
            </a:solidFill>
            <a:prstDash val="solid"/>
          </a:ln>
        </p:spPr>
      </p:cxnSp>
      <p:cxnSp>
        <p:nvCxnSpPr>
          <p:cNvPr id="38" name="Connector 38"/>
          <p:cNvCxnSpPr/>
          <p:nvPr/>
        </p:nvCxnSpPr>
        <p:spPr>
          <a:xfrm>
            <a:off x="6534150" y="4312920"/>
            <a:ext cx="1466850" cy="1"/>
          </a:xfrm>
          <a:prstGeom prst="line">
            <a:avLst/>
          </a:prstGeom>
          <a:ln w="22860">
            <a:solidFill>
              <a:srgbClr val="F4BA58"/>
            </a:solidFill>
            <a:prstDash val="solid"/>
          </a:ln>
        </p:spPr>
      </p:cxnSp>
      <p:sp>
        <p:nvSpPr>
          <p:cNvPr id="39" name="Shape 39"/>
          <p:cNvSpPr txBox="1"/>
          <p:nvPr/>
        </p:nvSpPr>
        <p:spPr>
          <a:xfrm>
            <a:off x="6858000" y="4076700"/>
            <a:ext cx="838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F4BA58"/>
                </a:solidFill>
                <a:latin typeface="Menlo"/>
                <a:ea typeface="Menlo"/>
                <a:cs typeface="Menlo"/>
              </a:rPr>
              <a:t xml:space="preserve">0.0593</a:t>
            </a:r>
            <a:endParaRPr lang="pt-BR" sz="1050"/>
          </a:p>
        </p:txBody>
      </p:sp>
      <p:cxnSp>
        <p:nvCxnSpPr>
          <p:cNvPr id="40" name="Connector 40"/>
          <p:cNvCxnSpPr/>
          <p:nvPr/>
        </p:nvCxnSpPr>
        <p:spPr>
          <a:xfrm flipV="1">
            <a:off x="2924175" y="3444240"/>
            <a:ext cx="1" cy="975360"/>
          </a:xfrm>
          <a:prstGeom prst="line">
            <a:avLst/>
          </a:prstGeom>
          <a:ln w="22860">
            <a:solidFill>
              <a:srgbClr val="F17C98"/>
            </a:solidFill>
            <a:prstDash val="solid"/>
          </a:ln>
        </p:spPr>
      </p:cxnSp>
      <p:cxnSp>
        <p:nvCxnSpPr>
          <p:cNvPr id="41" name="Connector 41"/>
          <p:cNvCxnSpPr/>
          <p:nvPr/>
        </p:nvCxnSpPr>
        <p:spPr>
          <a:xfrm flipV="1">
            <a:off x="7267575" y="3444240"/>
            <a:ext cx="1" cy="868680"/>
          </a:xfrm>
          <a:prstGeom prst="line">
            <a:avLst/>
          </a:prstGeom>
          <a:ln w="22860">
            <a:solidFill>
              <a:srgbClr val="F17C98"/>
            </a:solidFill>
            <a:prstDash val="solid"/>
          </a:ln>
        </p:spPr>
      </p:cxnSp>
      <p:cxnSp>
        <p:nvCxnSpPr>
          <p:cNvPr id="42" name="Connector 42"/>
          <p:cNvCxnSpPr/>
          <p:nvPr/>
        </p:nvCxnSpPr>
        <p:spPr>
          <a:xfrm>
            <a:off x="2924175" y="3444240"/>
            <a:ext cx="4343400" cy="1"/>
          </a:xfrm>
          <a:prstGeom prst="line">
            <a:avLst/>
          </a:prstGeom>
          <a:ln w="22860">
            <a:solidFill>
              <a:srgbClr val="F17C98"/>
            </a:solidFill>
            <a:prstDash val="solid"/>
          </a:ln>
        </p:spPr>
      </p:cxnSp>
      <p:sp>
        <p:nvSpPr>
          <p:cNvPr id="43" name="Shape 43"/>
          <p:cNvSpPr txBox="1"/>
          <p:nvPr/>
        </p:nvSpPr>
        <p:spPr>
          <a:xfrm>
            <a:off x="4457700" y="32080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F17C98"/>
                </a:solidFill>
                <a:latin typeface="Menlo"/>
                <a:ea typeface="Menlo"/>
                <a:cs typeface="Menlo"/>
              </a:rPr>
              <a:t xml:space="preserve">0.5890</a:t>
            </a:r>
            <a:endParaRPr lang="pt-BR" sz="1050"/>
          </a:p>
        </p:txBody>
      </p:sp>
      <p:cxnSp>
        <p:nvCxnSpPr>
          <p:cNvPr id="44" name="Connector 44"/>
          <p:cNvCxnSpPr/>
          <p:nvPr/>
        </p:nvCxnSpPr>
        <p:spPr>
          <a:xfrm flipV="1">
            <a:off x="5095875" y="2484120"/>
            <a:ext cx="1" cy="960120"/>
          </a:xfrm>
          <a:prstGeom prst="line">
            <a:avLst/>
          </a:prstGeom>
          <a:ln w="22860">
            <a:solidFill>
              <a:srgbClr val="F17C98"/>
            </a:solidFill>
            <a:prstDash val="solid"/>
          </a:ln>
        </p:spPr>
      </p:cxnSp>
      <p:cxnSp>
        <p:nvCxnSpPr>
          <p:cNvPr id="45" name="Connector 45"/>
          <p:cNvCxnSpPr/>
          <p:nvPr/>
        </p:nvCxnSpPr>
        <p:spPr>
          <a:xfrm flipV="1">
            <a:off x="9906000" y="2484120"/>
            <a:ext cx="1" cy="2468880"/>
          </a:xfrm>
          <a:prstGeom prst="line">
            <a:avLst/>
          </a:prstGeom>
          <a:ln w="22860">
            <a:solidFill>
              <a:srgbClr val="F17C98"/>
            </a:solidFill>
            <a:prstDash val="solid"/>
          </a:ln>
        </p:spPr>
      </p:cxnSp>
      <p:cxnSp>
        <p:nvCxnSpPr>
          <p:cNvPr id="46" name="Connector 46"/>
          <p:cNvCxnSpPr/>
          <p:nvPr/>
        </p:nvCxnSpPr>
        <p:spPr>
          <a:xfrm>
            <a:off x="5095875" y="2484120"/>
            <a:ext cx="4810125" cy="1"/>
          </a:xfrm>
          <a:prstGeom prst="line">
            <a:avLst/>
          </a:prstGeom>
          <a:ln w="22860">
            <a:solidFill>
              <a:srgbClr val="F17C98"/>
            </a:solidFill>
            <a:prstDash val="solid"/>
          </a:ln>
        </p:spPr>
      </p:cxnSp>
      <p:sp>
        <p:nvSpPr>
          <p:cNvPr id="47" name="Shape 47"/>
          <p:cNvSpPr txBox="1"/>
          <p:nvPr/>
        </p:nvSpPr>
        <p:spPr>
          <a:xfrm>
            <a:off x="8214360" y="2247900"/>
            <a:ext cx="975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F17C98"/>
                </a:solidFill>
                <a:latin typeface="Menlo"/>
                <a:ea typeface="Menlo"/>
                <a:cs typeface="Menlo"/>
              </a:rPr>
              <a:t xml:space="preserve">4.0621</a:t>
            </a:r>
            <a:endParaRPr lang="pt-BR" sz="1050"/>
          </a:p>
        </p:txBody>
      </p:sp>
      <p:sp>
        <p:nvSpPr>
          <p:cNvPr id="48" name="Shape 48"/>
          <p:cNvSpPr/>
          <p:nvPr/>
        </p:nvSpPr>
        <p:spPr>
          <a:xfrm>
            <a:off x="906780" y="4953000"/>
            <a:ext cx="472440" cy="36576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A</a:t>
            </a:r>
            <a:endParaRPr lang="pt-BR" sz="1200"/>
          </a:p>
        </p:txBody>
      </p:sp>
      <p:sp>
        <p:nvSpPr>
          <p:cNvPr id="49" name="Shape 49"/>
          <p:cNvSpPr txBox="1"/>
          <p:nvPr/>
        </p:nvSpPr>
        <p:spPr>
          <a:xfrm>
            <a:off x="822960" y="5364480"/>
            <a:ext cx="640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A</a:t>
            </a:r>
            <a:endParaRPr lang="pt-BR" sz="1125"/>
          </a:p>
        </p:txBody>
      </p:sp>
      <p:sp>
        <p:nvSpPr>
          <p:cNvPr id="50" name="Shape 50"/>
          <p:cNvSpPr/>
          <p:nvPr/>
        </p:nvSpPr>
        <p:spPr>
          <a:xfrm>
            <a:off x="1744980" y="4953000"/>
            <a:ext cx="472440" cy="36576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D</a:t>
            </a:r>
            <a:endParaRPr lang="pt-BR" sz="1200"/>
          </a:p>
        </p:txBody>
      </p:sp>
      <p:sp>
        <p:nvSpPr>
          <p:cNvPr id="51" name="Shape 51"/>
          <p:cNvSpPr txBox="1"/>
          <p:nvPr/>
        </p:nvSpPr>
        <p:spPr>
          <a:xfrm>
            <a:off x="1661160" y="5364480"/>
            <a:ext cx="640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D</a:t>
            </a:r>
            <a:endParaRPr lang="pt-BR" sz="1125"/>
          </a:p>
        </p:txBody>
      </p:sp>
      <p:sp>
        <p:nvSpPr>
          <p:cNvPr id="52" name="Shape 52"/>
          <p:cNvSpPr/>
          <p:nvPr/>
        </p:nvSpPr>
        <p:spPr>
          <a:xfrm>
            <a:off x="2583180" y="4953000"/>
            <a:ext cx="472440" cy="36576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B</a:t>
            </a:r>
            <a:endParaRPr lang="pt-BR" sz="1200"/>
          </a:p>
        </p:txBody>
      </p:sp>
      <p:sp>
        <p:nvSpPr>
          <p:cNvPr id="53" name="Shape 53"/>
          <p:cNvSpPr txBox="1"/>
          <p:nvPr/>
        </p:nvSpPr>
        <p:spPr>
          <a:xfrm>
            <a:off x="2499360" y="5364480"/>
            <a:ext cx="640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B</a:t>
            </a:r>
            <a:endParaRPr lang="pt-BR" sz="1125"/>
          </a:p>
        </p:txBody>
      </p:sp>
      <p:sp>
        <p:nvSpPr>
          <p:cNvPr id="54" name="Shape 54"/>
          <p:cNvSpPr/>
          <p:nvPr/>
        </p:nvSpPr>
        <p:spPr>
          <a:xfrm>
            <a:off x="3421380" y="4953000"/>
            <a:ext cx="472440" cy="36576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pt-BR" sz="1200"/>
          </a:p>
        </p:txBody>
      </p:sp>
      <p:sp>
        <p:nvSpPr>
          <p:cNvPr id="55" name="Shape 55"/>
          <p:cNvSpPr txBox="1"/>
          <p:nvPr/>
        </p:nvSpPr>
        <p:spPr>
          <a:xfrm>
            <a:off x="3337560" y="5364480"/>
            <a:ext cx="640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C</a:t>
            </a:r>
            <a:endParaRPr lang="pt-BR" sz="1125"/>
          </a:p>
        </p:txBody>
      </p:sp>
      <p:sp>
        <p:nvSpPr>
          <p:cNvPr id="56" name="Shape 56"/>
          <p:cNvSpPr/>
          <p:nvPr/>
        </p:nvSpPr>
        <p:spPr>
          <a:xfrm>
            <a:off x="5250180" y="4953000"/>
            <a:ext cx="472440" cy="36576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E</a:t>
            </a:r>
            <a:endParaRPr lang="pt-BR" sz="1200"/>
          </a:p>
        </p:txBody>
      </p:sp>
      <p:sp>
        <p:nvSpPr>
          <p:cNvPr id="57" name="Shape 57"/>
          <p:cNvSpPr txBox="1"/>
          <p:nvPr/>
        </p:nvSpPr>
        <p:spPr>
          <a:xfrm>
            <a:off x="5166360" y="5364480"/>
            <a:ext cx="640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E</a:t>
            </a:r>
            <a:endParaRPr lang="pt-BR" sz="1125"/>
          </a:p>
        </p:txBody>
      </p:sp>
      <p:sp>
        <p:nvSpPr>
          <p:cNvPr id="58" name="Shape 58"/>
          <p:cNvSpPr/>
          <p:nvPr/>
        </p:nvSpPr>
        <p:spPr>
          <a:xfrm>
            <a:off x="6088380" y="4953000"/>
            <a:ext cx="472440" cy="36576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H</a:t>
            </a:r>
            <a:endParaRPr lang="pt-BR" sz="1200"/>
          </a:p>
        </p:txBody>
      </p:sp>
      <p:sp>
        <p:nvSpPr>
          <p:cNvPr id="59" name="Shape 59"/>
          <p:cNvSpPr txBox="1"/>
          <p:nvPr/>
        </p:nvSpPr>
        <p:spPr>
          <a:xfrm>
            <a:off x="6004560" y="5364480"/>
            <a:ext cx="640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H</a:t>
            </a:r>
            <a:endParaRPr lang="pt-BR" sz="1125"/>
          </a:p>
        </p:txBody>
      </p:sp>
      <p:sp>
        <p:nvSpPr>
          <p:cNvPr id="60" name="Shape 60"/>
          <p:cNvSpPr/>
          <p:nvPr/>
        </p:nvSpPr>
        <p:spPr>
          <a:xfrm>
            <a:off x="6926580" y="4953000"/>
            <a:ext cx="472440" cy="36576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F</a:t>
            </a:r>
            <a:endParaRPr lang="pt-BR" sz="1200"/>
          </a:p>
        </p:txBody>
      </p:sp>
      <p:sp>
        <p:nvSpPr>
          <p:cNvPr id="61" name="Shape 61"/>
          <p:cNvSpPr txBox="1"/>
          <p:nvPr/>
        </p:nvSpPr>
        <p:spPr>
          <a:xfrm>
            <a:off x="6842760" y="5364480"/>
            <a:ext cx="640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F</a:t>
            </a:r>
            <a:endParaRPr lang="pt-BR" sz="1125"/>
          </a:p>
        </p:txBody>
      </p:sp>
      <p:sp>
        <p:nvSpPr>
          <p:cNvPr id="62" name="Shape 62"/>
          <p:cNvSpPr/>
          <p:nvPr/>
        </p:nvSpPr>
        <p:spPr>
          <a:xfrm>
            <a:off x="7764780" y="4953000"/>
            <a:ext cx="472440" cy="36576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G</a:t>
            </a:r>
            <a:endParaRPr lang="pt-BR" sz="1200"/>
          </a:p>
        </p:txBody>
      </p:sp>
      <p:sp>
        <p:nvSpPr>
          <p:cNvPr id="63" name="Shape 63"/>
          <p:cNvSpPr txBox="1"/>
          <p:nvPr/>
        </p:nvSpPr>
        <p:spPr>
          <a:xfrm>
            <a:off x="7680960" y="5364480"/>
            <a:ext cx="640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G</a:t>
            </a:r>
            <a:endParaRPr lang="pt-BR" sz="1125"/>
          </a:p>
        </p:txBody>
      </p:sp>
      <p:sp>
        <p:nvSpPr>
          <p:cNvPr id="64" name="Shape 64"/>
          <p:cNvSpPr/>
          <p:nvPr/>
        </p:nvSpPr>
        <p:spPr>
          <a:xfrm>
            <a:off x="9669780" y="4953000"/>
            <a:ext cx="472440" cy="365760"/>
          </a:xfrm>
          <a:prstGeom prst="ellipse">
            <a:avLst/>
          </a:prstGeom>
          <a:solidFill>
            <a:srgbClr val="191D49"/>
          </a:solidFill>
          <a:ln w="15240">
            <a:solidFill>
              <a:srgbClr val="F17C9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I</a:t>
            </a:r>
            <a:endParaRPr lang="pt-BR" sz="1200"/>
          </a:p>
        </p:txBody>
      </p:sp>
      <p:sp>
        <p:nvSpPr>
          <p:cNvPr id="65" name="Shape 65"/>
          <p:cNvSpPr txBox="1"/>
          <p:nvPr/>
        </p:nvSpPr>
        <p:spPr>
          <a:xfrm>
            <a:off x="9585960" y="5364480"/>
            <a:ext cx="640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I</a:t>
            </a:r>
            <a:endParaRPr lang="pt-BR" sz="1125"/>
          </a:p>
        </p:txBody>
      </p:sp>
      <p:sp>
        <p:nvSpPr>
          <p:cNvPr id="66" name="Shape 66"/>
          <p:cNvSpPr txBox="1"/>
          <p:nvPr/>
        </p:nvSpPr>
        <p:spPr>
          <a:xfrm>
            <a:off x="731520" y="5768340"/>
            <a:ext cx="107289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Cada união do linkage guarda [filho A, filho B, distância, tamanho]; union-find acompanha os componentes.</a:t>
            </a:r>
            <a:endParaRPr lang="pt-BR" sz="13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6154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HDBSCAN · ETAPA 7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3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A árvore condensada pergunta quais grupos persistem</a:t>
            </a:r>
            <a:endParaRPr lang="pt-BR" sz="33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min_cluster_size=3 elimina ramos pequenos; EOM compara a estabilidade.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20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179320"/>
            <a:ext cx="4876800" cy="321564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975360" y="23622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RAIZ  →  RAMOS  →  SAÍDA COMO RUÍDO</a:t>
            </a:r>
            <a:endParaRPr lang="pt-BR" sz="1125"/>
          </a:p>
        </p:txBody>
      </p:sp>
      <p:cxnSp>
        <p:nvCxnSpPr>
          <p:cNvPr id="18" name="Connector 18"/>
          <p:cNvCxnSpPr/>
          <p:nvPr/>
        </p:nvCxnSpPr>
        <p:spPr>
          <a:xfrm>
            <a:off x="3169920" y="3124200"/>
            <a:ext cx="1" cy="213360"/>
          </a:xfrm>
          <a:prstGeom prst="line">
            <a:avLst/>
          </a:prstGeom>
          <a:ln w="22860">
            <a:solidFill>
              <a:srgbClr val="858DB7"/>
            </a:solidFill>
            <a:prstDash val="solid"/>
          </a:ln>
        </p:spPr>
      </p:cxnSp>
      <p:cxnSp>
        <p:nvCxnSpPr>
          <p:cNvPr id="19" name="Connector 19"/>
          <p:cNvCxnSpPr/>
          <p:nvPr/>
        </p:nvCxnSpPr>
        <p:spPr>
          <a:xfrm>
            <a:off x="1645920" y="3337560"/>
            <a:ext cx="2438400" cy="1"/>
          </a:xfrm>
          <a:prstGeom prst="line">
            <a:avLst/>
          </a:prstGeom>
          <a:ln w="22860">
            <a:solidFill>
              <a:srgbClr val="858DB7"/>
            </a:solidFill>
            <a:prstDash val="solid"/>
          </a:ln>
        </p:spPr>
      </p:cxnSp>
      <p:cxnSp>
        <p:nvCxnSpPr>
          <p:cNvPr id="20" name="Connector 20"/>
          <p:cNvCxnSpPr/>
          <p:nvPr/>
        </p:nvCxnSpPr>
        <p:spPr>
          <a:xfrm>
            <a:off x="1645920" y="3337560"/>
            <a:ext cx="1" cy="335280"/>
          </a:xfrm>
          <a:prstGeom prst="line">
            <a:avLst/>
          </a:prstGeom>
          <a:ln w="22860">
            <a:solidFill>
              <a:srgbClr val="59D6C5"/>
            </a:solidFill>
            <a:prstDash val="solid"/>
            <a:headEnd type="triangle" w="sm" len="sm"/>
          </a:ln>
        </p:spPr>
      </p:cxnSp>
      <p:cxnSp>
        <p:nvCxnSpPr>
          <p:cNvPr id="21" name="Connector 21"/>
          <p:cNvCxnSpPr/>
          <p:nvPr/>
        </p:nvCxnSpPr>
        <p:spPr>
          <a:xfrm>
            <a:off x="4084320" y="3337560"/>
            <a:ext cx="1" cy="335280"/>
          </a:xfrm>
          <a:prstGeom prst="line">
            <a:avLst/>
          </a:prstGeom>
          <a:ln w="22860">
            <a:solidFill>
              <a:srgbClr val="F4BA58"/>
            </a:solidFill>
            <a:prstDash val="solid"/>
            <a:headEnd type="triangle" w="sm" len="sm"/>
          </a:ln>
        </p:spPr>
      </p:cxnSp>
      <p:cxnSp>
        <p:nvCxnSpPr>
          <p:cNvPr id="22" name="Connector 22"/>
          <p:cNvCxnSpPr/>
          <p:nvPr/>
        </p:nvCxnSpPr>
        <p:spPr>
          <a:xfrm>
            <a:off x="3169920" y="3124200"/>
            <a:ext cx="1" cy="1539240"/>
          </a:xfrm>
          <a:prstGeom prst="line">
            <a:avLst/>
          </a:prstGeom>
          <a:ln w="22860">
            <a:solidFill>
              <a:srgbClr val="F17C98"/>
            </a:solidFill>
            <a:prstDash val="solid"/>
            <a:headEnd type="triangle" w="sm" len="sm"/>
          </a:ln>
        </p:spPr>
      </p:cxnSp>
      <p:sp>
        <p:nvSpPr>
          <p:cNvPr id="23" name="Shape 23"/>
          <p:cNvSpPr/>
          <p:nvPr/>
        </p:nvSpPr>
        <p:spPr>
          <a:xfrm>
            <a:off x="2484120" y="2697480"/>
            <a:ext cx="1371600" cy="42672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858DB7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75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raiz · 9 pontos</a:t>
            </a:r>
            <a:endParaRPr lang="pt-BR" sz="1275"/>
          </a:p>
        </p:txBody>
      </p:sp>
      <p:sp>
        <p:nvSpPr>
          <p:cNvPr id="24" name="Shape 24"/>
          <p:cNvSpPr/>
          <p:nvPr/>
        </p:nvSpPr>
        <p:spPr>
          <a:xfrm>
            <a:off x="929640" y="3672840"/>
            <a:ext cx="1432560" cy="54864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59D6C5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10 · A–D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4 pontos · selecionado</a:t>
            </a:r>
            <a:endParaRPr lang="pt-BR" sz="1200"/>
          </a:p>
        </p:txBody>
      </p:sp>
      <p:sp>
        <p:nvSpPr>
          <p:cNvPr id="25" name="Shape 25"/>
          <p:cNvSpPr/>
          <p:nvPr/>
        </p:nvSpPr>
        <p:spPr>
          <a:xfrm>
            <a:off x="3368040" y="3672840"/>
            <a:ext cx="1432560" cy="54864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4BA5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11 · E–H</a:t>
            </a:r>
            <a:endParaRPr lang="pt-BR" sz="1200"/>
          </a:p>
          <a:p>
            <a:pPr algn="ctr">
              <a:lnSpc>
                <a:spcPct val="105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4 pontos · selecionado</a:t>
            </a:r>
            <a:endParaRPr lang="pt-BR" sz="1200"/>
          </a:p>
        </p:txBody>
      </p:sp>
      <p:sp>
        <p:nvSpPr>
          <p:cNvPr id="26" name="Shape 26"/>
          <p:cNvSpPr/>
          <p:nvPr/>
        </p:nvSpPr>
        <p:spPr>
          <a:xfrm>
            <a:off x="2484120" y="4663440"/>
            <a:ext cx="1371600" cy="42672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17C98"/>
            </a:solidFill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27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I sai da raiz</a:t>
            </a:r>
            <a:endParaRPr lang="pt-BR" sz="1275"/>
          </a:p>
        </p:txBody>
      </p:sp>
      <p:sp>
        <p:nvSpPr>
          <p:cNvPr id="27" name="Shape 27"/>
          <p:cNvSpPr txBox="1"/>
          <p:nvPr/>
        </p:nvSpPr>
        <p:spPr>
          <a:xfrm>
            <a:off x="1249680" y="3421380"/>
            <a:ext cx="792480" cy="1752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97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λ = 1.6979</a:t>
            </a:r>
            <a:endParaRPr lang="pt-BR" sz="975"/>
          </a:p>
        </p:txBody>
      </p:sp>
      <p:sp>
        <p:nvSpPr>
          <p:cNvPr id="28" name="Shape 28"/>
          <p:cNvSpPr txBox="1"/>
          <p:nvPr/>
        </p:nvSpPr>
        <p:spPr>
          <a:xfrm>
            <a:off x="3688080" y="3421380"/>
            <a:ext cx="792480" cy="1752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97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λ = 1.6979</a:t>
            </a:r>
            <a:endParaRPr lang="pt-BR" sz="975"/>
          </a:p>
        </p:txBody>
      </p:sp>
      <p:sp>
        <p:nvSpPr>
          <p:cNvPr id="29" name="Shape 29"/>
          <p:cNvSpPr txBox="1"/>
          <p:nvPr/>
        </p:nvSpPr>
        <p:spPr>
          <a:xfrm>
            <a:off x="3848100" y="4434840"/>
            <a:ext cx="899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λ = 0.2462</a:t>
            </a:r>
            <a:endParaRPr lang="pt-BR" sz="1050"/>
          </a:p>
        </p:txBody>
      </p:sp>
      <p:sp>
        <p:nvSpPr>
          <p:cNvPr id="30" name="Shape 30"/>
          <p:cNvSpPr/>
          <p:nvPr/>
        </p:nvSpPr>
        <p:spPr>
          <a:xfrm>
            <a:off x="5943600" y="2179320"/>
            <a:ext cx="5516880" cy="321564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31" name="Shape 31"/>
          <p:cNvSpPr txBox="1"/>
          <p:nvPr/>
        </p:nvSpPr>
        <p:spPr>
          <a:xfrm>
            <a:off x="6202680" y="23622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ESTABILIDADE BRUTA · DICT POR ID</a:t>
            </a:r>
            <a:endParaRPr lang="pt-BR" sz="1200"/>
          </a:p>
        </p:txBody>
      </p:sp>
      <p:sp>
        <p:nvSpPr>
          <p:cNvPr id="32" name="Shape 32"/>
          <p:cNvSpPr/>
          <p:nvPr/>
        </p:nvSpPr>
        <p:spPr>
          <a:xfrm>
            <a:off x="6202680" y="2766060"/>
            <a:ext cx="1447800" cy="88392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33" name="Shape 33"/>
          <p:cNvSpPr txBox="1"/>
          <p:nvPr/>
        </p:nvSpPr>
        <p:spPr>
          <a:xfrm>
            <a:off x="6316980" y="2796540"/>
            <a:ext cx="1219200" cy="4066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13.829</a:t>
            </a:r>
            <a:endParaRPr lang="pt-BR" sz="2175"/>
          </a:p>
        </p:txBody>
      </p:sp>
      <p:sp>
        <p:nvSpPr>
          <p:cNvPr id="34" name="Shape 34"/>
          <p:cNvSpPr txBox="1"/>
          <p:nvPr/>
        </p:nvSpPr>
        <p:spPr>
          <a:xfrm>
            <a:off x="6316980" y="3252216"/>
            <a:ext cx="1219200" cy="30053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raiz · excluída</a:t>
            </a:r>
            <a:endParaRPr lang="pt-BR" sz="1050"/>
          </a:p>
        </p:txBody>
      </p:sp>
      <p:sp>
        <p:nvSpPr>
          <p:cNvPr id="35" name="Shape 35"/>
          <p:cNvSpPr/>
          <p:nvPr/>
        </p:nvSpPr>
        <p:spPr>
          <a:xfrm>
            <a:off x="7772400" y="2766060"/>
            <a:ext cx="1554480" cy="88392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36" name="Shape 36"/>
          <p:cNvSpPr txBox="1"/>
          <p:nvPr/>
        </p:nvSpPr>
        <p:spPr>
          <a:xfrm>
            <a:off x="7886700" y="2796540"/>
            <a:ext cx="1325880" cy="4066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108.601</a:t>
            </a:r>
            <a:endParaRPr lang="pt-BR" sz="2175"/>
          </a:p>
        </p:txBody>
      </p:sp>
      <p:sp>
        <p:nvSpPr>
          <p:cNvPr id="37" name="Shape 37"/>
          <p:cNvSpPr txBox="1"/>
          <p:nvPr/>
        </p:nvSpPr>
        <p:spPr>
          <a:xfrm>
            <a:off x="7886700" y="3252216"/>
            <a:ext cx="1325880" cy="30053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grupo A–D · EOM</a:t>
            </a:r>
            <a:endParaRPr lang="pt-BR" sz="1050"/>
          </a:p>
        </p:txBody>
      </p:sp>
      <p:sp>
        <p:nvSpPr>
          <p:cNvPr id="38" name="Shape 38"/>
          <p:cNvSpPr/>
          <p:nvPr/>
        </p:nvSpPr>
        <p:spPr>
          <a:xfrm>
            <a:off x="9448800" y="2766060"/>
            <a:ext cx="1706880" cy="88392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3A427A"/>
            </a:solidFill>
          </a:ln>
        </p:spPr>
      </p:sp>
      <p:sp>
        <p:nvSpPr>
          <p:cNvPr id="39" name="Shape 39"/>
          <p:cNvSpPr txBox="1"/>
          <p:nvPr/>
        </p:nvSpPr>
        <p:spPr>
          <a:xfrm>
            <a:off x="9563100" y="2796540"/>
            <a:ext cx="1478280" cy="4066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217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77.749</a:t>
            </a:r>
            <a:endParaRPr lang="pt-BR" sz="2175"/>
          </a:p>
        </p:txBody>
      </p:sp>
      <p:sp>
        <p:nvSpPr>
          <p:cNvPr id="40" name="Shape 40"/>
          <p:cNvSpPr txBox="1"/>
          <p:nvPr/>
        </p:nvSpPr>
        <p:spPr>
          <a:xfrm>
            <a:off x="9563100" y="3252216"/>
            <a:ext cx="1478280" cy="30053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grupo E–H · EOM</a:t>
            </a:r>
            <a:endParaRPr lang="pt-BR" sz="1050"/>
          </a:p>
        </p:txBody>
      </p:sp>
      <p:sp>
        <p:nvSpPr>
          <p:cNvPr id="41" name="Shape 41"/>
          <p:cNvSpPr txBox="1"/>
          <p:nvPr/>
        </p:nvSpPr>
        <p:spPr>
          <a:xfrm>
            <a:off x="6202680" y="389382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pt-BR" sz="14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EOM compara pai com soma dos descendentes: seleciona os dois filhos, sem sobreposição.</a:t>
            </a:r>
            <a:endParaRPr lang="pt-BR" sz="1425"/>
          </a:p>
        </p:txBody>
      </p:sp>
      <p:sp>
        <p:nvSpPr>
          <p:cNvPr id="42" name="Shape 42"/>
          <p:cNvSpPr/>
          <p:nvPr/>
        </p:nvSpPr>
        <p:spPr>
          <a:xfrm>
            <a:off x="6202680" y="4732020"/>
            <a:ext cx="18669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43" name="Shape 43"/>
          <p:cNvSpPr txBox="1"/>
          <p:nvPr/>
        </p:nvSpPr>
        <p:spPr>
          <a:xfrm>
            <a:off x="6301740" y="4747260"/>
            <a:ext cx="16687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persistência 0.871</a:t>
            </a:r>
            <a:endParaRPr lang="pt-BR" sz="1200"/>
          </a:p>
        </p:txBody>
      </p:sp>
      <p:sp>
        <p:nvSpPr>
          <p:cNvPr id="44" name="Shape 44"/>
          <p:cNvSpPr/>
          <p:nvPr/>
        </p:nvSpPr>
        <p:spPr>
          <a:xfrm>
            <a:off x="8229600" y="4732020"/>
            <a:ext cx="18669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F4BA58"/>
            </a:solidFill>
          </a:ln>
        </p:spPr>
      </p:sp>
      <p:sp>
        <p:nvSpPr>
          <p:cNvPr id="45" name="Shape 45"/>
          <p:cNvSpPr txBox="1"/>
          <p:nvPr/>
        </p:nvSpPr>
        <p:spPr>
          <a:xfrm>
            <a:off x="8328660" y="4747260"/>
            <a:ext cx="16687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persistência 0.623</a:t>
            </a:r>
            <a:endParaRPr lang="pt-BR"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18440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HDBSCAN · ETAPAS 8–9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6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O vetor final responde uma vez por incidente</a:t>
            </a:r>
            <a:endParaRPr lang="pt-BR" sz="36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O rótulo ocupa a mesma posição da linha na matriz de entrada.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21</a:t>
            </a:r>
            <a:endParaRPr lang="pt-BR" sz="1275"/>
          </a:p>
        </p:txBody>
      </p:sp>
      <p:sp>
        <p:nvSpPr>
          <p:cNvPr id="16" name="Shape 16"/>
          <p:cNvSpPr/>
          <p:nvPr/>
        </p:nvSpPr>
        <p:spPr>
          <a:xfrm>
            <a:off x="731520" y="2179320"/>
            <a:ext cx="5638800" cy="321564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975360" y="23622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RÓTULOS NA ORDEM A–I</a:t>
            </a:r>
            <a:endParaRPr lang="pt-BR" sz="1200"/>
          </a:p>
        </p:txBody>
      </p:sp>
      <p:sp>
        <p:nvSpPr>
          <p:cNvPr id="18" name="Shape 18"/>
          <p:cNvSpPr txBox="1"/>
          <p:nvPr/>
        </p:nvSpPr>
        <p:spPr>
          <a:xfrm>
            <a:off x="990600" y="2804160"/>
            <a:ext cx="4991100" cy="289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425" b="1">
                <a:solidFill>
                  <a:srgbClr val="C0C5DC"/>
                </a:solidFill>
                <a:latin typeface="Menlo"/>
                <a:ea typeface="Menlo"/>
                <a:cs typeface="Menlo"/>
              </a:rPr>
              <a:t xml:space="preserve">A   B   C   D     E   F   G   H     I</a:t>
            </a:r>
            <a:endParaRPr lang="pt-BR" sz="1425"/>
          </a:p>
        </p:txBody>
      </p:sp>
      <p:sp>
        <p:nvSpPr>
          <p:cNvPr id="19" name="Shape 19"/>
          <p:cNvSpPr txBox="1"/>
          <p:nvPr/>
        </p:nvSpPr>
        <p:spPr>
          <a:xfrm>
            <a:off x="990600" y="3162300"/>
            <a:ext cx="49911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875" b="1">
                <a:solidFill>
                  <a:srgbClr val="F7F3E8"/>
                </a:solidFill>
                <a:latin typeface="Menlo"/>
                <a:ea typeface="Menlo"/>
                <a:cs typeface="Menlo"/>
              </a:rPr>
              <a:t xml:space="preserve">0   0   0   0     1   1   1   1    −1</a:t>
            </a:r>
            <a:endParaRPr lang="pt-BR" sz="1875"/>
          </a:p>
        </p:txBody>
      </p:sp>
      <p:sp>
        <p:nvSpPr>
          <p:cNvPr id="20" name="Shape 20"/>
          <p:cNvSpPr/>
          <p:nvPr/>
        </p:nvSpPr>
        <p:spPr>
          <a:xfrm>
            <a:off x="990600" y="3787140"/>
            <a:ext cx="2171700" cy="70104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59D6C5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1127760" y="3870960"/>
            <a:ext cx="1905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35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CLUSTER 0</a:t>
            </a:r>
            <a:endParaRPr lang="pt-BR" sz="1350"/>
          </a:p>
          <a:p>
            <a:pPr algn="ctr">
              <a:lnSpc>
                <a:spcPct val="114000"/>
              </a:lnSpc>
            </a:pPr>
            <a:r>
              <a:rPr lang="pt-BR" sz="135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4 incidentes IAM</a:t>
            </a:r>
            <a:endParaRPr lang="pt-BR" sz="1350"/>
          </a:p>
        </p:txBody>
      </p:sp>
      <p:sp>
        <p:nvSpPr>
          <p:cNvPr id="22" name="Shape 22"/>
          <p:cNvSpPr/>
          <p:nvPr/>
        </p:nvSpPr>
        <p:spPr>
          <a:xfrm>
            <a:off x="3337560" y="3787140"/>
            <a:ext cx="2171700" cy="701040"/>
          </a:xfrm>
          <a:prstGeom prst="roundRect">
            <a:avLst/>
          </a:prstGeom>
          <a:solidFill>
            <a:srgbClr val="252C63"/>
          </a:solidFill>
          <a:ln w="15240">
            <a:solidFill>
              <a:srgbClr val="F4BA58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3474720" y="3870960"/>
            <a:ext cx="1905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3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CLUSTER 1</a:t>
            </a:r>
            <a:endParaRPr lang="pt-BR" sz="1350"/>
          </a:p>
          <a:p>
            <a:pPr algn="ctr">
              <a:lnSpc>
                <a:spcPct val="114000"/>
              </a:lnSpc>
            </a:pPr>
            <a:r>
              <a:rPr lang="pt-BR" sz="135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4 incidentes de pagamento</a:t>
            </a:r>
            <a:endParaRPr lang="pt-BR" sz="1350"/>
          </a:p>
        </p:txBody>
      </p:sp>
      <p:sp>
        <p:nvSpPr>
          <p:cNvPr id="24" name="Shape 24"/>
          <p:cNvSpPr txBox="1"/>
          <p:nvPr/>
        </p:nvSpPr>
        <p:spPr>
          <a:xfrm>
            <a:off x="990600" y="4724400"/>
            <a:ext cx="472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35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−1 = INC0010899 · ruído</a:t>
            </a:r>
            <a:endParaRPr lang="pt-BR" sz="1350"/>
          </a:p>
        </p:txBody>
      </p:sp>
      <p:sp>
        <p:nvSpPr>
          <p:cNvPr id="25" name="Shape 25"/>
          <p:cNvSpPr/>
          <p:nvPr/>
        </p:nvSpPr>
        <p:spPr>
          <a:xfrm>
            <a:off x="6675120" y="2179320"/>
            <a:ext cx="4785360" cy="3215640"/>
          </a:xfrm>
          <a:prstGeom prst="roundRect">
            <a:avLst/>
          </a:prstGeom>
          <a:solidFill>
            <a:srgbClr val="191D49"/>
          </a:solidFill>
          <a:ln w="7620">
            <a:solidFill>
              <a:srgbClr val="3A427A"/>
            </a:solidFill>
          </a:ln>
        </p:spPr>
      </p:sp>
      <p:sp>
        <p:nvSpPr>
          <p:cNvPr id="26" name="Shape 26"/>
          <p:cNvSpPr/>
          <p:nvPr/>
        </p:nvSpPr>
        <p:spPr>
          <a:xfrm>
            <a:off x="6934200" y="2362200"/>
            <a:ext cx="15621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B2DF78"/>
            </a:solidFill>
          </a:ln>
        </p:spPr>
      </p:sp>
      <p:sp>
        <p:nvSpPr>
          <p:cNvPr id="27" name="Shape 27"/>
          <p:cNvSpPr txBox="1"/>
          <p:nvPr/>
        </p:nvSpPr>
        <p:spPr>
          <a:xfrm>
            <a:off x="7033260" y="2377440"/>
            <a:ext cx="13639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B2DF78"/>
                </a:solidFill>
                <a:latin typeface="Aptos"/>
                <a:ea typeface="Aptos"/>
                <a:cs typeface="Aptos"/>
              </a:rPr>
              <a:t xml:space="preserve">ETAPA 9 · API PÚBLICA</a:t>
            </a:r>
            <a:endParaRPr lang="pt-BR" sz="1200"/>
          </a:p>
        </p:txBody>
      </p:sp>
      <p:sp>
        <p:nvSpPr>
          <p:cNvPr id="28" name="Shape 28"/>
          <p:cNvSpPr txBox="1"/>
          <p:nvPr/>
        </p:nvSpPr>
        <p:spPr>
          <a:xfrm>
            <a:off x="6934200" y="2819400"/>
            <a:ext cx="4191000" cy="624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pt-BR" sz="16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HDBSCAN.fit e pipeline aberto</a:t>
            </a:r>
            <a:endParaRPr lang="pt-BR" sz="1650"/>
          </a:p>
          <a:p>
            <a:pPr algn="l">
              <a:lnSpc>
                <a:spcPct val="130000"/>
              </a:lnSpc>
            </a:pPr>
            <a:r>
              <a:rPr lang="pt-BR" sz="165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produzem a mesma partição.</a:t>
            </a:r>
            <a:endParaRPr lang="pt-BR" sz="1650"/>
          </a:p>
        </p:txBody>
      </p:sp>
      <p:sp>
        <p:nvSpPr>
          <p:cNvPr id="29" name="Shape 29"/>
          <p:cNvSpPr txBox="1"/>
          <p:nvPr/>
        </p:nvSpPr>
        <p:spPr>
          <a:xfrm>
            <a:off x="6934200" y="3619500"/>
            <a:ext cx="41529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pt-BR" sz="1350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Também coincidem forças de pertencimento e persistências neste conjunto.</a:t>
            </a:r>
            <a:endParaRPr lang="pt-BR" sz="1350"/>
          </a:p>
        </p:txBody>
      </p:sp>
      <p:sp>
        <p:nvSpPr>
          <p:cNvPr id="30" name="Shape 30"/>
          <p:cNvSpPr txBox="1"/>
          <p:nvPr/>
        </p:nvSpPr>
        <p:spPr>
          <a:xfrm>
            <a:off x="6934200" y="4373880"/>
            <a:ext cx="41529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pt-BR" sz="127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p = força de pertencimento,</a:t>
            </a:r>
            <a:endParaRPr lang="pt-BR" sz="1275"/>
          </a:p>
          <a:p>
            <a:pPr algn="l">
              <a:lnSpc>
                <a:spcPct val="130000"/>
              </a:lnSpc>
            </a:pPr>
            <a:r>
              <a:rPr lang="pt-BR" sz="127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não probabilidade calibrada.</a:t>
            </a:r>
            <a:endParaRPr lang="pt-BR" sz="1275"/>
          </a:p>
        </p:txBody>
      </p:sp>
      <p:sp>
        <p:nvSpPr>
          <p:cNvPr id="31" name="Shape 31"/>
          <p:cNvSpPr txBox="1"/>
          <p:nvPr/>
        </p:nvSpPr>
        <p:spPr>
          <a:xfrm>
            <a:off x="731520" y="5722620"/>
            <a:ext cx="1072896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35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Com min_cluster_size=5, os ramos de quatro não sobrevivem: neste exemplo, todos viram ruído.</a:t>
            </a:r>
            <a:endParaRPr lang="pt-BR" sz="13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436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0439400" y="266700"/>
            <a:ext cx="365760" cy="3657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049000" y="701040"/>
            <a:ext cx="320040" cy="32004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1551920" y="190500"/>
            <a:ext cx="228600" cy="2286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10683240" y="1165860"/>
            <a:ext cx="213360" cy="21336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11696700" y="1257300"/>
            <a:ext cx="381000" cy="3810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0043160" y="807720"/>
            <a:ext cx="190500" cy="190500"/>
          </a:xfrm>
          <a:prstGeom prst="rect">
            <a:avLst/>
          </a:prstGeom>
          <a:noFill/>
          <a:ln w="15240">
            <a:solidFill>
              <a:srgbClr val="3A427A">
                <a:alpha val="36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731520" y="373380"/>
            <a:ext cx="245364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830580" y="388620"/>
            <a:ext cx="2255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INTEGRAÇÃO · PRÓXIMOS PASSOS</a:t>
            </a:r>
            <a:endParaRPr lang="pt-BR" sz="1200"/>
          </a:p>
        </p:txBody>
      </p:sp>
      <p:sp>
        <p:nvSpPr>
          <p:cNvPr id="11" name="Shape 11"/>
          <p:cNvSpPr txBox="1"/>
          <p:nvPr/>
        </p:nvSpPr>
        <p:spPr>
          <a:xfrm>
            <a:off x="731520" y="792480"/>
            <a:ext cx="1066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pt-BR" sz="3600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Cada estrutura deixa um sinal para investigar</a:t>
            </a:r>
            <a:endParaRPr lang="pt-BR" sz="3600"/>
          </a:p>
        </p:txBody>
      </p:sp>
      <p:sp>
        <p:nvSpPr>
          <p:cNvPr id="12" name="Shape 12"/>
          <p:cNvSpPr txBox="1"/>
          <p:nvPr/>
        </p:nvSpPr>
        <p:spPr>
          <a:xfrm>
            <a:off x="746760" y="1424940"/>
            <a:ext cx="1036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725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Operar, entender o impacto e recuperar contexto fazem parte do mesmo ciclo.</a:t>
            </a:r>
            <a:endParaRPr lang="pt-BR" sz="1725"/>
          </a:p>
        </p:txBody>
      </p:sp>
      <p:sp>
        <p:nvSpPr>
          <p:cNvPr id="13" name="Shape 13"/>
          <p:cNvSpPr/>
          <p:nvPr/>
        </p:nvSpPr>
        <p:spPr>
          <a:xfrm>
            <a:off x="731520" y="6278880"/>
            <a:ext cx="10728960" cy="7620"/>
          </a:xfrm>
          <a:prstGeom prst="rect">
            <a:avLst/>
          </a:prstGeom>
          <a:solidFill>
            <a:srgbClr val="3A427A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731520" y="64084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ESTRUTURAS DE DADOS  ·  SOLANGE BRASILEIRO</a:t>
            </a:r>
            <a:endParaRPr lang="pt-BR" sz="1050"/>
          </a:p>
        </p:txBody>
      </p:sp>
      <p:sp>
        <p:nvSpPr>
          <p:cNvPr id="15" name="Shape 15"/>
          <p:cNvSpPr txBox="1"/>
          <p:nvPr/>
        </p:nvSpPr>
        <p:spPr>
          <a:xfrm>
            <a:off x="10972800" y="6377940"/>
            <a:ext cx="48768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4000"/>
              </a:lnSpc>
            </a:pPr>
            <a:r>
              <a:rPr lang="pt-BR" sz="1275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22</a:t>
            </a:r>
            <a:endParaRPr lang="pt-BR" sz="1275"/>
          </a:p>
        </p:txBody>
      </p:sp>
      <p:sp>
        <p:nvSpPr>
          <p:cNvPr id="16" name="Shape 16"/>
          <p:cNvSpPr txBox="1"/>
          <p:nvPr/>
        </p:nvSpPr>
        <p:spPr>
          <a:xfrm>
            <a:off x="731520" y="237744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PROCESSAR</a:t>
            </a:r>
            <a:endParaRPr lang="pt-BR" sz="1125"/>
          </a:p>
        </p:txBody>
      </p:sp>
      <p:sp>
        <p:nvSpPr>
          <p:cNvPr id="17" name="Shape 17"/>
          <p:cNvSpPr/>
          <p:nvPr/>
        </p:nvSpPr>
        <p:spPr>
          <a:xfrm>
            <a:off x="2148840" y="2240280"/>
            <a:ext cx="1889760" cy="50292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2225040" y="2270760"/>
            <a:ext cx="1737360" cy="441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evento</a:t>
            </a:r>
            <a:endParaRPr lang="pt-BR" sz="1275"/>
          </a:p>
        </p:txBody>
      </p:sp>
      <p:sp>
        <p:nvSpPr>
          <p:cNvPr id="19" name="Shape 19"/>
          <p:cNvSpPr txBox="1"/>
          <p:nvPr/>
        </p:nvSpPr>
        <p:spPr>
          <a:xfrm>
            <a:off x="4046220" y="2308860"/>
            <a:ext cx="32004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9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1950"/>
          </a:p>
        </p:txBody>
      </p:sp>
      <p:sp>
        <p:nvSpPr>
          <p:cNvPr id="20" name="Shape 20"/>
          <p:cNvSpPr/>
          <p:nvPr/>
        </p:nvSpPr>
        <p:spPr>
          <a:xfrm>
            <a:off x="4419600" y="2240280"/>
            <a:ext cx="1889760" cy="50292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4495800" y="2270760"/>
            <a:ext cx="1737360" cy="441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fila limitada</a:t>
            </a:r>
            <a:endParaRPr lang="pt-BR" sz="1275"/>
          </a:p>
        </p:txBody>
      </p:sp>
      <p:sp>
        <p:nvSpPr>
          <p:cNvPr id="22" name="Shape 22"/>
          <p:cNvSpPr txBox="1"/>
          <p:nvPr/>
        </p:nvSpPr>
        <p:spPr>
          <a:xfrm>
            <a:off x="6316980" y="2308860"/>
            <a:ext cx="32004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9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1950"/>
          </a:p>
        </p:txBody>
      </p:sp>
      <p:sp>
        <p:nvSpPr>
          <p:cNvPr id="23" name="Shape 23"/>
          <p:cNvSpPr/>
          <p:nvPr/>
        </p:nvSpPr>
        <p:spPr>
          <a:xfrm>
            <a:off x="6690360" y="2240280"/>
            <a:ext cx="1889760" cy="50292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24" name="Shape 24"/>
          <p:cNvSpPr txBox="1"/>
          <p:nvPr/>
        </p:nvSpPr>
        <p:spPr>
          <a:xfrm>
            <a:off x="6766560" y="2270760"/>
            <a:ext cx="1737360" cy="441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consumidor</a:t>
            </a:r>
            <a:endParaRPr lang="pt-BR" sz="1275"/>
          </a:p>
        </p:txBody>
      </p:sp>
      <p:sp>
        <p:nvSpPr>
          <p:cNvPr id="25" name="Shape 25"/>
          <p:cNvSpPr txBox="1"/>
          <p:nvPr/>
        </p:nvSpPr>
        <p:spPr>
          <a:xfrm>
            <a:off x="8587740" y="2308860"/>
            <a:ext cx="32004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9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1950"/>
          </a:p>
        </p:txBody>
      </p:sp>
      <p:sp>
        <p:nvSpPr>
          <p:cNvPr id="26" name="Shape 26"/>
          <p:cNvSpPr/>
          <p:nvPr/>
        </p:nvSpPr>
        <p:spPr>
          <a:xfrm>
            <a:off x="8961120" y="2240280"/>
            <a:ext cx="1889760" cy="50292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F4BA58"/>
            </a:solidFill>
          </a:ln>
        </p:spPr>
      </p:sp>
      <p:sp>
        <p:nvSpPr>
          <p:cNvPr id="27" name="Shape 27"/>
          <p:cNvSpPr txBox="1"/>
          <p:nvPr/>
        </p:nvSpPr>
        <p:spPr>
          <a:xfrm>
            <a:off x="9037320" y="2270760"/>
            <a:ext cx="1737360" cy="441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estado / dedup</a:t>
            </a:r>
            <a:endParaRPr lang="pt-BR" sz="1275"/>
          </a:p>
        </p:txBody>
      </p:sp>
      <p:sp>
        <p:nvSpPr>
          <p:cNvPr id="28" name="Shape 28"/>
          <p:cNvSpPr txBox="1"/>
          <p:nvPr/>
        </p:nvSpPr>
        <p:spPr>
          <a:xfrm>
            <a:off x="731520" y="329184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INVESTIGAR</a:t>
            </a:r>
            <a:endParaRPr lang="pt-BR" sz="1125"/>
          </a:p>
        </p:txBody>
      </p:sp>
      <p:sp>
        <p:nvSpPr>
          <p:cNvPr id="29" name="Shape 29"/>
          <p:cNvSpPr/>
          <p:nvPr/>
        </p:nvSpPr>
        <p:spPr>
          <a:xfrm>
            <a:off x="2148840" y="3154680"/>
            <a:ext cx="1889760" cy="50292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30" name="Shape 30"/>
          <p:cNvSpPr txBox="1"/>
          <p:nvPr/>
        </p:nvSpPr>
        <p:spPr>
          <a:xfrm>
            <a:off x="2225040" y="3185160"/>
            <a:ext cx="1737360" cy="441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falha</a:t>
            </a:r>
            <a:endParaRPr lang="pt-BR" sz="1275"/>
          </a:p>
        </p:txBody>
      </p:sp>
      <p:sp>
        <p:nvSpPr>
          <p:cNvPr id="31" name="Shape 31"/>
          <p:cNvSpPr txBox="1"/>
          <p:nvPr/>
        </p:nvSpPr>
        <p:spPr>
          <a:xfrm>
            <a:off x="4046220" y="3223260"/>
            <a:ext cx="32004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9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1950"/>
          </a:p>
        </p:txBody>
      </p:sp>
      <p:sp>
        <p:nvSpPr>
          <p:cNvPr id="32" name="Shape 32"/>
          <p:cNvSpPr/>
          <p:nvPr/>
        </p:nvSpPr>
        <p:spPr>
          <a:xfrm>
            <a:off x="4419600" y="3154680"/>
            <a:ext cx="1889760" cy="50292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33" name="Shape 33"/>
          <p:cNvSpPr txBox="1"/>
          <p:nvPr/>
        </p:nvSpPr>
        <p:spPr>
          <a:xfrm>
            <a:off x="4495800" y="3185160"/>
            <a:ext cx="1737360" cy="441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grafo</a:t>
            </a:r>
            <a:endParaRPr lang="pt-BR" sz="1275"/>
          </a:p>
        </p:txBody>
      </p:sp>
      <p:sp>
        <p:nvSpPr>
          <p:cNvPr id="34" name="Shape 34"/>
          <p:cNvSpPr txBox="1"/>
          <p:nvPr/>
        </p:nvSpPr>
        <p:spPr>
          <a:xfrm>
            <a:off x="6316980" y="3223260"/>
            <a:ext cx="32004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9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1950"/>
          </a:p>
        </p:txBody>
      </p:sp>
      <p:sp>
        <p:nvSpPr>
          <p:cNvPr id="35" name="Shape 35"/>
          <p:cNvSpPr/>
          <p:nvPr/>
        </p:nvSpPr>
        <p:spPr>
          <a:xfrm>
            <a:off x="6690360" y="3154680"/>
            <a:ext cx="1889760" cy="50292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36" name="Shape 36"/>
          <p:cNvSpPr txBox="1"/>
          <p:nvPr/>
        </p:nvSpPr>
        <p:spPr>
          <a:xfrm>
            <a:off x="6766560" y="3185160"/>
            <a:ext cx="1737360" cy="441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BFS / DFS</a:t>
            </a:r>
            <a:endParaRPr lang="pt-BR" sz="1275"/>
          </a:p>
        </p:txBody>
      </p:sp>
      <p:sp>
        <p:nvSpPr>
          <p:cNvPr id="37" name="Shape 37"/>
          <p:cNvSpPr txBox="1"/>
          <p:nvPr/>
        </p:nvSpPr>
        <p:spPr>
          <a:xfrm>
            <a:off x="8587740" y="3223260"/>
            <a:ext cx="32004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9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1950"/>
          </a:p>
        </p:txBody>
      </p:sp>
      <p:sp>
        <p:nvSpPr>
          <p:cNvPr id="38" name="Shape 38"/>
          <p:cNvSpPr/>
          <p:nvPr/>
        </p:nvSpPr>
        <p:spPr>
          <a:xfrm>
            <a:off x="8961120" y="3154680"/>
            <a:ext cx="1889760" cy="50292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39" name="Shape 39"/>
          <p:cNvSpPr txBox="1"/>
          <p:nvPr/>
        </p:nvSpPr>
        <p:spPr>
          <a:xfrm>
            <a:off x="9037320" y="3185160"/>
            <a:ext cx="1737360" cy="441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serviços afetados</a:t>
            </a:r>
            <a:endParaRPr lang="pt-BR" sz="1275"/>
          </a:p>
        </p:txBody>
      </p:sp>
      <p:sp>
        <p:nvSpPr>
          <p:cNvPr id="40" name="Shape 40"/>
          <p:cNvSpPr txBox="1"/>
          <p:nvPr/>
        </p:nvSpPr>
        <p:spPr>
          <a:xfrm>
            <a:off x="731520" y="420624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</a:pPr>
            <a:r>
              <a:rPr lang="pt-BR" sz="112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RESPONDER</a:t>
            </a:r>
            <a:endParaRPr lang="pt-BR" sz="1125"/>
          </a:p>
        </p:txBody>
      </p:sp>
      <p:sp>
        <p:nvSpPr>
          <p:cNvPr id="41" name="Shape 41"/>
          <p:cNvSpPr/>
          <p:nvPr/>
        </p:nvSpPr>
        <p:spPr>
          <a:xfrm>
            <a:off x="2148840" y="4069080"/>
            <a:ext cx="1889760" cy="50292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42" name="Shape 42"/>
          <p:cNvSpPr txBox="1"/>
          <p:nvPr/>
        </p:nvSpPr>
        <p:spPr>
          <a:xfrm>
            <a:off x="2225040" y="4099560"/>
            <a:ext cx="1737360" cy="441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artigos</a:t>
            </a:r>
            <a:endParaRPr lang="pt-BR" sz="1275"/>
          </a:p>
        </p:txBody>
      </p:sp>
      <p:sp>
        <p:nvSpPr>
          <p:cNvPr id="43" name="Shape 43"/>
          <p:cNvSpPr txBox="1"/>
          <p:nvPr/>
        </p:nvSpPr>
        <p:spPr>
          <a:xfrm>
            <a:off x="4046220" y="4137660"/>
            <a:ext cx="32004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9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1950"/>
          </a:p>
        </p:txBody>
      </p:sp>
      <p:sp>
        <p:nvSpPr>
          <p:cNvPr id="44" name="Shape 44"/>
          <p:cNvSpPr/>
          <p:nvPr/>
        </p:nvSpPr>
        <p:spPr>
          <a:xfrm>
            <a:off x="4419600" y="4069080"/>
            <a:ext cx="1889760" cy="50292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45" name="Shape 45"/>
          <p:cNvSpPr txBox="1"/>
          <p:nvPr/>
        </p:nvSpPr>
        <p:spPr>
          <a:xfrm>
            <a:off x="4495800" y="4099560"/>
            <a:ext cx="1737360" cy="441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índice TF-IDF</a:t>
            </a:r>
            <a:endParaRPr lang="pt-BR" sz="1275"/>
          </a:p>
        </p:txBody>
      </p:sp>
      <p:sp>
        <p:nvSpPr>
          <p:cNvPr id="46" name="Shape 46"/>
          <p:cNvSpPr txBox="1"/>
          <p:nvPr/>
        </p:nvSpPr>
        <p:spPr>
          <a:xfrm>
            <a:off x="6316980" y="4137660"/>
            <a:ext cx="32004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9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1950"/>
          </a:p>
        </p:txBody>
      </p:sp>
      <p:sp>
        <p:nvSpPr>
          <p:cNvPr id="47" name="Shape 47"/>
          <p:cNvSpPr/>
          <p:nvPr/>
        </p:nvSpPr>
        <p:spPr>
          <a:xfrm>
            <a:off x="6690360" y="4069080"/>
            <a:ext cx="1889760" cy="502920"/>
          </a:xfrm>
          <a:prstGeom prst="roundRect">
            <a:avLst/>
          </a:prstGeom>
          <a:solidFill>
            <a:srgbClr val="1D2454"/>
          </a:solidFill>
          <a:ln w="7620">
            <a:solidFill>
              <a:srgbClr val="3A427A"/>
            </a:solidFill>
          </a:ln>
        </p:spPr>
      </p:sp>
      <p:sp>
        <p:nvSpPr>
          <p:cNvPr id="48" name="Shape 48"/>
          <p:cNvSpPr txBox="1"/>
          <p:nvPr/>
        </p:nvSpPr>
        <p:spPr>
          <a:xfrm>
            <a:off x="6766560" y="4099560"/>
            <a:ext cx="1737360" cy="441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>
                <a:solidFill>
                  <a:srgbClr val="F7F3E8"/>
                </a:solidFill>
                <a:latin typeface="Aptos"/>
                <a:ea typeface="Aptos"/>
                <a:cs typeface="Aptos"/>
              </a:rPr>
              <a:t xml:space="preserve">ranking</a:t>
            </a:r>
            <a:endParaRPr lang="pt-BR" sz="1275"/>
          </a:p>
        </p:txBody>
      </p:sp>
      <p:sp>
        <p:nvSpPr>
          <p:cNvPr id="49" name="Shape 49"/>
          <p:cNvSpPr txBox="1"/>
          <p:nvPr/>
        </p:nvSpPr>
        <p:spPr>
          <a:xfrm>
            <a:off x="8587740" y="4137660"/>
            <a:ext cx="320040" cy="35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9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→</a:t>
            </a:r>
            <a:endParaRPr lang="pt-BR" sz="1950"/>
          </a:p>
        </p:txBody>
      </p:sp>
      <p:sp>
        <p:nvSpPr>
          <p:cNvPr id="50" name="Shape 50"/>
          <p:cNvSpPr/>
          <p:nvPr/>
        </p:nvSpPr>
        <p:spPr>
          <a:xfrm>
            <a:off x="8961120" y="4069080"/>
            <a:ext cx="1889760" cy="50292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F17C98"/>
            </a:solidFill>
          </a:ln>
        </p:spPr>
      </p:sp>
      <p:sp>
        <p:nvSpPr>
          <p:cNvPr id="51" name="Shape 51"/>
          <p:cNvSpPr txBox="1"/>
          <p:nvPr/>
        </p:nvSpPr>
        <p:spPr>
          <a:xfrm>
            <a:off x="9037320" y="4099560"/>
            <a:ext cx="1737360" cy="441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75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contexto RAG</a:t>
            </a:r>
            <a:endParaRPr lang="pt-BR" sz="1275"/>
          </a:p>
        </p:txBody>
      </p:sp>
      <p:sp>
        <p:nvSpPr>
          <p:cNvPr id="52" name="Shape 52"/>
          <p:cNvSpPr/>
          <p:nvPr/>
        </p:nvSpPr>
        <p:spPr>
          <a:xfrm>
            <a:off x="731520" y="4968240"/>
            <a:ext cx="10728960" cy="510540"/>
          </a:xfrm>
          <a:prstGeom prst="roundRect">
            <a:avLst/>
          </a:prstGeom>
          <a:solidFill>
            <a:srgbClr val="0C1029"/>
          </a:solidFill>
          <a:ln>
            <a:noFill/>
          </a:ln>
        </p:spPr>
      </p:sp>
      <p:sp>
        <p:nvSpPr>
          <p:cNvPr id="53" name="Shape 53"/>
          <p:cNvSpPr txBox="1"/>
          <p:nvPr/>
        </p:nvSpPr>
        <p:spPr>
          <a:xfrm>
            <a:off x="929640" y="5044440"/>
            <a:ext cx="103251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350" b="1">
                <a:solidFill>
                  <a:srgbClr val="C0C5DC"/>
                </a:solidFill>
                <a:latin typeface="Aptos"/>
                <a:ea typeface="Aptos"/>
                <a:cs typeface="Aptos"/>
              </a:rPr>
              <a:t xml:space="preserve">No projeto: logs + contadores  ·  Em produção: métricas + rastros + estado persistente</a:t>
            </a:r>
            <a:endParaRPr lang="pt-BR" sz="1350"/>
          </a:p>
        </p:txBody>
      </p:sp>
      <p:sp>
        <p:nvSpPr>
          <p:cNvPr id="54" name="Shape 54"/>
          <p:cNvSpPr txBox="1"/>
          <p:nvPr/>
        </p:nvSpPr>
        <p:spPr>
          <a:xfrm>
            <a:off x="731520" y="5570220"/>
            <a:ext cx="10728960" cy="198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050" b="1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EXPERIMENTE</a:t>
            </a:r>
            <a:endParaRPr lang="pt-BR" sz="1050"/>
          </a:p>
        </p:txBody>
      </p:sp>
      <p:sp>
        <p:nvSpPr>
          <p:cNvPr id="55" name="Shape 55"/>
          <p:cNvSpPr/>
          <p:nvPr/>
        </p:nvSpPr>
        <p:spPr>
          <a:xfrm>
            <a:off x="1409700" y="5775960"/>
            <a:ext cx="22860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F4BA58"/>
            </a:solidFill>
          </a:ln>
        </p:spPr>
      </p:sp>
      <p:sp>
        <p:nvSpPr>
          <p:cNvPr id="56" name="Shape 56"/>
          <p:cNvSpPr txBox="1"/>
          <p:nvPr/>
        </p:nvSpPr>
        <p:spPr>
          <a:xfrm>
            <a:off x="1508760" y="5791200"/>
            <a:ext cx="2087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F4BA58"/>
                </a:solidFill>
                <a:latin typeface="Aptos"/>
                <a:ea typeface="Aptos"/>
                <a:cs typeface="Aptos"/>
              </a:rPr>
              <a:t xml:space="preserve">sh executar.sh 2</a:t>
            </a:r>
            <a:endParaRPr lang="pt-BR" sz="1200"/>
          </a:p>
        </p:txBody>
      </p:sp>
      <p:sp>
        <p:nvSpPr>
          <p:cNvPr id="57" name="Shape 57"/>
          <p:cNvSpPr/>
          <p:nvPr/>
        </p:nvSpPr>
        <p:spPr>
          <a:xfrm>
            <a:off x="3924300" y="5775960"/>
            <a:ext cx="22860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59D6C5"/>
            </a:solidFill>
          </a:ln>
        </p:spPr>
      </p:sp>
      <p:sp>
        <p:nvSpPr>
          <p:cNvPr id="58" name="Shape 58"/>
          <p:cNvSpPr txBox="1"/>
          <p:nvPr/>
        </p:nvSpPr>
        <p:spPr>
          <a:xfrm>
            <a:off x="4023360" y="5791200"/>
            <a:ext cx="2087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59D6C5"/>
                </a:solidFill>
                <a:latin typeface="Aptos"/>
                <a:ea typeface="Aptos"/>
                <a:cs typeface="Aptos"/>
              </a:rPr>
              <a:t xml:space="preserve">sh executar.sh 8</a:t>
            </a:r>
            <a:endParaRPr lang="pt-BR" sz="1200"/>
          </a:p>
        </p:txBody>
      </p:sp>
      <p:sp>
        <p:nvSpPr>
          <p:cNvPr id="59" name="Shape 59"/>
          <p:cNvSpPr/>
          <p:nvPr/>
        </p:nvSpPr>
        <p:spPr>
          <a:xfrm>
            <a:off x="6438900" y="5775960"/>
            <a:ext cx="4000500" cy="259080"/>
          </a:xfrm>
          <a:prstGeom prst="roundRect">
            <a:avLst/>
          </a:prstGeom>
          <a:solidFill>
            <a:srgbClr val="252C63"/>
          </a:solidFill>
          <a:ln w="7620">
            <a:solidFill>
              <a:srgbClr val="F17C98"/>
            </a:solidFill>
          </a:ln>
        </p:spPr>
      </p:sp>
      <p:sp>
        <p:nvSpPr>
          <p:cNvPr id="60" name="Shape 60"/>
          <p:cNvSpPr txBox="1"/>
          <p:nvPr/>
        </p:nvSpPr>
        <p:spPr>
          <a:xfrm>
            <a:off x="6537960" y="5791200"/>
            <a:ext cx="38023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200" b="1">
                <a:solidFill>
                  <a:srgbClr val="F17C98"/>
                </a:solidFill>
                <a:latin typeface="Aptos"/>
                <a:ea typeface="Aptos"/>
                <a:cs typeface="Aptos"/>
              </a:rPr>
              <a:t xml:space="preserve">sh executar.sh hdbscan --etapa 9</a:t>
            </a:r>
            <a:endParaRPr lang="pt-BR" sz="1200"/>
          </a:p>
        </p:txBody>
      </p:sp>
      <p:sp>
        <p:nvSpPr>
          <p:cNvPr id="61" name="Shape 61"/>
          <p:cNvSpPr txBox="1"/>
          <p:nvPr/>
        </p:nvSpPr>
        <p:spPr>
          <a:xfrm>
            <a:off x="731520" y="6073140"/>
            <a:ext cx="10728960" cy="167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14000"/>
              </a:lnSpc>
            </a:pPr>
            <a:r>
              <a:rPr lang="pt-BR" sz="1125">
                <a:solidFill>
                  <a:srgbClr val="858DB7"/>
                </a:solidFill>
                <a:latin typeface="Aptos"/>
                <a:ea typeface="Aptos"/>
                <a:cs typeface="Aptos"/>
              </a:rPr>
              <a:t xml:space="preserve">Obrigada  ·  Solange Brasileiro</a:t>
            </a:r>
            <a:endParaRPr lang="pt-BR" sz="112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ruturas de dados">
  <a:themeElements>
    <a:clrScheme name="Indigo">
      <a:dk1>
        <a:srgbClr val="0C1029"/>
      </a:dk1>
      <a:lt1>
        <a:srgbClr val="F7F3E8"/>
      </a:lt1>
      <a:dk2>
        <a:srgbClr val="111436"/>
      </a:dk2>
      <a:lt2>
        <a:srgbClr val="C0C5DC"/>
      </a:lt2>
      <a:accent1>
        <a:srgbClr val="59D6C5"/>
      </a:accent1>
      <a:accent2>
        <a:srgbClr val="F4BA58"/>
      </a:accent2>
      <a:accent3>
        <a:srgbClr val="F17C98"/>
      </a:accent3>
      <a:accent4>
        <a:srgbClr val="B2DF78"/>
      </a:accent4>
      <a:accent5>
        <a:srgbClr val="3A427A"/>
      </a:accent5>
      <a:accent6>
        <a:srgbClr val="252C63"/>
      </a:accent6>
      <a:hlink>
        <a:srgbClr val="59D6C5"/>
      </a:hlink>
      <a:folHlink>
        <a:srgbClr val="F17C98"/>
      </a:folHlink>
    </a:clrScheme>
    <a:fontScheme name="Aptos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 XML</Application>
  <Slides>22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Estruturas de dados no mundo real</dc:title>
  <dc:creator>Solange Brasileiro</dc:creator>
  <dc:subject>Minicurso de estruturas de dados</dc:subject>
</cp:coreProperties>
</file>