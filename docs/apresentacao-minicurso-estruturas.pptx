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59D6C5" accent2="F4BA58" accent3="F17C98" accent4="B2DF78" accent5="3A427A" accent6="252C63" bg1="111436" bg2="191D49" dk1="0C1029" dk2="111436" folHlink="F17C98" hlink="59D6C5" lt1="F7F3E8" lt2="C0C5DC" tx1="0C1029" tx2="F7F3E8"/>
  <p:sldLayoutIdLst>
    <p:sldLayoutId id="1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olange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7467600" y="3048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809244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871728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9342120" y="3048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996696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59180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11216640" y="3048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10" name="Shape 10"/>
          <p:cNvSpPr/>
          <p:nvPr/>
        </p:nvSpPr>
        <p:spPr>
          <a:xfrm>
            <a:off x="11841480" y="3048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1" name="Shape 11"/>
          <p:cNvSpPr/>
          <p:nvPr/>
        </p:nvSpPr>
        <p:spPr>
          <a:xfrm>
            <a:off x="768096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2" name="Shape 12"/>
          <p:cNvSpPr/>
          <p:nvPr/>
        </p:nvSpPr>
        <p:spPr>
          <a:xfrm>
            <a:off x="830580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3" name="Shape 13"/>
          <p:cNvSpPr/>
          <p:nvPr/>
        </p:nvSpPr>
        <p:spPr>
          <a:xfrm>
            <a:off x="8930640" y="92964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14" name="Shape 14"/>
          <p:cNvSpPr/>
          <p:nvPr/>
        </p:nvSpPr>
        <p:spPr>
          <a:xfrm>
            <a:off x="955548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5" name="Shape 15"/>
          <p:cNvSpPr/>
          <p:nvPr/>
        </p:nvSpPr>
        <p:spPr>
          <a:xfrm>
            <a:off x="1018032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6" name="Shape 16"/>
          <p:cNvSpPr/>
          <p:nvPr/>
        </p:nvSpPr>
        <p:spPr>
          <a:xfrm>
            <a:off x="10805160" y="92964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17" name="Shape 17"/>
          <p:cNvSpPr/>
          <p:nvPr/>
        </p:nvSpPr>
        <p:spPr>
          <a:xfrm>
            <a:off x="1143000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8" name="Shape 18"/>
          <p:cNvSpPr/>
          <p:nvPr/>
        </p:nvSpPr>
        <p:spPr>
          <a:xfrm>
            <a:off x="12054840" y="92964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19" name="Shape 19"/>
          <p:cNvSpPr/>
          <p:nvPr/>
        </p:nvSpPr>
        <p:spPr>
          <a:xfrm>
            <a:off x="746760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0" name="Shape 20"/>
          <p:cNvSpPr/>
          <p:nvPr/>
        </p:nvSpPr>
        <p:spPr>
          <a:xfrm>
            <a:off x="8092440" y="155448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21" name="Shape 21"/>
          <p:cNvSpPr/>
          <p:nvPr/>
        </p:nvSpPr>
        <p:spPr>
          <a:xfrm>
            <a:off x="871728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2" name="Shape 22"/>
          <p:cNvSpPr/>
          <p:nvPr/>
        </p:nvSpPr>
        <p:spPr>
          <a:xfrm>
            <a:off x="934212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3" name="Shape 23"/>
          <p:cNvSpPr/>
          <p:nvPr/>
        </p:nvSpPr>
        <p:spPr>
          <a:xfrm>
            <a:off x="9966960" y="155448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24" name="Shape 24"/>
          <p:cNvSpPr/>
          <p:nvPr/>
        </p:nvSpPr>
        <p:spPr>
          <a:xfrm>
            <a:off x="1059180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5" name="Shape 25"/>
          <p:cNvSpPr/>
          <p:nvPr/>
        </p:nvSpPr>
        <p:spPr>
          <a:xfrm>
            <a:off x="11216640" y="155448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6" name="Shape 26"/>
          <p:cNvSpPr/>
          <p:nvPr/>
        </p:nvSpPr>
        <p:spPr>
          <a:xfrm>
            <a:off x="11841480" y="155448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27" name="Shape 27"/>
          <p:cNvSpPr/>
          <p:nvPr/>
        </p:nvSpPr>
        <p:spPr>
          <a:xfrm>
            <a:off x="7680960" y="217932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28" name="Shape 28"/>
          <p:cNvSpPr/>
          <p:nvPr/>
        </p:nvSpPr>
        <p:spPr>
          <a:xfrm>
            <a:off x="830580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29" name="Shape 29"/>
          <p:cNvSpPr/>
          <p:nvPr/>
        </p:nvSpPr>
        <p:spPr>
          <a:xfrm>
            <a:off x="893064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0" name="Shape 30"/>
          <p:cNvSpPr/>
          <p:nvPr/>
        </p:nvSpPr>
        <p:spPr>
          <a:xfrm>
            <a:off x="9555480" y="217932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31" name="Shape 31"/>
          <p:cNvSpPr/>
          <p:nvPr/>
        </p:nvSpPr>
        <p:spPr>
          <a:xfrm>
            <a:off x="1018032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2" name="Shape 32"/>
          <p:cNvSpPr/>
          <p:nvPr/>
        </p:nvSpPr>
        <p:spPr>
          <a:xfrm>
            <a:off x="1080516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3" name="Shape 33"/>
          <p:cNvSpPr/>
          <p:nvPr/>
        </p:nvSpPr>
        <p:spPr>
          <a:xfrm>
            <a:off x="11430000" y="217932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34" name="Shape 34"/>
          <p:cNvSpPr/>
          <p:nvPr/>
        </p:nvSpPr>
        <p:spPr>
          <a:xfrm>
            <a:off x="12054840" y="217932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5" name="Shape 35"/>
          <p:cNvSpPr/>
          <p:nvPr/>
        </p:nvSpPr>
        <p:spPr>
          <a:xfrm>
            <a:off x="746760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6" name="Shape 36"/>
          <p:cNvSpPr/>
          <p:nvPr/>
        </p:nvSpPr>
        <p:spPr>
          <a:xfrm>
            <a:off x="809244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7" name="Shape 37"/>
          <p:cNvSpPr/>
          <p:nvPr/>
        </p:nvSpPr>
        <p:spPr>
          <a:xfrm>
            <a:off x="8717280" y="280416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38" name="Shape 38"/>
          <p:cNvSpPr/>
          <p:nvPr/>
        </p:nvSpPr>
        <p:spPr>
          <a:xfrm>
            <a:off x="934212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39" name="Shape 39"/>
          <p:cNvSpPr/>
          <p:nvPr/>
        </p:nvSpPr>
        <p:spPr>
          <a:xfrm>
            <a:off x="996696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0" name="Shape 40"/>
          <p:cNvSpPr/>
          <p:nvPr/>
        </p:nvSpPr>
        <p:spPr>
          <a:xfrm>
            <a:off x="10591800" y="280416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41" name="Shape 41"/>
          <p:cNvSpPr/>
          <p:nvPr/>
        </p:nvSpPr>
        <p:spPr>
          <a:xfrm>
            <a:off x="1121664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2" name="Shape 42"/>
          <p:cNvSpPr/>
          <p:nvPr/>
        </p:nvSpPr>
        <p:spPr>
          <a:xfrm>
            <a:off x="11841480" y="280416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3" name="Shape 43"/>
          <p:cNvSpPr/>
          <p:nvPr/>
        </p:nvSpPr>
        <p:spPr>
          <a:xfrm>
            <a:off x="768096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4" name="Shape 44"/>
          <p:cNvSpPr/>
          <p:nvPr/>
        </p:nvSpPr>
        <p:spPr>
          <a:xfrm>
            <a:off x="8305800" y="34290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45" name="Shape 45"/>
          <p:cNvSpPr/>
          <p:nvPr/>
        </p:nvSpPr>
        <p:spPr>
          <a:xfrm>
            <a:off x="893064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6" name="Shape 46"/>
          <p:cNvSpPr/>
          <p:nvPr/>
        </p:nvSpPr>
        <p:spPr>
          <a:xfrm>
            <a:off x="955548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7" name="Shape 47"/>
          <p:cNvSpPr/>
          <p:nvPr/>
        </p:nvSpPr>
        <p:spPr>
          <a:xfrm>
            <a:off x="10180320" y="34290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48" name="Shape 48"/>
          <p:cNvSpPr/>
          <p:nvPr/>
        </p:nvSpPr>
        <p:spPr>
          <a:xfrm>
            <a:off x="1080516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49" name="Shape 49"/>
          <p:cNvSpPr/>
          <p:nvPr/>
        </p:nvSpPr>
        <p:spPr>
          <a:xfrm>
            <a:off x="11430000" y="3429000"/>
            <a:ext cx="243840" cy="243840"/>
          </a:xfrm>
          <a:prstGeom prst="rect">
            <a:avLst/>
          </a:prstGeom>
          <a:noFill/>
          <a:ln w="15240">
            <a:solidFill>
              <a:srgbClr val="3A427A">
                <a:alpha val="20000"/>
              </a:srgbClr>
            </a:solidFill>
          </a:ln>
        </p:spPr>
      </p:sp>
      <p:sp>
        <p:nvSpPr>
          <p:cNvPr id="50" name="Shape 50"/>
          <p:cNvSpPr/>
          <p:nvPr/>
        </p:nvSpPr>
        <p:spPr>
          <a:xfrm>
            <a:off x="12054840" y="34290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0000"/>
              </a:srgbClr>
            </a:solidFill>
          </a:ln>
        </p:spPr>
      </p:sp>
      <p:sp>
        <p:nvSpPr>
          <p:cNvPr id="51" name="Shape 51"/>
          <p:cNvSpPr/>
          <p:nvPr/>
        </p:nvSpPr>
        <p:spPr>
          <a:xfrm>
            <a:off x="7924800" y="1920240"/>
            <a:ext cx="3200400" cy="274320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52" name="Shape 52"/>
          <p:cNvSpPr txBox="1"/>
          <p:nvPr/>
        </p:nvSpPr>
        <p:spPr>
          <a:xfrm>
            <a:off x="8244840" y="2156460"/>
            <a:ext cx="25146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UM SISTEMA, VÁRIAS FORMAS DE ACESSAR</a:t>
            </a:r>
            <a:endParaRPr lang="pt-BR" sz="1125"/>
          </a:p>
        </p:txBody>
      </p:sp>
      <p:sp>
        <p:nvSpPr>
          <p:cNvPr id="53" name="Shape 53"/>
          <p:cNvSpPr/>
          <p:nvPr/>
        </p:nvSpPr>
        <p:spPr>
          <a:xfrm>
            <a:off x="8214360" y="2781300"/>
            <a:ext cx="1143000" cy="5334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</p:sp>
      <p:sp>
        <p:nvSpPr>
          <p:cNvPr id="54" name="Shape 54"/>
          <p:cNvSpPr txBox="1"/>
          <p:nvPr/>
        </p:nvSpPr>
        <p:spPr>
          <a:xfrm>
            <a:off x="8214360" y="2819400"/>
            <a:ext cx="114300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6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LISTA</a:t>
            </a:r>
            <a:endParaRPr lang="pt-BR" sz="1650"/>
          </a:p>
        </p:txBody>
      </p:sp>
      <p:sp>
        <p:nvSpPr>
          <p:cNvPr id="55" name="Shape 55"/>
          <p:cNvSpPr/>
          <p:nvPr/>
        </p:nvSpPr>
        <p:spPr>
          <a:xfrm>
            <a:off x="9639300" y="2781300"/>
            <a:ext cx="1143000" cy="5334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</p:sp>
      <p:sp>
        <p:nvSpPr>
          <p:cNvPr id="56" name="Shape 56"/>
          <p:cNvSpPr txBox="1"/>
          <p:nvPr/>
        </p:nvSpPr>
        <p:spPr>
          <a:xfrm>
            <a:off x="9639300" y="2819400"/>
            <a:ext cx="114300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6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FILA</a:t>
            </a:r>
            <a:endParaRPr lang="pt-BR" sz="1650"/>
          </a:p>
        </p:txBody>
      </p:sp>
      <p:sp>
        <p:nvSpPr>
          <p:cNvPr id="57" name="Shape 57"/>
          <p:cNvSpPr/>
          <p:nvPr/>
        </p:nvSpPr>
        <p:spPr>
          <a:xfrm>
            <a:off x="8900160" y="3771900"/>
            <a:ext cx="1143000" cy="53340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17C98"/>
            </a:solidFill>
          </a:ln>
        </p:spPr>
      </p:sp>
      <p:sp>
        <p:nvSpPr>
          <p:cNvPr id="58" name="Shape 58"/>
          <p:cNvSpPr txBox="1"/>
          <p:nvPr/>
        </p:nvSpPr>
        <p:spPr>
          <a:xfrm>
            <a:off x="8900160" y="3810000"/>
            <a:ext cx="114300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6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GRAFO</a:t>
            </a:r>
            <a:endParaRPr lang="pt-BR" sz="1650"/>
          </a:p>
        </p:txBody>
      </p:sp>
      <p:sp>
        <p:nvSpPr>
          <p:cNvPr id="59" name="Shape 59"/>
          <p:cNvSpPr/>
          <p:nvPr/>
        </p:nvSpPr>
        <p:spPr>
          <a:xfrm>
            <a:off x="9357360" y="3032760"/>
            <a:ext cx="281940" cy="22860"/>
          </a:xfrm>
          <a:prstGeom prst="rect">
            <a:avLst/>
          </a:prstGeom>
          <a:solidFill>
            <a:srgbClr val="858DB7"/>
          </a:solidFill>
          <a:ln>
            <a:noFill/>
          </a:ln>
        </p:spPr>
      </p:sp>
      <p:sp>
        <p:nvSpPr>
          <p:cNvPr id="60" name="Shape 60"/>
          <p:cNvSpPr txBox="1"/>
          <p:nvPr/>
        </p:nvSpPr>
        <p:spPr>
          <a:xfrm>
            <a:off x="9387840" y="2941320"/>
            <a:ext cx="213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›</a:t>
            </a:r>
            <a:endParaRPr lang="pt-BR" sz="2100"/>
          </a:p>
        </p:txBody>
      </p:sp>
      <p:sp>
        <p:nvSpPr>
          <p:cNvPr id="61" name="Shape 61"/>
          <p:cNvSpPr/>
          <p:nvPr/>
        </p:nvSpPr>
        <p:spPr>
          <a:xfrm>
            <a:off x="9113520" y="3329940"/>
            <a:ext cx="22860" cy="342900"/>
          </a:xfrm>
          <a:prstGeom prst="rect">
            <a:avLst/>
          </a:prstGeom>
          <a:solidFill>
            <a:srgbClr val="858DB7"/>
          </a:solidFill>
          <a:ln>
            <a:noFill/>
          </a:ln>
        </p:spPr>
      </p:sp>
      <p:sp>
        <p:nvSpPr>
          <p:cNvPr id="62" name="Shape 62"/>
          <p:cNvSpPr txBox="1"/>
          <p:nvPr/>
        </p:nvSpPr>
        <p:spPr>
          <a:xfrm>
            <a:off x="9014460" y="35433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8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⌄</a:t>
            </a:r>
            <a:endParaRPr lang="pt-BR" sz="1800"/>
          </a:p>
        </p:txBody>
      </p:sp>
      <p:sp>
        <p:nvSpPr>
          <p:cNvPr id="63" name="Shape 63"/>
          <p:cNvSpPr txBox="1"/>
          <p:nvPr/>
        </p:nvSpPr>
        <p:spPr>
          <a:xfrm>
            <a:off x="731520" y="7239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MINICURSO  ·  INSTITUTO FEDERAL  ·  UBERLÂNDIA</a:t>
            </a:r>
            <a:endParaRPr lang="pt-BR" sz="1350"/>
          </a:p>
        </p:txBody>
      </p:sp>
      <p:sp>
        <p:nvSpPr>
          <p:cNvPr id="64" name="Shape 64"/>
          <p:cNvSpPr txBox="1"/>
          <p:nvPr/>
        </p:nvSpPr>
        <p:spPr>
          <a:xfrm>
            <a:off x="731520" y="1767840"/>
            <a:ext cx="6477000" cy="1432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pt-BR" sz="57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Estruturas de dados</a:t>
            </a:r>
            <a:endParaRPr lang="pt-BR" sz="5700"/>
          </a:p>
          <a:p>
            <a:pPr algn="l">
              <a:lnSpc>
                <a:spcPct val="100000"/>
              </a:lnSpc>
            </a:pPr>
            <a:r>
              <a:rPr lang="pt-BR" sz="57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no mundo real</a:t>
            </a:r>
            <a:endParaRPr lang="pt-BR" sz="5700"/>
          </a:p>
        </p:txBody>
      </p:sp>
      <p:sp>
        <p:nvSpPr>
          <p:cNvPr id="65" name="Shape 65"/>
          <p:cNvSpPr txBox="1"/>
          <p:nvPr/>
        </p:nvSpPr>
        <p:spPr>
          <a:xfrm>
            <a:off x="762000" y="3390900"/>
            <a:ext cx="6019800" cy="701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22000"/>
              </a:lnSpc>
            </a:pPr>
            <a:r>
              <a:rPr lang="pt-BR" sz="21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Do backlog à busca por similaridade —</a:t>
            </a:r>
            <a:endParaRPr lang="pt-BR" sz="2175"/>
          </a:p>
          <a:p>
            <a:pPr algn="l">
              <a:lnSpc>
                <a:spcPct val="122000"/>
              </a:lnSpc>
            </a:pPr>
            <a:r>
              <a:rPr lang="pt-BR" sz="21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com exemplos de sistemas corporativos.</a:t>
            </a:r>
            <a:endParaRPr lang="pt-BR" sz="2175"/>
          </a:p>
        </p:txBody>
      </p:sp>
      <p:sp>
        <p:nvSpPr>
          <p:cNvPr id="66" name="Shape 66"/>
          <p:cNvSpPr/>
          <p:nvPr/>
        </p:nvSpPr>
        <p:spPr>
          <a:xfrm>
            <a:off x="762000" y="4640580"/>
            <a:ext cx="4191000" cy="1524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67" name="Shape 67"/>
          <p:cNvSpPr txBox="1"/>
          <p:nvPr/>
        </p:nvSpPr>
        <p:spPr>
          <a:xfrm>
            <a:off x="762000" y="49225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21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SOLANGE BRASILEIRO</a:t>
            </a:r>
            <a:endParaRPr lang="pt-BR" sz="2175"/>
          </a:p>
        </p:txBody>
      </p:sp>
      <p:sp>
        <p:nvSpPr>
          <p:cNvPr id="68" name="Shape 68"/>
          <p:cNvSpPr txBox="1"/>
          <p:nvPr/>
        </p:nvSpPr>
        <p:spPr>
          <a:xfrm>
            <a:off x="762000" y="5303520"/>
            <a:ext cx="5486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Software Engineer  ·  Banco Bradesco  ·  BIA Tech</a:t>
            </a:r>
            <a:endParaRPr lang="pt-BR" sz="1575"/>
          </a:p>
        </p:txBody>
      </p:sp>
      <p:sp>
        <p:nvSpPr>
          <p:cNvPr id="69" name="Shape 69"/>
          <p:cNvSpPr txBox="1"/>
          <p:nvPr/>
        </p:nvSpPr>
        <p:spPr>
          <a:xfrm>
            <a:off x="762000" y="6225540"/>
            <a:ext cx="47244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FUNDAMENTOS  →  SISTEMAS  →  IA</a:t>
            </a:r>
            <a:endParaRPr lang="pt-BR" sz="1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1582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9601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QUEM CONDUZ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Solange Brasileiro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Fundamentos de computação ligados aos desafios de sistemas corporativos.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02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18360"/>
            <a:ext cx="3276600" cy="33375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1455420" y="2301240"/>
            <a:ext cx="1828800" cy="2118360"/>
          </a:xfrm>
          <a:prstGeom prst="roundRect">
            <a:avLst/>
          </a:prstGeom>
          <a:solidFill>
            <a:srgbClr val="191D49"/>
          </a:solidFill>
          <a:ln w="15240">
            <a:solidFill>
              <a:srgbClr val="59D6C5"/>
            </a:solidFill>
          </a:ln>
        </p:spPr>
      </p:sp>
      <p:pic>
        <p:nvPicPr>
          <p:cNvPr id="18" name="Foto de Solange" descr="Retrato da ministrante"/>
          <p:cNvPicPr>
            <a:picLocks noChangeAspect="1"/>
          </p:cNvPicPr>
          <p:nvPr/>
        </p:nvPicPr>
        <p:blipFill>
          <a:blip r:embed="rId2"/>
          <a:srcRect l="6835" r="6835" t="0" b="0"/>
          <a:stretch>
            <a:fillRect/>
          </a:stretch>
        </p:blipFill>
        <p:spPr>
          <a:xfrm>
            <a:off x="1455420" y="2301240"/>
            <a:ext cx="1828800" cy="2118360"/>
          </a:xfrm>
          <a:prstGeom prst="roundRect">
            <a:avLst/>
          </a:prstGeom>
          <a:ln>
            <a:solidFill>
              <a:srgbClr val="59D6C5"/>
            </a:solidFill>
            <a:prstDash val="solid"/>
          </a:ln>
        </p:spPr>
      </p:pic>
      <p:sp>
        <p:nvSpPr>
          <p:cNvPr id="19" name="Shape 19"/>
          <p:cNvSpPr txBox="1"/>
          <p:nvPr/>
        </p:nvSpPr>
        <p:spPr>
          <a:xfrm>
            <a:off x="1036320" y="4617720"/>
            <a:ext cx="266700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SOLANGE BRASILEIRO</a:t>
            </a:r>
            <a:endParaRPr lang="pt-BR" sz="1875"/>
          </a:p>
        </p:txBody>
      </p:sp>
      <p:sp>
        <p:nvSpPr>
          <p:cNvPr id="20" name="Shape 20"/>
          <p:cNvSpPr txBox="1"/>
          <p:nvPr/>
        </p:nvSpPr>
        <p:spPr>
          <a:xfrm>
            <a:off x="1036320" y="4960620"/>
            <a:ext cx="2667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Software Engineer · Banco Bradesco</a:t>
            </a:r>
            <a:endParaRPr lang="pt-BR" sz="1275"/>
          </a:p>
        </p:txBody>
      </p:sp>
      <p:sp>
        <p:nvSpPr>
          <p:cNvPr id="21" name="Shape 21"/>
          <p:cNvSpPr/>
          <p:nvPr/>
        </p:nvSpPr>
        <p:spPr>
          <a:xfrm>
            <a:off x="1767840" y="5189220"/>
            <a:ext cx="120396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22" name="Shape 22"/>
          <p:cNvSpPr txBox="1"/>
          <p:nvPr/>
        </p:nvSpPr>
        <p:spPr>
          <a:xfrm>
            <a:off x="1866900" y="52044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BIA TECH</a:t>
            </a:r>
            <a:endParaRPr lang="pt-BR" sz="1200"/>
          </a:p>
        </p:txBody>
      </p:sp>
      <p:sp>
        <p:nvSpPr>
          <p:cNvPr id="23" name="Shape 23"/>
          <p:cNvSpPr/>
          <p:nvPr/>
        </p:nvSpPr>
        <p:spPr>
          <a:xfrm>
            <a:off x="4381500" y="2118360"/>
            <a:ext cx="3276600" cy="15544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4" name="Shape 24"/>
          <p:cNvSpPr/>
          <p:nvPr/>
        </p:nvSpPr>
        <p:spPr>
          <a:xfrm>
            <a:off x="4381500" y="2118360"/>
            <a:ext cx="60960" cy="155448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25" name="Shape 25"/>
          <p:cNvSpPr txBox="1"/>
          <p:nvPr/>
        </p:nvSpPr>
        <p:spPr>
          <a:xfrm>
            <a:off x="4594860" y="2286000"/>
            <a:ext cx="285750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ATUAÇÃO</a:t>
            </a:r>
            <a:endParaRPr lang="pt-BR" sz="1125"/>
          </a:p>
        </p:txBody>
      </p:sp>
      <p:sp>
        <p:nvSpPr>
          <p:cNvPr id="26" name="Shape 26"/>
          <p:cNvSpPr txBox="1"/>
          <p:nvPr/>
        </p:nvSpPr>
        <p:spPr>
          <a:xfrm>
            <a:off x="4594860" y="2522220"/>
            <a:ext cx="2857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18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Backend e sistemas distribuídos</a:t>
            </a:r>
            <a:endParaRPr lang="pt-BR" sz="1800"/>
          </a:p>
        </p:txBody>
      </p:sp>
      <p:sp>
        <p:nvSpPr>
          <p:cNvPr id="27" name="Shape 27"/>
          <p:cNvSpPr txBox="1"/>
          <p:nvPr/>
        </p:nvSpPr>
        <p:spPr>
          <a:xfrm>
            <a:off x="4594860" y="2994660"/>
            <a:ext cx="2857500" cy="556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Decisões de dados e fluxo entre serviços.</a:t>
            </a:r>
            <a:endParaRPr lang="pt-BR" sz="1350"/>
          </a:p>
        </p:txBody>
      </p:sp>
      <p:sp>
        <p:nvSpPr>
          <p:cNvPr id="28" name="Shape 28"/>
          <p:cNvSpPr/>
          <p:nvPr/>
        </p:nvSpPr>
        <p:spPr>
          <a:xfrm>
            <a:off x="7848600" y="2118360"/>
            <a:ext cx="3611880" cy="15544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9" name="Shape 29"/>
          <p:cNvSpPr/>
          <p:nvPr/>
        </p:nvSpPr>
        <p:spPr>
          <a:xfrm>
            <a:off x="7848600" y="2118360"/>
            <a:ext cx="60960" cy="155448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30" name="Shape 30"/>
          <p:cNvSpPr txBox="1"/>
          <p:nvPr/>
        </p:nvSpPr>
        <p:spPr>
          <a:xfrm>
            <a:off x="8061960" y="2286000"/>
            <a:ext cx="319278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FOCO</a:t>
            </a:r>
            <a:endParaRPr lang="pt-BR" sz="1125"/>
          </a:p>
        </p:txBody>
      </p:sp>
      <p:sp>
        <p:nvSpPr>
          <p:cNvPr id="31" name="Shape 31"/>
          <p:cNvSpPr txBox="1"/>
          <p:nvPr/>
        </p:nvSpPr>
        <p:spPr>
          <a:xfrm>
            <a:off x="8061960" y="2522220"/>
            <a:ext cx="31927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IA generativa</a:t>
            </a:r>
            <a:endParaRPr lang="pt-BR" sz="1875"/>
          </a:p>
        </p:txBody>
      </p:sp>
      <p:sp>
        <p:nvSpPr>
          <p:cNvPr id="32" name="Shape 32"/>
          <p:cNvSpPr txBox="1"/>
          <p:nvPr/>
        </p:nvSpPr>
        <p:spPr>
          <a:xfrm>
            <a:off x="8061960" y="2994660"/>
            <a:ext cx="3192780" cy="556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Recuperação, contexto e uso responsável de informação.</a:t>
            </a:r>
            <a:endParaRPr lang="pt-BR" sz="1350"/>
          </a:p>
        </p:txBody>
      </p:sp>
      <p:sp>
        <p:nvSpPr>
          <p:cNvPr id="33" name="Shape 33"/>
          <p:cNvSpPr/>
          <p:nvPr/>
        </p:nvSpPr>
        <p:spPr>
          <a:xfrm>
            <a:off x="4381500" y="3886200"/>
            <a:ext cx="7078980" cy="15697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4" name="Shape 34"/>
          <p:cNvSpPr/>
          <p:nvPr/>
        </p:nvSpPr>
        <p:spPr>
          <a:xfrm>
            <a:off x="4381500" y="3886200"/>
            <a:ext cx="60960" cy="156972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35" name="Shape 35"/>
          <p:cNvSpPr txBox="1"/>
          <p:nvPr/>
        </p:nvSpPr>
        <p:spPr>
          <a:xfrm>
            <a:off x="4594860" y="4053840"/>
            <a:ext cx="665988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ESPECIALIDADE</a:t>
            </a:r>
            <a:endParaRPr lang="pt-BR" sz="1125"/>
          </a:p>
        </p:txBody>
      </p:sp>
      <p:sp>
        <p:nvSpPr>
          <p:cNvPr id="36" name="Shape 36"/>
          <p:cNvSpPr txBox="1"/>
          <p:nvPr/>
        </p:nvSpPr>
        <p:spPr>
          <a:xfrm>
            <a:off x="4594860" y="4290060"/>
            <a:ext cx="66598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20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Soluções para o pós-desenvolvimento</a:t>
            </a:r>
            <a:endParaRPr lang="pt-BR" sz="2025"/>
          </a:p>
        </p:txBody>
      </p:sp>
      <p:sp>
        <p:nvSpPr>
          <p:cNvPr id="37" name="Shape 37"/>
          <p:cNvSpPr txBox="1"/>
          <p:nvPr/>
        </p:nvSpPr>
        <p:spPr>
          <a:xfrm>
            <a:off x="4594860" y="4762500"/>
            <a:ext cx="665988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Conectar fundamentos da computação a desafios corporativos de grande escala.</a:t>
            </a:r>
            <a:endParaRPr lang="pt-BR" sz="15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MAPA DO MINICURSO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Da coleção em memória à decisão de IA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Pré-requisito: lógica básica de programação.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03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362200"/>
            <a:ext cx="3291840" cy="2438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731520" y="2362200"/>
            <a:ext cx="60960" cy="243840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18" name="Shape 18"/>
          <p:cNvSpPr txBox="1"/>
          <p:nvPr/>
        </p:nvSpPr>
        <p:spPr>
          <a:xfrm>
            <a:off x="944880" y="2529840"/>
            <a:ext cx="287274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1 · FUNDAMENTOS</a:t>
            </a:r>
            <a:endParaRPr lang="pt-BR" sz="1125"/>
          </a:p>
        </p:txBody>
      </p:sp>
      <p:sp>
        <p:nvSpPr>
          <p:cNvPr id="19" name="Shape 19"/>
          <p:cNvSpPr txBox="1"/>
          <p:nvPr/>
        </p:nvSpPr>
        <p:spPr>
          <a:xfrm>
            <a:off x="944880" y="2766060"/>
            <a:ext cx="28727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20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Organizar o trabalho</a:t>
            </a:r>
            <a:endParaRPr lang="pt-BR" sz="2025"/>
          </a:p>
        </p:txBody>
      </p:sp>
      <p:sp>
        <p:nvSpPr>
          <p:cNvPr id="20" name="Shape 20"/>
          <p:cNvSpPr txBox="1"/>
          <p:nvPr/>
        </p:nvSpPr>
        <p:spPr>
          <a:xfrm>
            <a:off x="944880" y="3238500"/>
            <a:ext cx="2872740" cy="14401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Listas e prioridade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Filas e pilhas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Mapas e árvores</a:t>
            </a:r>
            <a:endParaRPr lang="pt-BR" sz="1650"/>
          </a:p>
        </p:txBody>
      </p:sp>
      <p:sp>
        <p:nvSpPr>
          <p:cNvPr id="21" name="Shape 21"/>
          <p:cNvSpPr/>
          <p:nvPr/>
        </p:nvSpPr>
        <p:spPr>
          <a:xfrm>
            <a:off x="4328160" y="2362200"/>
            <a:ext cx="3291840" cy="2438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2" name="Shape 22"/>
          <p:cNvSpPr/>
          <p:nvPr/>
        </p:nvSpPr>
        <p:spPr>
          <a:xfrm>
            <a:off x="4328160" y="2362200"/>
            <a:ext cx="60960" cy="24384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4541520" y="2529840"/>
            <a:ext cx="287274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2 · SISTEMAS</a:t>
            </a:r>
            <a:endParaRPr lang="pt-BR" sz="1125"/>
          </a:p>
        </p:txBody>
      </p:sp>
      <p:sp>
        <p:nvSpPr>
          <p:cNvPr id="24" name="Shape 24"/>
          <p:cNvSpPr txBox="1"/>
          <p:nvPr/>
        </p:nvSpPr>
        <p:spPr>
          <a:xfrm>
            <a:off x="4541520" y="2766060"/>
            <a:ext cx="28727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20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Conectar componentes</a:t>
            </a:r>
            <a:endParaRPr lang="pt-BR" sz="2025"/>
          </a:p>
        </p:txBody>
      </p:sp>
      <p:sp>
        <p:nvSpPr>
          <p:cNvPr id="25" name="Shape 25"/>
          <p:cNvSpPr txBox="1"/>
          <p:nvPr/>
        </p:nvSpPr>
        <p:spPr>
          <a:xfrm>
            <a:off x="4541520" y="3238500"/>
            <a:ext cx="2872740" cy="14401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Mensageria e eventos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Grafos de dependência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Busca e observabilidade</a:t>
            </a:r>
            <a:endParaRPr lang="pt-BR" sz="1650"/>
          </a:p>
        </p:txBody>
      </p:sp>
      <p:sp>
        <p:nvSpPr>
          <p:cNvPr id="26" name="Shape 26"/>
          <p:cNvSpPr/>
          <p:nvPr/>
        </p:nvSpPr>
        <p:spPr>
          <a:xfrm>
            <a:off x="7924800" y="2362200"/>
            <a:ext cx="3291840" cy="2438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7" name="Shape 27"/>
          <p:cNvSpPr/>
          <p:nvPr/>
        </p:nvSpPr>
        <p:spPr>
          <a:xfrm>
            <a:off x="7924800" y="2362200"/>
            <a:ext cx="60960" cy="243840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28" name="Shape 28"/>
          <p:cNvSpPr txBox="1"/>
          <p:nvPr/>
        </p:nvSpPr>
        <p:spPr>
          <a:xfrm>
            <a:off x="8138160" y="2529840"/>
            <a:ext cx="287274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3 · IA APLICADA</a:t>
            </a:r>
            <a:endParaRPr lang="pt-BR" sz="1125"/>
          </a:p>
        </p:txBody>
      </p:sp>
      <p:sp>
        <p:nvSpPr>
          <p:cNvPr id="29" name="Shape 29"/>
          <p:cNvSpPr txBox="1"/>
          <p:nvPr/>
        </p:nvSpPr>
        <p:spPr>
          <a:xfrm>
            <a:off x="8138160" y="2766060"/>
            <a:ext cx="28727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20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Comparar e agrupar</a:t>
            </a:r>
            <a:endParaRPr lang="pt-BR" sz="2025"/>
          </a:p>
        </p:txBody>
      </p:sp>
      <p:sp>
        <p:nvSpPr>
          <p:cNvPr id="30" name="Shape 30"/>
          <p:cNvSpPr txBox="1"/>
          <p:nvPr/>
        </p:nvSpPr>
        <p:spPr>
          <a:xfrm>
            <a:off x="8138160" y="3238500"/>
            <a:ext cx="2872740" cy="14401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Vetores e cosseno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RAG com recuperação lexical</a:t>
            </a:r>
            <a:endParaRPr lang="pt-BR" sz="1650"/>
          </a:p>
          <a:p>
            <a:pPr algn="l">
              <a:lnSpc>
                <a:spcPct val="118000"/>
              </a:lnSpc>
            </a:pPr>
            <a:r>
              <a:rPr lang="pt-BR" sz="16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HDBSCAN por etapas</a:t>
            </a:r>
            <a:endParaRPr lang="pt-BR" sz="1650"/>
          </a:p>
        </p:txBody>
      </p:sp>
      <p:sp>
        <p:nvSpPr>
          <p:cNvPr id="31" name="Shape 31"/>
          <p:cNvSpPr txBox="1"/>
          <p:nvPr/>
        </p:nvSpPr>
        <p:spPr>
          <a:xfrm>
            <a:off x="731520" y="5196840"/>
            <a:ext cx="1072896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8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Em cada tema: problema  →  estrutura  →  operação  →  resultado  →  limite</a:t>
            </a:r>
            <a:endParaRPr lang="pt-BR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4630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264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ANTES DO CÓDIGO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Qual operação precisa ser simples e previsível?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regra de acesso orienta a estrutura; o cenário orienta a regra.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04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240280"/>
            <a:ext cx="5181600" cy="14020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914400" y="2407920"/>
            <a:ext cx="381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1013460" y="2423160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01</a:t>
            </a:r>
            <a:endParaRPr lang="pt-BR" sz="1200"/>
          </a:p>
        </p:txBody>
      </p:sp>
      <p:sp>
        <p:nvSpPr>
          <p:cNvPr id="19" name="Shape 19"/>
          <p:cNvSpPr txBox="1"/>
          <p:nvPr/>
        </p:nvSpPr>
        <p:spPr>
          <a:xfrm>
            <a:off x="1463040" y="2407920"/>
            <a:ext cx="4152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CHEGOU PRIMEIRO</a:t>
            </a:r>
            <a:endParaRPr lang="pt-BR" sz="1275"/>
          </a:p>
        </p:txBody>
      </p:sp>
      <p:sp>
        <p:nvSpPr>
          <p:cNvPr id="20" name="Shape 20"/>
          <p:cNvSpPr txBox="1"/>
          <p:nvPr/>
        </p:nvSpPr>
        <p:spPr>
          <a:xfrm>
            <a:off x="1463040" y="2712720"/>
            <a:ext cx="41529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retirar na mesma ordem</a:t>
            </a:r>
            <a:endParaRPr lang="pt-BR" sz="1875"/>
          </a:p>
        </p:txBody>
      </p:sp>
      <p:sp>
        <p:nvSpPr>
          <p:cNvPr id="21" name="Shape 21"/>
          <p:cNvSpPr txBox="1"/>
          <p:nvPr/>
        </p:nvSpPr>
        <p:spPr>
          <a:xfrm>
            <a:off x="1463040" y="3147060"/>
            <a:ext cx="415290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Queue · FIFO</a:t>
            </a:r>
            <a:endParaRPr lang="pt-BR" sz="1500"/>
          </a:p>
        </p:txBody>
      </p:sp>
      <p:sp>
        <p:nvSpPr>
          <p:cNvPr id="22" name="Shape 22"/>
          <p:cNvSpPr/>
          <p:nvPr/>
        </p:nvSpPr>
        <p:spPr>
          <a:xfrm>
            <a:off x="6278880" y="2240280"/>
            <a:ext cx="5181600" cy="14020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3" name="Shape 23"/>
          <p:cNvSpPr/>
          <p:nvPr/>
        </p:nvSpPr>
        <p:spPr>
          <a:xfrm>
            <a:off x="6461760" y="2407920"/>
            <a:ext cx="381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4" name="Shape 24"/>
          <p:cNvSpPr txBox="1"/>
          <p:nvPr/>
        </p:nvSpPr>
        <p:spPr>
          <a:xfrm>
            <a:off x="6560820" y="2423160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02</a:t>
            </a:r>
            <a:endParaRPr lang="pt-BR" sz="1200"/>
          </a:p>
        </p:txBody>
      </p:sp>
      <p:sp>
        <p:nvSpPr>
          <p:cNvPr id="25" name="Shape 25"/>
          <p:cNvSpPr txBox="1"/>
          <p:nvPr/>
        </p:nvSpPr>
        <p:spPr>
          <a:xfrm>
            <a:off x="7010400" y="2407920"/>
            <a:ext cx="4152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QUAL É O ID?</a:t>
            </a:r>
            <a:endParaRPr lang="pt-BR" sz="1275"/>
          </a:p>
        </p:txBody>
      </p:sp>
      <p:sp>
        <p:nvSpPr>
          <p:cNvPr id="26" name="Shape 26"/>
          <p:cNvSpPr txBox="1"/>
          <p:nvPr/>
        </p:nvSpPr>
        <p:spPr>
          <a:xfrm>
            <a:off x="7010400" y="2712720"/>
            <a:ext cx="41529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achar sem varrer a lista</a:t>
            </a:r>
            <a:endParaRPr lang="pt-BR" sz="1875"/>
          </a:p>
        </p:txBody>
      </p:sp>
      <p:sp>
        <p:nvSpPr>
          <p:cNvPr id="27" name="Shape 27"/>
          <p:cNvSpPr txBox="1"/>
          <p:nvPr/>
        </p:nvSpPr>
        <p:spPr>
          <a:xfrm>
            <a:off x="7010400" y="3147060"/>
            <a:ext cx="415290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HashMap · chave → valor</a:t>
            </a:r>
            <a:endParaRPr lang="pt-BR" sz="1500"/>
          </a:p>
        </p:txBody>
      </p:sp>
      <p:sp>
        <p:nvSpPr>
          <p:cNvPr id="28" name="Shape 28"/>
          <p:cNvSpPr/>
          <p:nvPr/>
        </p:nvSpPr>
        <p:spPr>
          <a:xfrm>
            <a:off x="731520" y="3855720"/>
            <a:ext cx="5181600" cy="14020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9" name="Shape 29"/>
          <p:cNvSpPr/>
          <p:nvPr/>
        </p:nvSpPr>
        <p:spPr>
          <a:xfrm>
            <a:off x="914400" y="4023360"/>
            <a:ext cx="381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30" name="Shape 30"/>
          <p:cNvSpPr txBox="1"/>
          <p:nvPr/>
        </p:nvSpPr>
        <p:spPr>
          <a:xfrm>
            <a:off x="1013460" y="4038600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03</a:t>
            </a:r>
            <a:endParaRPr lang="pt-BR" sz="1200"/>
          </a:p>
        </p:txBody>
      </p:sp>
      <p:sp>
        <p:nvSpPr>
          <p:cNvPr id="31" name="Shape 31"/>
          <p:cNvSpPr txBox="1"/>
          <p:nvPr/>
        </p:nvSpPr>
        <p:spPr>
          <a:xfrm>
            <a:off x="1463040" y="4023360"/>
            <a:ext cx="4152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QUAL É A JANELA?</a:t>
            </a:r>
            <a:endParaRPr lang="pt-BR" sz="1275"/>
          </a:p>
        </p:txBody>
      </p:sp>
      <p:sp>
        <p:nvSpPr>
          <p:cNvPr id="32" name="Shape 32"/>
          <p:cNvSpPr txBox="1"/>
          <p:nvPr/>
        </p:nvSpPr>
        <p:spPr>
          <a:xfrm>
            <a:off x="1463040" y="4328160"/>
            <a:ext cx="41529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percorrer do início ao fim</a:t>
            </a:r>
            <a:endParaRPr lang="pt-BR" sz="1875"/>
          </a:p>
        </p:txBody>
      </p:sp>
      <p:sp>
        <p:nvSpPr>
          <p:cNvPr id="33" name="Shape 33"/>
          <p:cNvSpPr txBox="1"/>
          <p:nvPr/>
        </p:nvSpPr>
        <p:spPr>
          <a:xfrm>
            <a:off x="1463040" y="4762500"/>
            <a:ext cx="415290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TreeMap · subMap</a:t>
            </a:r>
            <a:endParaRPr lang="pt-BR" sz="1500"/>
          </a:p>
        </p:txBody>
      </p:sp>
      <p:sp>
        <p:nvSpPr>
          <p:cNvPr id="34" name="Shape 34"/>
          <p:cNvSpPr/>
          <p:nvPr/>
        </p:nvSpPr>
        <p:spPr>
          <a:xfrm>
            <a:off x="6278880" y="3855720"/>
            <a:ext cx="5181600" cy="14020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5" name="Shape 35"/>
          <p:cNvSpPr/>
          <p:nvPr/>
        </p:nvSpPr>
        <p:spPr>
          <a:xfrm>
            <a:off x="6461760" y="4023360"/>
            <a:ext cx="381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B2DF78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6560820" y="4038600"/>
            <a:ext cx="182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04</a:t>
            </a:r>
            <a:endParaRPr lang="pt-BR" sz="1200"/>
          </a:p>
        </p:txBody>
      </p:sp>
      <p:sp>
        <p:nvSpPr>
          <p:cNvPr id="37" name="Shape 37"/>
          <p:cNvSpPr txBox="1"/>
          <p:nvPr/>
        </p:nvSpPr>
        <p:spPr>
          <a:xfrm>
            <a:off x="7010400" y="4023360"/>
            <a:ext cx="4152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QUEM DEPENDE DE QUEM?</a:t>
            </a:r>
            <a:endParaRPr lang="pt-BR" sz="1275"/>
          </a:p>
        </p:txBody>
      </p:sp>
      <p:sp>
        <p:nvSpPr>
          <p:cNvPr id="38" name="Shape 38"/>
          <p:cNvSpPr txBox="1"/>
          <p:nvPr/>
        </p:nvSpPr>
        <p:spPr>
          <a:xfrm>
            <a:off x="7010400" y="4328160"/>
            <a:ext cx="41529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seguir conexões direcionadas</a:t>
            </a:r>
            <a:endParaRPr lang="pt-BR" sz="1875"/>
          </a:p>
        </p:txBody>
      </p:sp>
      <p:sp>
        <p:nvSpPr>
          <p:cNvPr id="39" name="Shape 39"/>
          <p:cNvSpPr txBox="1"/>
          <p:nvPr/>
        </p:nvSpPr>
        <p:spPr>
          <a:xfrm>
            <a:off x="7010400" y="4762500"/>
            <a:ext cx="415290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Grafo · BFS / DFS</a:t>
            </a:r>
            <a:endParaRPr lang="pt-BR" sz="1500"/>
          </a:p>
        </p:txBody>
      </p:sp>
      <p:sp>
        <p:nvSpPr>
          <p:cNvPr id="40" name="Shape 40"/>
          <p:cNvSpPr txBox="1"/>
          <p:nvPr/>
        </p:nvSpPr>
        <p:spPr>
          <a:xfrm>
            <a:off x="731520" y="5684520"/>
            <a:ext cx="1072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5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Uma aplicação costuma combinar estruturas diferentes no mesmo fluxo.</a:t>
            </a:r>
            <a:endParaRPr lang="pt-BR" sz="1575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91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93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FUNDAMENTO · LISTA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Backlog e prioridade são papéis diferentes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lista conserva o conjunto; a fila de prioridade entrega o próximo chamado.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05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48840"/>
            <a:ext cx="4876800" cy="292608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60120" y="2316480"/>
            <a:ext cx="434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BACKLOG · ARRAYLIST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975360" y="2697480"/>
            <a:ext cx="472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#101</a:t>
            </a:r>
            <a:endParaRPr lang="pt-BR" sz="1500"/>
          </a:p>
        </p:txBody>
      </p:sp>
      <p:sp>
        <p:nvSpPr>
          <p:cNvPr id="19" name="Shape 19"/>
          <p:cNvSpPr txBox="1"/>
          <p:nvPr/>
        </p:nvSpPr>
        <p:spPr>
          <a:xfrm>
            <a:off x="1531620" y="2697480"/>
            <a:ext cx="853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CRÍTICA</a:t>
            </a:r>
            <a:endParaRPr lang="pt-BR" sz="1125"/>
          </a:p>
        </p:txBody>
      </p:sp>
      <p:sp>
        <p:nvSpPr>
          <p:cNvPr id="20" name="Shape 20"/>
          <p:cNvSpPr txBox="1"/>
          <p:nvPr/>
        </p:nvSpPr>
        <p:spPr>
          <a:xfrm>
            <a:off x="2446020" y="2697480"/>
            <a:ext cx="27813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Checkout retorna erro 500</a:t>
            </a:r>
            <a:endParaRPr lang="pt-BR" sz="1275"/>
          </a:p>
        </p:txBody>
      </p:sp>
      <p:sp>
        <p:nvSpPr>
          <p:cNvPr id="21" name="Shape 21"/>
          <p:cNvSpPr/>
          <p:nvPr/>
        </p:nvSpPr>
        <p:spPr>
          <a:xfrm>
            <a:off x="960120" y="311658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2" name="Shape 22"/>
          <p:cNvSpPr txBox="1"/>
          <p:nvPr/>
        </p:nvSpPr>
        <p:spPr>
          <a:xfrm>
            <a:off x="975360" y="3192780"/>
            <a:ext cx="472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#104</a:t>
            </a:r>
            <a:endParaRPr lang="pt-BR" sz="1500"/>
          </a:p>
        </p:txBody>
      </p:sp>
      <p:sp>
        <p:nvSpPr>
          <p:cNvPr id="23" name="Shape 23"/>
          <p:cNvSpPr txBox="1"/>
          <p:nvPr/>
        </p:nvSpPr>
        <p:spPr>
          <a:xfrm>
            <a:off x="1531620" y="3192780"/>
            <a:ext cx="853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CRÍTICA</a:t>
            </a:r>
            <a:endParaRPr lang="pt-BR" sz="1125"/>
          </a:p>
        </p:txBody>
      </p:sp>
      <p:sp>
        <p:nvSpPr>
          <p:cNvPr id="24" name="Shape 24"/>
          <p:cNvSpPr txBox="1"/>
          <p:nvPr/>
        </p:nvSpPr>
        <p:spPr>
          <a:xfrm>
            <a:off x="2446020" y="3192780"/>
            <a:ext cx="27813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Login bloqueado</a:t>
            </a:r>
            <a:endParaRPr lang="pt-BR" sz="1275"/>
          </a:p>
        </p:txBody>
      </p:sp>
      <p:sp>
        <p:nvSpPr>
          <p:cNvPr id="25" name="Shape 25"/>
          <p:cNvSpPr/>
          <p:nvPr/>
        </p:nvSpPr>
        <p:spPr>
          <a:xfrm>
            <a:off x="960120" y="361188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6" name="Shape 26"/>
          <p:cNvSpPr txBox="1"/>
          <p:nvPr/>
        </p:nvSpPr>
        <p:spPr>
          <a:xfrm>
            <a:off x="975360" y="3688080"/>
            <a:ext cx="472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#106</a:t>
            </a:r>
            <a:endParaRPr lang="pt-BR" sz="1500"/>
          </a:p>
        </p:txBody>
      </p:sp>
      <p:sp>
        <p:nvSpPr>
          <p:cNvPr id="27" name="Shape 27"/>
          <p:cNvSpPr txBox="1"/>
          <p:nvPr/>
        </p:nvSpPr>
        <p:spPr>
          <a:xfrm>
            <a:off x="1531620" y="3688080"/>
            <a:ext cx="853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ALTA</a:t>
            </a:r>
            <a:endParaRPr lang="pt-BR" sz="1125"/>
          </a:p>
        </p:txBody>
      </p:sp>
      <p:sp>
        <p:nvSpPr>
          <p:cNvPr id="28" name="Shape 28"/>
          <p:cNvSpPr txBox="1"/>
          <p:nvPr/>
        </p:nvSpPr>
        <p:spPr>
          <a:xfrm>
            <a:off x="2446020" y="3688080"/>
            <a:ext cx="27813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Lentidão no frete</a:t>
            </a:r>
            <a:endParaRPr lang="pt-BR" sz="1275"/>
          </a:p>
        </p:txBody>
      </p:sp>
      <p:sp>
        <p:nvSpPr>
          <p:cNvPr id="29" name="Shape 29"/>
          <p:cNvSpPr/>
          <p:nvPr/>
        </p:nvSpPr>
        <p:spPr>
          <a:xfrm>
            <a:off x="960120" y="410718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30" name="Shape 30"/>
          <p:cNvSpPr txBox="1"/>
          <p:nvPr/>
        </p:nvSpPr>
        <p:spPr>
          <a:xfrm>
            <a:off x="975360" y="4183380"/>
            <a:ext cx="472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5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#102</a:t>
            </a:r>
            <a:endParaRPr lang="pt-BR" sz="1500"/>
          </a:p>
        </p:txBody>
      </p:sp>
      <p:sp>
        <p:nvSpPr>
          <p:cNvPr id="31" name="Shape 31"/>
          <p:cNvSpPr txBox="1"/>
          <p:nvPr/>
        </p:nvSpPr>
        <p:spPr>
          <a:xfrm>
            <a:off x="1531620" y="4183380"/>
            <a:ext cx="85344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BAIXA</a:t>
            </a:r>
            <a:endParaRPr lang="pt-BR" sz="1125"/>
          </a:p>
        </p:txBody>
      </p:sp>
      <p:sp>
        <p:nvSpPr>
          <p:cNvPr id="32" name="Shape 32"/>
          <p:cNvSpPr txBox="1"/>
          <p:nvPr/>
        </p:nvSpPr>
        <p:spPr>
          <a:xfrm>
            <a:off x="2446020" y="4183380"/>
            <a:ext cx="27813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Texto da página de ajuda</a:t>
            </a:r>
            <a:endParaRPr lang="pt-BR" sz="1275"/>
          </a:p>
        </p:txBody>
      </p:sp>
      <p:sp>
        <p:nvSpPr>
          <p:cNvPr id="33" name="Shape 33"/>
          <p:cNvSpPr/>
          <p:nvPr/>
        </p:nvSpPr>
        <p:spPr>
          <a:xfrm>
            <a:off x="5882640" y="2148840"/>
            <a:ext cx="5577840" cy="292608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4" name="Shape 34"/>
          <p:cNvSpPr txBox="1"/>
          <p:nvPr/>
        </p:nvSpPr>
        <p:spPr>
          <a:xfrm>
            <a:off x="6141720" y="231648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PRÓXIMOS · PRIORITYQUEUE</a:t>
            </a:r>
            <a:endParaRPr lang="pt-BR" sz="1200"/>
          </a:p>
        </p:txBody>
      </p:sp>
      <p:sp>
        <p:nvSpPr>
          <p:cNvPr id="35" name="Shape 35"/>
          <p:cNvSpPr txBox="1"/>
          <p:nvPr/>
        </p:nvSpPr>
        <p:spPr>
          <a:xfrm>
            <a:off x="6141720" y="2674620"/>
            <a:ext cx="4953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CRÍTICA primeiro; ID desempata</a:t>
            </a:r>
            <a:endParaRPr lang="pt-BR" sz="1725"/>
          </a:p>
        </p:txBody>
      </p:sp>
      <p:sp>
        <p:nvSpPr>
          <p:cNvPr id="36" name="Shape 36"/>
          <p:cNvSpPr/>
          <p:nvPr/>
        </p:nvSpPr>
        <p:spPr>
          <a:xfrm>
            <a:off x="6141720" y="3162300"/>
            <a:ext cx="1447800" cy="5791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7" name="Shape 37"/>
          <p:cNvSpPr txBox="1"/>
          <p:nvPr/>
        </p:nvSpPr>
        <p:spPr>
          <a:xfrm>
            <a:off x="6217920" y="3215640"/>
            <a:ext cx="24384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</a:t>
            </a:r>
            <a:endParaRPr lang="pt-BR" sz="1200"/>
          </a:p>
        </p:txBody>
      </p:sp>
      <p:sp>
        <p:nvSpPr>
          <p:cNvPr id="38" name="Shape 38"/>
          <p:cNvSpPr txBox="1"/>
          <p:nvPr/>
        </p:nvSpPr>
        <p:spPr>
          <a:xfrm>
            <a:off x="6492240" y="3215640"/>
            <a:ext cx="1021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#101 · checkout</a:t>
            </a:r>
            <a:endParaRPr lang="pt-BR" sz="1200"/>
          </a:p>
        </p:txBody>
      </p:sp>
      <p:sp>
        <p:nvSpPr>
          <p:cNvPr id="39" name="Shape 39"/>
          <p:cNvSpPr/>
          <p:nvPr/>
        </p:nvSpPr>
        <p:spPr>
          <a:xfrm>
            <a:off x="7749540" y="3162300"/>
            <a:ext cx="1447800" cy="5791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40" name="Shape 40"/>
          <p:cNvSpPr txBox="1"/>
          <p:nvPr/>
        </p:nvSpPr>
        <p:spPr>
          <a:xfrm>
            <a:off x="7825740" y="3215640"/>
            <a:ext cx="24384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2</a:t>
            </a:r>
            <a:endParaRPr lang="pt-BR" sz="1200"/>
          </a:p>
        </p:txBody>
      </p:sp>
      <p:sp>
        <p:nvSpPr>
          <p:cNvPr id="41" name="Shape 41"/>
          <p:cNvSpPr txBox="1"/>
          <p:nvPr/>
        </p:nvSpPr>
        <p:spPr>
          <a:xfrm>
            <a:off x="8100060" y="3215640"/>
            <a:ext cx="1021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#104 · login</a:t>
            </a:r>
            <a:endParaRPr lang="pt-BR" sz="1200"/>
          </a:p>
        </p:txBody>
      </p:sp>
      <p:sp>
        <p:nvSpPr>
          <p:cNvPr id="42" name="Shape 42"/>
          <p:cNvSpPr/>
          <p:nvPr/>
        </p:nvSpPr>
        <p:spPr>
          <a:xfrm>
            <a:off x="9357360" y="3162300"/>
            <a:ext cx="1447800" cy="5791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F4BA58"/>
            </a:solidFill>
          </a:ln>
        </p:spPr>
      </p:sp>
      <p:sp>
        <p:nvSpPr>
          <p:cNvPr id="43" name="Shape 43"/>
          <p:cNvSpPr txBox="1"/>
          <p:nvPr/>
        </p:nvSpPr>
        <p:spPr>
          <a:xfrm>
            <a:off x="9433560" y="3215640"/>
            <a:ext cx="24384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3</a:t>
            </a:r>
            <a:endParaRPr lang="pt-BR" sz="1200"/>
          </a:p>
        </p:txBody>
      </p:sp>
      <p:sp>
        <p:nvSpPr>
          <p:cNvPr id="44" name="Shape 44"/>
          <p:cNvSpPr txBox="1"/>
          <p:nvPr/>
        </p:nvSpPr>
        <p:spPr>
          <a:xfrm>
            <a:off x="9707880" y="3215640"/>
            <a:ext cx="10210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#107 · autenticação</a:t>
            </a:r>
            <a:endParaRPr lang="pt-BR" sz="1200"/>
          </a:p>
        </p:txBody>
      </p:sp>
      <p:sp>
        <p:nvSpPr>
          <p:cNvPr id="45" name="Shape 45"/>
          <p:cNvSpPr txBox="1"/>
          <p:nvPr/>
        </p:nvSpPr>
        <p:spPr>
          <a:xfrm>
            <a:off x="6141720" y="3977640"/>
            <a:ext cx="48006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 incidente #107 chega durante o plantão e entra na ordem pela mesma regra.</a:t>
            </a:r>
            <a:endParaRPr lang="pt-BR" sz="1350"/>
          </a:p>
        </p:txBody>
      </p:sp>
      <p:sp>
        <p:nvSpPr>
          <p:cNvPr id="46" name="Shape 46"/>
          <p:cNvSpPr/>
          <p:nvPr/>
        </p:nvSpPr>
        <p:spPr>
          <a:xfrm>
            <a:off x="6141720" y="4526280"/>
            <a:ext cx="9906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47" name="Shape 47"/>
          <p:cNvSpPr txBox="1"/>
          <p:nvPr/>
        </p:nvSpPr>
        <p:spPr>
          <a:xfrm>
            <a:off x="6240780" y="4541520"/>
            <a:ext cx="79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peek · olhar</a:t>
            </a:r>
            <a:endParaRPr lang="pt-BR" sz="1200"/>
          </a:p>
        </p:txBody>
      </p:sp>
      <p:sp>
        <p:nvSpPr>
          <p:cNvPr id="48" name="Shape 48"/>
          <p:cNvSpPr/>
          <p:nvPr/>
        </p:nvSpPr>
        <p:spPr>
          <a:xfrm>
            <a:off x="7223760" y="4526280"/>
            <a:ext cx="9906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49" name="Shape 49"/>
          <p:cNvSpPr txBox="1"/>
          <p:nvPr/>
        </p:nvSpPr>
        <p:spPr>
          <a:xfrm>
            <a:off x="7322820" y="4541520"/>
            <a:ext cx="79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poll · retirar</a:t>
            </a:r>
            <a:endParaRPr lang="pt-BR" sz="1200"/>
          </a:p>
        </p:txBody>
      </p:sp>
      <p:sp>
        <p:nvSpPr>
          <p:cNvPr id="50" name="Shape 50"/>
          <p:cNvSpPr/>
          <p:nvPr/>
        </p:nvSpPr>
        <p:spPr>
          <a:xfrm>
            <a:off x="8305800" y="4526280"/>
            <a:ext cx="164592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51" name="Shape 51"/>
          <p:cNvSpPr txBox="1"/>
          <p:nvPr/>
        </p:nvSpPr>
        <p:spPr>
          <a:xfrm>
            <a:off x="8404860" y="4541520"/>
            <a:ext cx="144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offer · enfileirar</a:t>
            </a:r>
            <a:endParaRPr lang="pt-BR" sz="1200"/>
          </a:p>
        </p:txBody>
      </p:sp>
      <p:sp>
        <p:nvSpPr>
          <p:cNvPr id="52" name="Shape 52"/>
          <p:cNvSpPr/>
          <p:nvPr/>
        </p:nvSpPr>
        <p:spPr>
          <a:xfrm>
            <a:off x="731520" y="5257800"/>
            <a:ext cx="10728960" cy="777240"/>
          </a:xfrm>
          <a:prstGeom prst="roundRect">
            <a:avLst/>
          </a:prstGeom>
          <a:solidFill>
            <a:srgbClr val="0C1029"/>
          </a:solidFill>
          <a:ln w="7620">
            <a:solidFill>
              <a:srgbClr val="3A427A"/>
            </a:solidFill>
          </a:ln>
        </p:spPr>
      </p:sp>
      <p:sp>
        <p:nvSpPr>
          <p:cNvPr id="53" name="Shape 53"/>
          <p:cNvSpPr txBox="1"/>
          <p:nvPr/>
        </p:nvSpPr>
        <p:spPr>
          <a:xfrm>
            <a:off x="899160" y="5364480"/>
            <a:ext cx="1039368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NA CONSULTA DO BACKLOG</a:t>
            </a:r>
            <a:endParaRPr lang="pt-BR" sz="1050"/>
          </a:p>
        </p:txBody>
      </p:sp>
      <p:sp>
        <p:nvSpPr>
          <p:cNvPr id="54" name="Shape 54"/>
          <p:cNvSpPr txBox="1"/>
          <p:nvPr/>
        </p:nvSpPr>
        <p:spPr>
          <a:xfrm>
            <a:off x="899160" y="5608320"/>
            <a:ext cx="1039368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2000"/>
              </a:lnSpc>
            </a:pPr>
            <a:r>
              <a:rPr lang="pt-BR" sz="157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filter(abertos)  →  sorted(prioridade, ID)  →  limit(3)</a:t>
            </a:r>
            <a:endParaRPr lang="pt-BR" sz="1575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22250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2026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FUNDAMENTO · FILA / PILHA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 posição de entrada define a próxima ação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Queue modela chegada; Deque também pode modelar o histórico de desfazer.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06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48840"/>
            <a:ext cx="5181600" cy="32766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960120" y="2339340"/>
            <a:ext cx="82296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1059180" y="2354580"/>
            <a:ext cx="624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FIFO</a:t>
            </a:r>
            <a:endParaRPr lang="pt-BR" sz="1200"/>
          </a:p>
        </p:txBody>
      </p:sp>
      <p:sp>
        <p:nvSpPr>
          <p:cNvPr id="19" name="Shape 19"/>
          <p:cNvSpPr txBox="1"/>
          <p:nvPr/>
        </p:nvSpPr>
        <p:spPr>
          <a:xfrm>
            <a:off x="1905000" y="2369820"/>
            <a:ext cx="3619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PEDIDOS NA ORDEM DE APROVAÇÃO</a:t>
            </a:r>
            <a:endParaRPr lang="pt-BR" sz="1200"/>
          </a:p>
        </p:txBody>
      </p:sp>
      <p:sp>
        <p:nvSpPr>
          <p:cNvPr id="20" name="Shape 20"/>
          <p:cNvSpPr/>
          <p:nvPr/>
        </p:nvSpPr>
        <p:spPr>
          <a:xfrm>
            <a:off x="990600" y="2971800"/>
            <a:ext cx="1257300" cy="472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1" name="Shape 21"/>
          <p:cNvSpPr txBox="1"/>
          <p:nvPr/>
        </p:nvSpPr>
        <p:spPr>
          <a:xfrm>
            <a:off x="990600" y="3017520"/>
            <a:ext cx="12573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PED-101</a:t>
            </a:r>
            <a:endParaRPr lang="pt-BR" sz="1275"/>
          </a:p>
        </p:txBody>
      </p:sp>
      <p:sp>
        <p:nvSpPr>
          <p:cNvPr id="22" name="Shape 22"/>
          <p:cNvSpPr/>
          <p:nvPr/>
        </p:nvSpPr>
        <p:spPr>
          <a:xfrm>
            <a:off x="2461260" y="2971800"/>
            <a:ext cx="1257300" cy="472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2461260" y="3017520"/>
            <a:ext cx="12573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PED-102</a:t>
            </a:r>
            <a:endParaRPr lang="pt-BR" sz="1275"/>
          </a:p>
        </p:txBody>
      </p:sp>
      <p:sp>
        <p:nvSpPr>
          <p:cNvPr id="24" name="Shape 24"/>
          <p:cNvSpPr/>
          <p:nvPr/>
        </p:nvSpPr>
        <p:spPr>
          <a:xfrm>
            <a:off x="3931920" y="2971800"/>
            <a:ext cx="1257300" cy="472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5" name="Shape 25"/>
          <p:cNvSpPr txBox="1"/>
          <p:nvPr/>
        </p:nvSpPr>
        <p:spPr>
          <a:xfrm>
            <a:off x="3931920" y="3017520"/>
            <a:ext cx="12573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PED-103</a:t>
            </a:r>
            <a:endParaRPr lang="pt-BR" sz="1275"/>
          </a:p>
        </p:txBody>
      </p:sp>
      <p:sp>
        <p:nvSpPr>
          <p:cNvPr id="26" name="Shape 26"/>
          <p:cNvSpPr txBox="1"/>
          <p:nvPr/>
        </p:nvSpPr>
        <p:spPr>
          <a:xfrm>
            <a:off x="990600" y="3566160"/>
            <a:ext cx="43434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peek() consulta  ·  poll() remove a cabeça</a:t>
            </a:r>
            <a:endParaRPr lang="pt-BR" sz="1350"/>
          </a:p>
        </p:txBody>
      </p:sp>
      <p:sp>
        <p:nvSpPr>
          <p:cNvPr id="27" name="Shape 27"/>
          <p:cNvSpPr txBox="1"/>
          <p:nvPr/>
        </p:nvSpPr>
        <p:spPr>
          <a:xfrm>
            <a:off x="990600" y="3931920"/>
            <a:ext cx="441960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PAGO  →  EM_SEPARACAO</a:t>
            </a:r>
            <a:endParaRPr lang="pt-BR" sz="1650"/>
          </a:p>
        </p:txBody>
      </p:sp>
      <p:sp>
        <p:nvSpPr>
          <p:cNvPr id="28" name="Shape 28"/>
          <p:cNvSpPr txBox="1"/>
          <p:nvPr/>
        </p:nvSpPr>
        <p:spPr>
          <a:xfrm>
            <a:off x="990600" y="4572000"/>
            <a:ext cx="441960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ArrayDeque + HashSet para evitar ID repetido.</a:t>
            </a:r>
            <a:endParaRPr lang="pt-BR" sz="1275"/>
          </a:p>
        </p:txBody>
      </p:sp>
      <p:sp>
        <p:nvSpPr>
          <p:cNvPr id="29" name="Shape 29"/>
          <p:cNvSpPr/>
          <p:nvPr/>
        </p:nvSpPr>
        <p:spPr>
          <a:xfrm>
            <a:off x="6278880" y="2148840"/>
            <a:ext cx="5181600" cy="32766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/>
          <p:nvPr/>
        </p:nvSpPr>
        <p:spPr>
          <a:xfrm>
            <a:off x="6507480" y="2339340"/>
            <a:ext cx="82296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31" name="Shape 31"/>
          <p:cNvSpPr txBox="1"/>
          <p:nvPr/>
        </p:nvSpPr>
        <p:spPr>
          <a:xfrm>
            <a:off x="6606540" y="2354580"/>
            <a:ext cx="624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LIFO</a:t>
            </a:r>
            <a:endParaRPr lang="pt-BR" sz="1200"/>
          </a:p>
        </p:txBody>
      </p:sp>
      <p:sp>
        <p:nvSpPr>
          <p:cNvPr id="32" name="Shape 32"/>
          <p:cNvSpPr txBox="1"/>
          <p:nvPr/>
        </p:nvSpPr>
        <p:spPr>
          <a:xfrm>
            <a:off x="7467600" y="2369820"/>
            <a:ext cx="3619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DESFAZER CONFIGURAÇÃO</a:t>
            </a:r>
            <a:endParaRPr lang="pt-BR" sz="1200"/>
          </a:p>
        </p:txBody>
      </p:sp>
      <p:sp>
        <p:nvSpPr>
          <p:cNvPr id="33" name="Shape 33"/>
          <p:cNvSpPr/>
          <p:nvPr/>
        </p:nvSpPr>
        <p:spPr>
          <a:xfrm>
            <a:off x="7498080" y="2880360"/>
            <a:ext cx="2819400" cy="3962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34" name="Shape 34"/>
          <p:cNvSpPr txBox="1"/>
          <p:nvPr/>
        </p:nvSpPr>
        <p:spPr>
          <a:xfrm>
            <a:off x="7627620" y="2918460"/>
            <a:ext cx="2545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logs detalhados = sim</a:t>
            </a:r>
            <a:endParaRPr lang="pt-BR" sz="1350"/>
          </a:p>
        </p:txBody>
      </p:sp>
      <p:sp>
        <p:nvSpPr>
          <p:cNvPr id="35" name="Shape 35"/>
          <p:cNvSpPr/>
          <p:nvPr/>
        </p:nvSpPr>
        <p:spPr>
          <a:xfrm>
            <a:off x="7498080" y="3390900"/>
            <a:ext cx="2819400" cy="39624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7627620" y="3429000"/>
            <a:ext cx="2545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timeout = 5 s</a:t>
            </a:r>
            <a:endParaRPr lang="pt-BR" sz="1350"/>
          </a:p>
        </p:txBody>
      </p:sp>
      <p:sp>
        <p:nvSpPr>
          <p:cNvPr id="37" name="Shape 37"/>
          <p:cNvSpPr/>
          <p:nvPr/>
        </p:nvSpPr>
        <p:spPr>
          <a:xfrm>
            <a:off x="7498080" y="3901440"/>
            <a:ext cx="2819400" cy="39624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8" name="Shape 38"/>
          <p:cNvSpPr txBox="1"/>
          <p:nvPr/>
        </p:nvSpPr>
        <p:spPr>
          <a:xfrm>
            <a:off x="7627620" y="3939540"/>
            <a:ext cx="2545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timeout = 2 s</a:t>
            </a:r>
            <a:endParaRPr lang="pt-BR" sz="1350"/>
          </a:p>
        </p:txBody>
      </p:sp>
      <p:sp>
        <p:nvSpPr>
          <p:cNvPr id="39" name="Shape 39"/>
          <p:cNvSpPr txBox="1"/>
          <p:nvPr/>
        </p:nvSpPr>
        <p:spPr>
          <a:xfrm>
            <a:off x="6507480" y="4594860"/>
            <a:ext cx="44958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push(snapshot)  →  pop() restaura o anterior</a:t>
            </a:r>
            <a:endParaRPr lang="pt-BR" sz="13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FUNDAMENTO · MAPA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Um ID leva direto ao registro que você precisa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HashMap indexa; Optional comunica ausência sem confundir com erro.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07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5486400" cy="32766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CHAVE  →  VALOR</a:t>
            </a:r>
            <a:endParaRPr lang="pt-BR" sz="1200"/>
          </a:p>
        </p:txBody>
      </p:sp>
      <p:sp>
        <p:nvSpPr>
          <p:cNvPr id="18" name="Shape 18"/>
          <p:cNvSpPr/>
          <p:nvPr/>
        </p:nvSpPr>
        <p:spPr>
          <a:xfrm>
            <a:off x="1005840" y="2781300"/>
            <a:ext cx="624840" cy="36576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9" name="Shape 19"/>
          <p:cNvSpPr txBox="1"/>
          <p:nvPr/>
        </p:nvSpPr>
        <p:spPr>
          <a:xfrm>
            <a:off x="1005840" y="2804160"/>
            <a:ext cx="62484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5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</a:t>
            </a:r>
            <a:endParaRPr lang="pt-BR" sz="1500"/>
          </a:p>
        </p:txBody>
      </p:sp>
      <p:sp>
        <p:nvSpPr>
          <p:cNvPr id="20" name="Shape 20"/>
          <p:cNvSpPr txBox="1"/>
          <p:nvPr/>
        </p:nvSpPr>
        <p:spPr>
          <a:xfrm>
            <a:off x="1828800" y="28270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Ana · ativa</a:t>
            </a:r>
            <a:endParaRPr lang="pt-BR" sz="1650"/>
          </a:p>
        </p:txBody>
      </p:sp>
      <p:sp>
        <p:nvSpPr>
          <p:cNvPr id="21" name="Shape 21"/>
          <p:cNvSpPr/>
          <p:nvPr/>
        </p:nvSpPr>
        <p:spPr>
          <a:xfrm>
            <a:off x="1005840" y="3314700"/>
            <a:ext cx="624840" cy="36576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2" name="Shape 22"/>
          <p:cNvSpPr txBox="1"/>
          <p:nvPr/>
        </p:nvSpPr>
        <p:spPr>
          <a:xfrm>
            <a:off x="1005840" y="3337560"/>
            <a:ext cx="62484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5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2</a:t>
            </a:r>
            <a:endParaRPr lang="pt-BR" sz="1500"/>
          </a:p>
        </p:txBody>
      </p:sp>
      <p:sp>
        <p:nvSpPr>
          <p:cNvPr id="23" name="Shape 23"/>
          <p:cNvSpPr txBox="1"/>
          <p:nvPr/>
        </p:nvSpPr>
        <p:spPr>
          <a:xfrm>
            <a:off x="1828800" y="33604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Bruno · inativo</a:t>
            </a:r>
            <a:endParaRPr lang="pt-BR" sz="1650"/>
          </a:p>
        </p:txBody>
      </p:sp>
      <p:sp>
        <p:nvSpPr>
          <p:cNvPr id="24" name="Shape 24"/>
          <p:cNvSpPr/>
          <p:nvPr/>
        </p:nvSpPr>
        <p:spPr>
          <a:xfrm>
            <a:off x="1005840" y="3848100"/>
            <a:ext cx="624840" cy="36576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5" name="Shape 25"/>
          <p:cNvSpPr txBox="1"/>
          <p:nvPr/>
        </p:nvSpPr>
        <p:spPr>
          <a:xfrm>
            <a:off x="1005840" y="3870960"/>
            <a:ext cx="62484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5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3</a:t>
            </a:r>
            <a:endParaRPr lang="pt-BR" sz="1500"/>
          </a:p>
        </p:txBody>
      </p:sp>
      <p:sp>
        <p:nvSpPr>
          <p:cNvPr id="26" name="Shape 26"/>
          <p:cNvSpPr txBox="1"/>
          <p:nvPr/>
        </p:nvSpPr>
        <p:spPr>
          <a:xfrm>
            <a:off x="1828800" y="389382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Clara · ativa</a:t>
            </a:r>
            <a:endParaRPr lang="pt-BR" sz="1650"/>
          </a:p>
        </p:txBody>
      </p:sp>
      <p:sp>
        <p:nvSpPr>
          <p:cNvPr id="27" name="Shape 27"/>
          <p:cNvSpPr/>
          <p:nvPr/>
        </p:nvSpPr>
        <p:spPr>
          <a:xfrm>
            <a:off x="6537960" y="2179320"/>
            <a:ext cx="4922520" cy="1584960"/>
          </a:xfrm>
          <a:prstGeom prst="roundRect">
            <a:avLst/>
          </a:prstGeom>
          <a:solidFill>
            <a:srgbClr val="0C1029"/>
          </a:solidFill>
          <a:ln w="7620">
            <a:solidFill>
              <a:srgbClr val="3A427A"/>
            </a:solidFill>
          </a:ln>
        </p:spPr>
      </p:sp>
      <p:sp>
        <p:nvSpPr>
          <p:cNvPr id="28" name="Shape 28"/>
          <p:cNvSpPr txBox="1"/>
          <p:nvPr/>
        </p:nvSpPr>
        <p:spPr>
          <a:xfrm>
            <a:off x="6705600" y="2286000"/>
            <a:ext cx="458724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BUSCAR SEM EXIBIR O MAPA</a:t>
            </a:r>
            <a:endParaRPr lang="pt-BR" sz="1050"/>
          </a:p>
        </p:txBody>
      </p:sp>
      <p:sp>
        <p:nvSpPr>
          <p:cNvPr id="29" name="Shape 29"/>
          <p:cNvSpPr txBox="1"/>
          <p:nvPr/>
        </p:nvSpPr>
        <p:spPr>
          <a:xfrm>
            <a:off x="6705600" y="2529840"/>
            <a:ext cx="458724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2000"/>
              </a:lnSpc>
            </a:pPr>
            <a:r>
              <a:rPr lang="pt-BR" sz="135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usuarios.buscarPorId(1)</a:t>
            </a:r>
            <a:endParaRPr lang="pt-BR" sz="1350"/>
          </a:p>
          <a:p>
            <a:pPr algn="l">
              <a:lnSpc>
                <a:spcPct val="132000"/>
              </a:lnSpc>
            </a:pPr>
            <a:r>
              <a:rPr lang="pt-BR" sz="135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  .filter(Usuario::ativo)</a:t>
            </a:r>
            <a:endParaRPr lang="pt-BR" sz="1350"/>
          </a:p>
          <a:p>
            <a:pPr algn="l">
              <a:lnSpc>
                <a:spcPct val="132000"/>
              </a:lnSpc>
            </a:pPr>
            <a:r>
              <a:rPr lang="pt-BR" sz="135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  .map(Usuario::email)</a:t>
            </a:r>
            <a:endParaRPr lang="pt-BR" sz="1350"/>
          </a:p>
        </p:txBody>
      </p:sp>
      <p:sp>
        <p:nvSpPr>
          <p:cNvPr id="30" name="Shape 30"/>
          <p:cNvSpPr/>
          <p:nvPr/>
        </p:nvSpPr>
        <p:spPr>
          <a:xfrm>
            <a:off x="6537960" y="3962400"/>
            <a:ext cx="4922520" cy="14935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1" name="Shape 31"/>
          <p:cNvSpPr/>
          <p:nvPr/>
        </p:nvSpPr>
        <p:spPr>
          <a:xfrm>
            <a:off x="6537960" y="3962400"/>
            <a:ext cx="60960" cy="149352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32" name="Shape 32"/>
          <p:cNvSpPr txBox="1"/>
          <p:nvPr/>
        </p:nvSpPr>
        <p:spPr>
          <a:xfrm>
            <a:off x="6751320" y="4130040"/>
            <a:ext cx="450342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REGRAS DO REPOSITÓRIO</a:t>
            </a:r>
            <a:endParaRPr lang="pt-BR" sz="1125"/>
          </a:p>
        </p:txBody>
      </p:sp>
      <p:sp>
        <p:nvSpPr>
          <p:cNvPr id="33" name="Shape 33"/>
          <p:cNvSpPr txBox="1"/>
          <p:nvPr/>
        </p:nvSpPr>
        <p:spPr>
          <a:xfrm>
            <a:off x="6751320" y="4366260"/>
            <a:ext cx="45034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ID repetido é recusado</a:t>
            </a:r>
            <a:endParaRPr lang="pt-BR" sz="1650"/>
          </a:p>
        </p:txBody>
      </p:sp>
      <p:sp>
        <p:nvSpPr>
          <p:cNvPr id="34" name="Shape 34"/>
          <p:cNvSpPr txBox="1"/>
          <p:nvPr/>
        </p:nvSpPr>
        <p:spPr>
          <a:xfrm>
            <a:off x="6751320" y="4838700"/>
            <a:ext cx="450342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8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putIfAbsent cadastra; replace atualiza somente quem existe.</a:t>
            </a:r>
            <a:endParaRPr lang="pt-BR" sz="1275"/>
          </a:p>
        </p:txBody>
      </p:sp>
      <p:sp>
        <p:nvSpPr>
          <p:cNvPr id="35" name="Shape 35"/>
          <p:cNvSpPr txBox="1"/>
          <p:nvPr/>
        </p:nvSpPr>
        <p:spPr>
          <a:xfrm>
            <a:off x="975360" y="4960620"/>
            <a:ext cx="48006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Busca por chave: O(1) esperado · ordem não garantida</a:t>
            </a:r>
            <a:endParaRPr lang="pt-BR" sz="1275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2453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2255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FUNDAMENTO · ÁRVORE ORDENADA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Uma linha do tempo permite consultar uma faixa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TreeMap ordena timestamps; List guarda vários logs no mesmo instante.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08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10728960" cy="10820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1310640" y="2750820"/>
            <a:ext cx="9525000" cy="22860"/>
          </a:xfrm>
          <a:prstGeom prst="rect">
            <a:avLst/>
          </a:prstGeom>
          <a:solidFill>
            <a:srgbClr val="858DB7"/>
          </a:solidFill>
          <a:ln>
            <a:noFill/>
          </a:ln>
        </p:spPr>
      </p:sp>
      <p:sp>
        <p:nvSpPr>
          <p:cNvPr id="18" name="Shape 18"/>
          <p:cNvSpPr/>
          <p:nvPr/>
        </p:nvSpPr>
        <p:spPr>
          <a:xfrm>
            <a:off x="1463040" y="2682240"/>
            <a:ext cx="137160" cy="13716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19" name="Shape 19"/>
          <p:cNvSpPr txBox="1"/>
          <p:nvPr/>
        </p:nvSpPr>
        <p:spPr>
          <a:xfrm>
            <a:off x="800100" y="2331720"/>
            <a:ext cx="14478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12:00:00</a:t>
            </a:r>
            <a:endParaRPr lang="pt-BR" sz="1200"/>
          </a:p>
        </p:txBody>
      </p:sp>
      <p:sp>
        <p:nvSpPr>
          <p:cNvPr id="20" name="Shape 20"/>
          <p:cNvSpPr txBox="1"/>
          <p:nvPr/>
        </p:nvSpPr>
        <p:spPr>
          <a:xfrm>
            <a:off x="533400" y="2910840"/>
            <a:ext cx="19812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pedido recebido</a:t>
            </a:r>
            <a:endParaRPr lang="pt-BR" sz="1125"/>
          </a:p>
        </p:txBody>
      </p:sp>
      <p:sp>
        <p:nvSpPr>
          <p:cNvPr id="21" name="Shape 21"/>
          <p:cNvSpPr/>
          <p:nvPr/>
        </p:nvSpPr>
        <p:spPr>
          <a:xfrm>
            <a:off x="4663440" y="2682240"/>
            <a:ext cx="137160" cy="13716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22" name="Shape 22"/>
          <p:cNvSpPr txBox="1"/>
          <p:nvPr/>
        </p:nvSpPr>
        <p:spPr>
          <a:xfrm>
            <a:off x="4000500" y="2331720"/>
            <a:ext cx="14478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12:00:30</a:t>
            </a:r>
            <a:endParaRPr lang="pt-BR" sz="1200"/>
          </a:p>
        </p:txBody>
      </p:sp>
      <p:sp>
        <p:nvSpPr>
          <p:cNvPr id="23" name="Shape 23"/>
          <p:cNvSpPr txBox="1"/>
          <p:nvPr/>
        </p:nvSpPr>
        <p:spPr>
          <a:xfrm>
            <a:off x="3733800" y="2910840"/>
            <a:ext cx="19812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timeout / token expirado</a:t>
            </a:r>
            <a:endParaRPr lang="pt-BR" sz="1125"/>
          </a:p>
        </p:txBody>
      </p:sp>
      <p:sp>
        <p:nvSpPr>
          <p:cNvPr id="24" name="Shape 24"/>
          <p:cNvSpPr/>
          <p:nvPr/>
        </p:nvSpPr>
        <p:spPr>
          <a:xfrm>
            <a:off x="8016240" y="2682240"/>
            <a:ext cx="137160" cy="13716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25" name="Shape 25"/>
          <p:cNvSpPr txBox="1"/>
          <p:nvPr/>
        </p:nvSpPr>
        <p:spPr>
          <a:xfrm>
            <a:off x="7353300" y="2331720"/>
            <a:ext cx="14478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12:00:45</a:t>
            </a:r>
            <a:endParaRPr lang="pt-BR" sz="1200"/>
          </a:p>
        </p:txBody>
      </p:sp>
      <p:sp>
        <p:nvSpPr>
          <p:cNvPr id="26" name="Shape 26"/>
          <p:cNvSpPr txBox="1"/>
          <p:nvPr/>
        </p:nvSpPr>
        <p:spPr>
          <a:xfrm>
            <a:off x="7086600" y="2910840"/>
            <a:ext cx="19812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gateway lento</a:t>
            </a:r>
            <a:endParaRPr lang="pt-BR" sz="1125"/>
          </a:p>
        </p:txBody>
      </p:sp>
      <p:sp>
        <p:nvSpPr>
          <p:cNvPr id="27" name="Shape 27"/>
          <p:cNvSpPr/>
          <p:nvPr/>
        </p:nvSpPr>
        <p:spPr>
          <a:xfrm>
            <a:off x="10378440" y="2682240"/>
            <a:ext cx="137160" cy="137160"/>
          </a:xfrm>
          <a:prstGeom prst="roundRect">
            <a:avLst/>
          </a:prstGeom>
          <a:solidFill>
            <a:srgbClr val="858DB7"/>
          </a:solidFill>
          <a:ln>
            <a:noFill/>
          </a:ln>
        </p:spPr>
      </p:sp>
      <p:sp>
        <p:nvSpPr>
          <p:cNvPr id="28" name="Shape 28"/>
          <p:cNvSpPr txBox="1"/>
          <p:nvPr/>
        </p:nvSpPr>
        <p:spPr>
          <a:xfrm>
            <a:off x="9715500" y="2331720"/>
            <a:ext cx="14478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12:01:00</a:t>
            </a:r>
            <a:endParaRPr lang="pt-BR" sz="1200"/>
          </a:p>
        </p:txBody>
      </p:sp>
      <p:sp>
        <p:nvSpPr>
          <p:cNvPr id="29" name="Shape 29"/>
          <p:cNvSpPr txBox="1"/>
          <p:nvPr/>
        </p:nvSpPr>
        <p:spPr>
          <a:xfrm>
            <a:off x="9448800" y="2910840"/>
            <a:ext cx="198120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pedido confirmado</a:t>
            </a:r>
            <a:endParaRPr lang="pt-BR" sz="1125"/>
          </a:p>
        </p:txBody>
      </p:sp>
      <p:sp>
        <p:nvSpPr>
          <p:cNvPr id="30" name="Shape 30"/>
          <p:cNvSpPr/>
          <p:nvPr/>
        </p:nvSpPr>
        <p:spPr>
          <a:xfrm>
            <a:off x="1310640" y="3406140"/>
            <a:ext cx="9037320" cy="68580"/>
          </a:xfrm>
          <a:prstGeom prst="roundRect">
            <a:avLst/>
          </a:prstGeom>
          <a:solidFill>
            <a:srgbClr val="F4BA58">
              <a:alpha val="32000"/>
            </a:srgbClr>
          </a:solidFill>
          <a:ln>
            <a:noFill/>
          </a:ln>
        </p:spPr>
      </p:sp>
      <p:sp>
        <p:nvSpPr>
          <p:cNvPr id="31" name="Shape 31"/>
          <p:cNvSpPr txBox="1"/>
          <p:nvPr/>
        </p:nvSpPr>
        <p:spPr>
          <a:xfrm>
            <a:off x="731520" y="3688080"/>
            <a:ext cx="4038600" cy="3276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CONSULTA  [12:00:00, 12:01:00)</a:t>
            </a:r>
            <a:endParaRPr lang="pt-BR" sz="1650"/>
          </a:p>
        </p:txBody>
      </p:sp>
      <p:sp>
        <p:nvSpPr>
          <p:cNvPr id="32" name="Shape 32"/>
          <p:cNvSpPr/>
          <p:nvPr/>
        </p:nvSpPr>
        <p:spPr>
          <a:xfrm>
            <a:off x="731520" y="4175760"/>
            <a:ext cx="175260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845820" y="4206240"/>
            <a:ext cx="152400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4</a:t>
            </a:r>
            <a:endParaRPr lang="pt-BR" sz="2175"/>
          </a:p>
        </p:txBody>
      </p:sp>
      <p:sp>
        <p:nvSpPr>
          <p:cNvPr id="34" name="Shape 34"/>
          <p:cNvSpPr txBox="1"/>
          <p:nvPr/>
        </p:nvSpPr>
        <p:spPr>
          <a:xfrm>
            <a:off x="845820" y="4645152"/>
            <a:ext cx="152400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registros na janela</a:t>
            </a:r>
            <a:endParaRPr lang="pt-BR" sz="1050"/>
          </a:p>
        </p:txBody>
      </p:sp>
      <p:sp>
        <p:nvSpPr>
          <p:cNvPr id="35" name="Shape 35"/>
          <p:cNvSpPr/>
          <p:nvPr/>
        </p:nvSpPr>
        <p:spPr>
          <a:xfrm>
            <a:off x="2636520" y="4175760"/>
            <a:ext cx="175260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2750820" y="4206240"/>
            <a:ext cx="152400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2</a:t>
            </a:r>
            <a:endParaRPr lang="pt-BR" sz="2175"/>
          </a:p>
        </p:txBody>
      </p:sp>
      <p:sp>
        <p:nvSpPr>
          <p:cNvPr id="37" name="Shape 37"/>
          <p:cNvSpPr txBox="1"/>
          <p:nvPr/>
        </p:nvSpPr>
        <p:spPr>
          <a:xfrm>
            <a:off x="2750820" y="4645152"/>
            <a:ext cx="152400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erros encontrados</a:t>
            </a:r>
            <a:endParaRPr lang="pt-BR" sz="1050"/>
          </a:p>
        </p:txBody>
      </p:sp>
      <p:sp>
        <p:nvSpPr>
          <p:cNvPr id="38" name="Shape 38"/>
          <p:cNvSpPr/>
          <p:nvPr/>
        </p:nvSpPr>
        <p:spPr>
          <a:xfrm>
            <a:off x="4838700" y="3688080"/>
            <a:ext cx="6621780" cy="1341120"/>
          </a:xfrm>
          <a:prstGeom prst="roundRect">
            <a:avLst/>
          </a:prstGeom>
          <a:solidFill>
            <a:srgbClr val="0C1029"/>
          </a:solidFill>
          <a:ln w="7620">
            <a:solidFill>
              <a:srgbClr val="3A427A"/>
            </a:solidFill>
          </a:ln>
        </p:spPr>
      </p:sp>
      <p:sp>
        <p:nvSpPr>
          <p:cNvPr id="39" name="Shape 39"/>
          <p:cNvSpPr txBox="1"/>
          <p:nvPr/>
        </p:nvSpPr>
        <p:spPr>
          <a:xfrm>
            <a:off x="5006340" y="3794760"/>
            <a:ext cx="628650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OPERAÇÃO</a:t>
            </a:r>
            <a:endParaRPr lang="pt-BR" sz="1050"/>
          </a:p>
        </p:txBody>
      </p:sp>
      <p:sp>
        <p:nvSpPr>
          <p:cNvPr id="40" name="Shape 40"/>
          <p:cNvSpPr txBox="1"/>
          <p:nvPr/>
        </p:nvSpPr>
        <p:spPr>
          <a:xfrm>
            <a:off x="5006340" y="4038600"/>
            <a:ext cx="6286500" cy="899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2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subMap(inicio, true, fim, false)</a:t>
            </a:r>
            <a:endParaRPr lang="pt-BR" sz="1425"/>
          </a:p>
          <a:p>
            <a:pPr algn="l">
              <a:lnSpc>
                <a:spcPct val="132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TreeMap&lt;Instant, List&lt;RegistroLog&gt;&gt;</a:t>
            </a:r>
            <a:endParaRPr lang="pt-BR" sz="1425"/>
          </a:p>
        </p:txBody>
      </p:sp>
      <p:sp>
        <p:nvSpPr>
          <p:cNvPr id="41" name="Shape 41"/>
          <p:cNvSpPr txBox="1"/>
          <p:nvPr/>
        </p:nvSpPr>
        <p:spPr>
          <a:xfrm>
            <a:off x="731520" y="5257800"/>
            <a:ext cx="1072896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 fim exclusivo evita repetir o registro de fronteira em janelas consecutivas. Custo: O(log t + k).</a:t>
            </a:r>
            <a:endParaRPr lang="pt-BR" sz="1425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91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93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SISTEMAS · EVENTOS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3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Fila limitada, duplicidade e falha são parte do fluxo</a:t>
            </a:r>
            <a:endParaRPr lang="pt-BR" sz="33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 consumidor precisa preservar o estado mesmo quando a entrega se repete.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09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438400"/>
            <a:ext cx="2362200" cy="14935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883920" y="2575560"/>
            <a:ext cx="79248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982980" y="259080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PRODUTOR</a:t>
            </a:r>
            <a:endParaRPr lang="pt-BR" sz="1200"/>
          </a:p>
        </p:txBody>
      </p:sp>
      <p:sp>
        <p:nvSpPr>
          <p:cNvPr id="19" name="Shape 19"/>
          <p:cNvSpPr txBox="1"/>
          <p:nvPr/>
        </p:nvSpPr>
        <p:spPr>
          <a:xfrm>
            <a:off x="899160" y="2994660"/>
            <a:ext cx="20269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35000"/>
              </a:lnSpc>
            </a:pPr>
            <a:r>
              <a:rPr lang="pt-BR" sz="15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401 · 402 · 401</a:t>
            </a:r>
            <a:endParaRPr lang="pt-BR" sz="1575"/>
          </a:p>
          <a:p>
            <a:pPr algn="ctr">
              <a:lnSpc>
                <a:spcPct val="135000"/>
              </a:lnSpc>
            </a:pPr>
            <a:r>
              <a:rPr lang="pt-BR" sz="15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404 · 405 · 406</a:t>
            </a:r>
            <a:endParaRPr lang="pt-BR" sz="1575"/>
          </a:p>
        </p:txBody>
      </p:sp>
      <p:sp>
        <p:nvSpPr>
          <p:cNvPr id="20" name="Shape 20"/>
          <p:cNvSpPr txBox="1"/>
          <p:nvPr/>
        </p:nvSpPr>
        <p:spPr>
          <a:xfrm>
            <a:off x="3108960" y="2926080"/>
            <a:ext cx="3429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5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550"/>
          </a:p>
        </p:txBody>
      </p:sp>
      <p:sp>
        <p:nvSpPr>
          <p:cNvPr id="21" name="Shape 21"/>
          <p:cNvSpPr/>
          <p:nvPr/>
        </p:nvSpPr>
        <p:spPr>
          <a:xfrm>
            <a:off x="3474720" y="2438400"/>
            <a:ext cx="2362200" cy="14935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2" name="Shape 22"/>
          <p:cNvSpPr/>
          <p:nvPr/>
        </p:nvSpPr>
        <p:spPr>
          <a:xfrm>
            <a:off x="3627120" y="2575560"/>
            <a:ext cx="762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3726180" y="2590800"/>
            <a:ext cx="563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BUFFER</a:t>
            </a:r>
            <a:endParaRPr lang="pt-BR" sz="1200"/>
          </a:p>
        </p:txBody>
      </p:sp>
      <p:sp>
        <p:nvSpPr>
          <p:cNvPr id="24" name="Shape 24"/>
          <p:cNvSpPr txBox="1"/>
          <p:nvPr/>
        </p:nvSpPr>
        <p:spPr>
          <a:xfrm>
            <a:off x="3642360" y="2994660"/>
            <a:ext cx="20269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35000"/>
              </a:lnSpc>
            </a:pPr>
            <a:r>
              <a:rPr lang="pt-BR" sz="15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capacidade 3</a:t>
            </a:r>
            <a:endParaRPr lang="pt-BR" sz="1575"/>
          </a:p>
          <a:p>
            <a:pPr algn="ctr">
              <a:lnSpc>
                <a:spcPct val="135000"/>
              </a:lnSpc>
            </a:pPr>
            <a:r>
              <a:rPr lang="pt-BR" sz="15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ArrayBlockingQueue</a:t>
            </a:r>
            <a:endParaRPr lang="pt-BR" sz="1575"/>
          </a:p>
        </p:txBody>
      </p:sp>
      <p:sp>
        <p:nvSpPr>
          <p:cNvPr id="25" name="Shape 25"/>
          <p:cNvSpPr txBox="1"/>
          <p:nvPr/>
        </p:nvSpPr>
        <p:spPr>
          <a:xfrm>
            <a:off x="5852160" y="2926080"/>
            <a:ext cx="3429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5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550"/>
          </a:p>
        </p:txBody>
      </p:sp>
      <p:sp>
        <p:nvSpPr>
          <p:cNvPr id="26" name="Shape 26"/>
          <p:cNvSpPr/>
          <p:nvPr/>
        </p:nvSpPr>
        <p:spPr>
          <a:xfrm>
            <a:off x="6217920" y="2438400"/>
            <a:ext cx="2362200" cy="14935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7" name="Shape 27"/>
          <p:cNvSpPr/>
          <p:nvPr/>
        </p:nvSpPr>
        <p:spPr>
          <a:xfrm>
            <a:off x="6370320" y="2575560"/>
            <a:ext cx="9906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28" name="Shape 28"/>
          <p:cNvSpPr txBox="1"/>
          <p:nvPr/>
        </p:nvSpPr>
        <p:spPr>
          <a:xfrm>
            <a:off x="6469380" y="2590800"/>
            <a:ext cx="79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CONSUMIDOR</a:t>
            </a:r>
            <a:endParaRPr lang="pt-BR" sz="1200"/>
          </a:p>
        </p:txBody>
      </p:sp>
      <p:sp>
        <p:nvSpPr>
          <p:cNvPr id="29" name="Shape 29"/>
          <p:cNvSpPr txBox="1"/>
          <p:nvPr/>
        </p:nvSpPr>
        <p:spPr>
          <a:xfrm>
            <a:off x="6385560" y="2994660"/>
            <a:ext cx="20269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35000"/>
              </a:lnSpc>
            </a:pPr>
            <a:r>
              <a:rPr lang="pt-BR" sz="15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pedido por ID</a:t>
            </a:r>
            <a:endParaRPr lang="pt-BR" sz="1575"/>
          </a:p>
          <a:p>
            <a:pPr algn="ctr">
              <a:lnSpc>
                <a:spcPct val="135000"/>
              </a:lnSpc>
            </a:pPr>
            <a:r>
              <a:rPr lang="pt-BR" sz="15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evento aplicado?</a:t>
            </a:r>
            <a:endParaRPr lang="pt-BR" sz="1575"/>
          </a:p>
        </p:txBody>
      </p:sp>
      <p:sp>
        <p:nvSpPr>
          <p:cNvPr id="30" name="Shape 30"/>
          <p:cNvSpPr txBox="1"/>
          <p:nvPr/>
        </p:nvSpPr>
        <p:spPr>
          <a:xfrm>
            <a:off x="8595360" y="2926080"/>
            <a:ext cx="3429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5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550"/>
          </a:p>
        </p:txBody>
      </p:sp>
      <p:sp>
        <p:nvSpPr>
          <p:cNvPr id="31" name="Shape 31"/>
          <p:cNvSpPr/>
          <p:nvPr/>
        </p:nvSpPr>
        <p:spPr>
          <a:xfrm>
            <a:off x="8961120" y="2438400"/>
            <a:ext cx="2362200" cy="14935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2" name="Shape 32"/>
          <p:cNvSpPr/>
          <p:nvPr/>
        </p:nvSpPr>
        <p:spPr>
          <a:xfrm>
            <a:off x="9113520" y="2575560"/>
            <a:ext cx="762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B2DF78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9212580" y="2590800"/>
            <a:ext cx="563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ESTADO</a:t>
            </a:r>
            <a:endParaRPr lang="pt-BR" sz="1200"/>
          </a:p>
        </p:txBody>
      </p:sp>
      <p:sp>
        <p:nvSpPr>
          <p:cNvPr id="34" name="Shape 34"/>
          <p:cNvSpPr txBox="1"/>
          <p:nvPr/>
        </p:nvSpPr>
        <p:spPr>
          <a:xfrm>
            <a:off x="9128760" y="2994660"/>
            <a:ext cx="20269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35000"/>
              </a:lnSpc>
            </a:pPr>
            <a:r>
              <a:rPr lang="pt-BR" sz="15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PAGO / falha</a:t>
            </a:r>
            <a:endParaRPr lang="pt-BR" sz="1575"/>
          </a:p>
          <a:p>
            <a:pPr algn="ctr">
              <a:lnSpc>
                <a:spcPct val="135000"/>
              </a:lnSpc>
            </a:pPr>
            <a:r>
              <a:rPr lang="pt-BR" sz="15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contadores</a:t>
            </a:r>
            <a:endParaRPr lang="pt-BR" sz="1575"/>
          </a:p>
        </p:txBody>
      </p:sp>
      <p:sp>
        <p:nvSpPr>
          <p:cNvPr id="35" name="Shape 35"/>
          <p:cNvSpPr/>
          <p:nvPr/>
        </p:nvSpPr>
        <p:spPr>
          <a:xfrm>
            <a:off x="731520" y="4251960"/>
            <a:ext cx="10728960" cy="109728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/>
          <p:nvPr/>
        </p:nvSpPr>
        <p:spPr>
          <a:xfrm>
            <a:off x="914400" y="4373880"/>
            <a:ext cx="1310640" cy="76200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7" name="Shape 37"/>
          <p:cNvSpPr txBox="1"/>
          <p:nvPr/>
        </p:nvSpPr>
        <p:spPr>
          <a:xfrm>
            <a:off x="1028700" y="4404360"/>
            <a:ext cx="1082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6</a:t>
            </a:r>
            <a:endParaRPr lang="pt-BR" sz="2175"/>
          </a:p>
        </p:txBody>
      </p:sp>
      <p:sp>
        <p:nvSpPr>
          <p:cNvPr id="38" name="Shape 38"/>
          <p:cNvSpPr txBox="1"/>
          <p:nvPr/>
        </p:nvSpPr>
        <p:spPr>
          <a:xfrm>
            <a:off x="1028700" y="4792980"/>
            <a:ext cx="108204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entregas</a:t>
            </a:r>
            <a:endParaRPr lang="pt-BR" sz="1050"/>
          </a:p>
        </p:txBody>
      </p:sp>
      <p:sp>
        <p:nvSpPr>
          <p:cNvPr id="39" name="Shape 39"/>
          <p:cNvSpPr/>
          <p:nvPr/>
        </p:nvSpPr>
        <p:spPr>
          <a:xfrm>
            <a:off x="2346960" y="4373880"/>
            <a:ext cx="1310640" cy="76200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40" name="Shape 40"/>
          <p:cNvSpPr txBox="1"/>
          <p:nvPr/>
        </p:nvSpPr>
        <p:spPr>
          <a:xfrm>
            <a:off x="2461260" y="4404360"/>
            <a:ext cx="1082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4</a:t>
            </a:r>
            <a:endParaRPr lang="pt-BR" sz="2175"/>
          </a:p>
        </p:txBody>
      </p:sp>
      <p:sp>
        <p:nvSpPr>
          <p:cNvPr id="41" name="Shape 41"/>
          <p:cNvSpPr txBox="1"/>
          <p:nvPr/>
        </p:nvSpPr>
        <p:spPr>
          <a:xfrm>
            <a:off x="2461260" y="4792980"/>
            <a:ext cx="108204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aplicadas</a:t>
            </a:r>
            <a:endParaRPr lang="pt-BR" sz="1050"/>
          </a:p>
        </p:txBody>
      </p:sp>
      <p:sp>
        <p:nvSpPr>
          <p:cNvPr id="42" name="Shape 42"/>
          <p:cNvSpPr/>
          <p:nvPr/>
        </p:nvSpPr>
        <p:spPr>
          <a:xfrm>
            <a:off x="3779520" y="4373880"/>
            <a:ext cx="1310640" cy="76200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43" name="Shape 43"/>
          <p:cNvSpPr txBox="1"/>
          <p:nvPr/>
        </p:nvSpPr>
        <p:spPr>
          <a:xfrm>
            <a:off x="3893820" y="4404360"/>
            <a:ext cx="1082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1</a:t>
            </a:r>
            <a:endParaRPr lang="pt-BR" sz="2175"/>
          </a:p>
        </p:txBody>
      </p:sp>
      <p:sp>
        <p:nvSpPr>
          <p:cNvPr id="44" name="Shape 44"/>
          <p:cNvSpPr txBox="1"/>
          <p:nvPr/>
        </p:nvSpPr>
        <p:spPr>
          <a:xfrm>
            <a:off x="3893820" y="4792980"/>
            <a:ext cx="108204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duplicada</a:t>
            </a:r>
            <a:endParaRPr lang="pt-BR" sz="1050"/>
          </a:p>
        </p:txBody>
      </p:sp>
      <p:sp>
        <p:nvSpPr>
          <p:cNvPr id="45" name="Shape 45"/>
          <p:cNvSpPr/>
          <p:nvPr/>
        </p:nvSpPr>
        <p:spPr>
          <a:xfrm>
            <a:off x="5212080" y="4373880"/>
            <a:ext cx="1310640" cy="76200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46" name="Shape 46"/>
          <p:cNvSpPr txBox="1"/>
          <p:nvPr/>
        </p:nvSpPr>
        <p:spPr>
          <a:xfrm>
            <a:off x="5326380" y="4404360"/>
            <a:ext cx="1082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1</a:t>
            </a:r>
            <a:endParaRPr lang="pt-BR" sz="2175"/>
          </a:p>
        </p:txBody>
      </p:sp>
      <p:sp>
        <p:nvSpPr>
          <p:cNvPr id="47" name="Shape 47"/>
          <p:cNvSpPr txBox="1"/>
          <p:nvPr/>
        </p:nvSpPr>
        <p:spPr>
          <a:xfrm>
            <a:off x="5326380" y="4792980"/>
            <a:ext cx="108204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falha</a:t>
            </a:r>
            <a:endParaRPr lang="pt-BR" sz="1050"/>
          </a:p>
        </p:txBody>
      </p:sp>
      <p:sp>
        <p:nvSpPr>
          <p:cNvPr id="48" name="Shape 48"/>
          <p:cNvSpPr/>
          <p:nvPr/>
        </p:nvSpPr>
        <p:spPr>
          <a:xfrm>
            <a:off x="6644640" y="4373880"/>
            <a:ext cx="1310640" cy="76200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49" name="Shape 49"/>
          <p:cNvSpPr txBox="1"/>
          <p:nvPr/>
        </p:nvSpPr>
        <p:spPr>
          <a:xfrm>
            <a:off x="6758940" y="4404360"/>
            <a:ext cx="1082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3</a:t>
            </a:r>
            <a:endParaRPr lang="pt-BR" sz="2175"/>
          </a:p>
        </p:txBody>
      </p:sp>
      <p:sp>
        <p:nvSpPr>
          <p:cNvPr id="50" name="Shape 50"/>
          <p:cNvSpPr txBox="1"/>
          <p:nvPr/>
        </p:nvSpPr>
        <p:spPr>
          <a:xfrm>
            <a:off x="6758940" y="4792980"/>
            <a:ext cx="108204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adiamentos</a:t>
            </a:r>
            <a:endParaRPr lang="pt-BR" sz="1050"/>
          </a:p>
        </p:txBody>
      </p:sp>
      <p:sp>
        <p:nvSpPr>
          <p:cNvPr id="51" name="Shape 51"/>
          <p:cNvSpPr txBox="1"/>
          <p:nvPr/>
        </p:nvSpPr>
        <p:spPr>
          <a:xfrm>
            <a:off x="8229600" y="4457700"/>
            <a:ext cx="29337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401 é deduplicado.</a:t>
            </a:r>
            <a:endParaRPr lang="pt-BR" sz="1275"/>
          </a:p>
          <a:p>
            <a:pPr algn="l">
              <a:lnSpc>
                <a:spcPct val="135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404 (pedido inexistente) vai à análise.</a:t>
            </a:r>
            <a:endParaRPr lang="pt-BR" sz="1275"/>
          </a:p>
        </p:txBody>
      </p:sp>
      <p:sp>
        <p:nvSpPr>
          <p:cNvPr id="52" name="Shape 52"/>
          <p:cNvSpPr txBox="1"/>
          <p:nvPr/>
        </p:nvSpPr>
        <p:spPr>
          <a:xfrm>
            <a:off x="731520" y="5646420"/>
            <a:ext cx="10728960" cy="2590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HashSet em memória dá idempotência local; não garante transação distribuída.</a:t>
            </a:r>
            <a:endParaRPr lang="pt-BR" sz="1425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SISTEMAS · GRAFOS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3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Uma aresta direcionada responde quem pode ser afetado</a:t>
            </a:r>
            <a:endParaRPr lang="pt-BR" sz="33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No exemplo: fornecedor → consumidor. A busca segue esse sentido.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10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6766560" cy="32766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1082040" y="3467100"/>
            <a:ext cx="1447800" cy="4724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17C98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1143000" y="3505200"/>
            <a:ext cx="1325880" cy="3962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autenticação</a:t>
            </a:r>
            <a:endParaRPr lang="pt-BR" sz="1425"/>
          </a:p>
        </p:txBody>
      </p:sp>
      <p:sp>
        <p:nvSpPr>
          <p:cNvPr id="19" name="Shape 19"/>
          <p:cNvSpPr/>
          <p:nvPr/>
        </p:nvSpPr>
        <p:spPr>
          <a:xfrm>
            <a:off x="3291840" y="2727960"/>
            <a:ext cx="1447800" cy="4724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</p:sp>
      <p:sp>
        <p:nvSpPr>
          <p:cNvPr id="20" name="Shape 20"/>
          <p:cNvSpPr txBox="1"/>
          <p:nvPr/>
        </p:nvSpPr>
        <p:spPr>
          <a:xfrm>
            <a:off x="3352800" y="2766060"/>
            <a:ext cx="1325880" cy="3962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pedidos</a:t>
            </a:r>
            <a:endParaRPr lang="pt-BR" sz="1425"/>
          </a:p>
        </p:txBody>
      </p:sp>
      <p:sp>
        <p:nvSpPr>
          <p:cNvPr id="21" name="Shape 21"/>
          <p:cNvSpPr/>
          <p:nvPr/>
        </p:nvSpPr>
        <p:spPr>
          <a:xfrm>
            <a:off x="3291840" y="4229100"/>
            <a:ext cx="1447800" cy="4724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</p:sp>
      <p:sp>
        <p:nvSpPr>
          <p:cNvPr id="22" name="Shape 22"/>
          <p:cNvSpPr txBox="1"/>
          <p:nvPr/>
        </p:nvSpPr>
        <p:spPr>
          <a:xfrm>
            <a:off x="3352800" y="4267200"/>
            <a:ext cx="1325880" cy="3962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pagamentos</a:t>
            </a:r>
            <a:endParaRPr lang="pt-BR" sz="1425"/>
          </a:p>
        </p:txBody>
      </p:sp>
      <p:sp>
        <p:nvSpPr>
          <p:cNvPr id="23" name="Shape 23"/>
          <p:cNvSpPr/>
          <p:nvPr/>
        </p:nvSpPr>
        <p:spPr>
          <a:xfrm>
            <a:off x="5608320" y="3467100"/>
            <a:ext cx="1447800" cy="4724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</p:sp>
      <p:sp>
        <p:nvSpPr>
          <p:cNvPr id="24" name="Shape 24"/>
          <p:cNvSpPr txBox="1"/>
          <p:nvPr/>
        </p:nvSpPr>
        <p:spPr>
          <a:xfrm>
            <a:off x="5669280" y="3505200"/>
            <a:ext cx="1325880" cy="3962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notificações</a:t>
            </a:r>
            <a:endParaRPr lang="pt-BR" sz="1425"/>
          </a:p>
        </p:txBody>
      </p:sp>
      <p:sp>
        <p:nvSpPr>
          <p:cNvPr id="25" name="Shape 25"/>
          <p:cNvSpPr txBox="1"/>
          <p:nvPr/>
        </p:nvSpPr>
        <p:spPr>
          <a:xfrm>
            <a:off x="2529840" y="284988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6" name="Shape 26"/>
          <p:cNvSpPr txBox="1"/>
          <p:nvPr/>
        </p:nvSpPr>
        <p:spPr>
          <a:xfrm>
            <a:off x="2529840" y="430530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7" name="Shape 27"/>
          <p:cNvSpPr txBox="1"/>
          <p:nvPr/>
        </p:nvSpPr>
        <p:spPr>
          <a:xfrm>
            <a:off x="4808220" y="284988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8" name="Shape 28"/>
          <p:cNvSpPr txBox="1"/>
          <p:nvPr/>
        </p:nvSpPr>
        <p:spPr>
          <a:xfrm>
            <a:off x="4808220" y="4305300"/>
            <a:ext cx="6400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9" name="Shape 29"/>
          <p:cNvSpPr/>
          <p:nvPr/>
        </p:nvSpPr>
        <p:spPr>
          <a:xfrm>
            <a:off x="7802880" y="2179320"/>
            <a:ext cx="3657600" cy="327660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/>
          <p:nvPr/>
        </p:nvSpPr>
        <p:spPr>
          <a:xfrm>
            <a:off x="8031480" y="2377440"/>
            <a:ext cx="16764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31" name="Shape 31"/>
          <p:cNvSpPr txBox="1"/>
          <p:nvPr/>
        </p:nvSpPr>
        <p:spPr>
          <a:xfrm>
            <a:off x="8130540" y="2392680"/>
            <a:ext cx="14782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BFS · POR CAMADAS</a:t>
            </a:r>
            <a:endParaRPr lang="pt-BR" sz="1200"/>
          </a:p>
        </p:txBody>
      </p:sp>
      <p:sp>
        <p:nvSpPr>
          <p:cNvPr id="32" name="Shape 32"/>
          <p:cNvSpPr txBox="1"/>
          <p:nvPr/>
        </p:nvSpPr>
        <p:spPr>
          <a:xfrm>
            <a:off x="8031480" y="2796540"/>
            <a:ext cx="312420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Falha em autenticação</a:t>
            </a:r>
            <a:endParaRPr lang="pt-BR" sz="1875"/>
          </a:p>
        </p:txBody>
      </p:sp>
      <p:sp>
        <p:nvSpPr>
          <p:cNvPr id="33" name="Shape 33"/>
          <p:cNvSpPr txBox="1"/>
          <p:nvPr/>
        </p:nvSpPr>
        <p:spPr>
          <a:xfrm>
            <a:off x="8031480" y="3276600"/>
            <a:ext cx="3139440" cy="723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alcança pedidos, pagamentos</a:t>
            </a:r>
            <a:endParaRPr lang="pt-BR" sz="1500"/>
          </a:p>
          <a:p>
            <a:pPr algn="l">
              <a:lnSpc>
                <a:spcPct val="135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 notificações (uma vez)</a:t>
            </a:r>
            <a:endParaRPr lang="pt-BR" sz="1500"/>
          </a:p>
        </p:txBody>
      </p:sp>
      <p:sp>
        <p:nvSpPr>
          <p:cNvPr id="34" name="Shape 34"/>
          <p:cNvSpPr/>
          <p:nvPr/>
        </p:nvSpPr>
        <p:spPr>
          <a:xfrm>
            <a:off x="8031480" y="4160520"/>
            <a:ext cx="31242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35" name="Shape 35"/>
          <p:cNvSpPr txBox="1"/>
          <p:nvPr/>
        </p:nvSpPr>
        <p:spPr>
          <a:xfrm>
            <a:off x="8031480" y="4343400"/>
            <a:ext cx="3124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2100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O(V + E)</a:t>
            </a:r>
            <a:endParaRPr lang="pt-BR" sz="2100"/>
          </a:p>
        </p:txBody>
      </p:sp>
      <p:sp>
        <p:nvSpPr>
          <p:cNvPr id="36" name="Shape 36"/>
          <p:cNvSpPr txBox="1"/>
          <p:nvPr/>
        </p:nvSpPr>
        <p:spPr>
          <a:xfrm>
            <a:off x="8031480" y="4724400"/>
            <a:ext cx="312420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pt-BR" sz="127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Falha em notificações não volta</a:t>
            </a:r>
            <a:endParaRPr lang="pt-BR" sz="1275"/>
          </a:p>
          <a:p>
            <a:pPr algn="l">
              <a:lnSpc>
                <a:spcPct val="130000"/>
              </a:lnSpc>
            </a:pPr>
            <a:r>
              <a:rPr lang="pt-BR" sz="127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aos fornecedores.</a:t>
            </a:r>
            <a:endParaRPr lang="pt-BR" sz="1275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234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036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IA · VETORES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Cosseno compara a proporção entre áreas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consulta tem [pedidos, pagamentos, acesso] = [8, 6, 0].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11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487680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34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PERFIS HISTÓRICOS · LINHAS DO ARRAY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990600" y="2788920"/>
            <a:ext cx="22860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Semana semelhante</a:t>
            </a:r>
            <a:endParaRPr lang="pt-BR" sz="1350"/>
          </a:p>
        </p:txBody>
      </p:sp>
      <p:sp>
        <p:nvSpPr>
          <p:cNvPr id="19" name="Shape 19"/>
          <p:cNvSpPr txBox="1"/>
          <p:nvPr/>
        </p:nvSpPr>
        <p:spPr>
          <a:xfrm>
            <a:off x="3413760" y="2788920"/>
            <a:ext cx="18288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[16, 12,  0]</a:t>
            </a:r>
            <a:endParaRPr lang="pt-BR" sz="1425"/>
          </a:p>
        </p:txBody>
      </p:sp>
      <p:sp>
        <p:nvSpPr>
          <p:cNvPr id="20" name="Shape 20"/>
          <p:cNvSpPr/>
          <p:nvPr/>
        </p:nvSpPr>
        <p:spPr>
          <a:xfrm>
            <a:off x="975360" y="322326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1" name="Shape 21"/>
          <p:cNvSpPr txBox="1"/>
          <p:nvPr/>
        </p:nvSpPr>
        <p:spPr>
          <a:xfrm>
            <a:off x="990600" y="3291840"/>
            <a:ext cx="22860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pedidos</a:t>
            </a:r>
            <a:endParaRPr lang="pt-BR" sz="1350"/>
          </a:p>
        </p:txBody>
      </p:sp>
      <p:sp>
        <p:nvSpPr>
          <p:cNvPr id="22" name="Shape 22"/>
          <p:cNvSpPr txBox="1"/>
          <p:nvPr/>
        </p:nvSpPr>
        <p:spPr>
          <a:xfrm>
            <a:off x="3413760" y="3291840"/>
            <a:ext cx="18288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[ 4,  0,  0]</a:t>
            </a:r>
            <a:endParaRPr lang="pt-BR" sz="1425"/>
          </a:p>
        </p:txBody>
      </p:sp>
      <p:sp>
        <p:nvSpPr>
          <p:cNvPr id="23" name="Shape 23"/>
          <p:cNvSpPr/>
          <p:nvPr/>
        </p:nvSpPr>
        <p:spPr>
          <a:xfrm>
            <a:off x="975360" y="372618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4" name="Shape 24"/>
          <p:cNvSpPr txBox="1"/>
          <p:nvPr/>
        </p:nvSpPr>
        <p:spPr>
          <a:xfrm>
            <a:off x="990600" y="3794760"/>
            <a:ext cx="22860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acesso</a:t>
            </a:r>
            <a:endParaRPr lang="pt-BR" sz="1350"/>
          </a:p>
        </p:txBody>
      </p:sp>
      <p:sp>
        <p:nvSpPr>
          <p:cNvPr id="25" name="Shape 25"/>
          <p:cNvSpPr txBox="1"/>
          <p:nvPr/>
        </p:nvSpPr>
        <p:spPr>
          <a:xfrm>
            <a:off x="3413760" y="3794760"/>
            <a:ext cx="18288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[ 0,  0, 12]</a:t>
            </a:r>
            <a:endParaRPr lang="pt-BR" sz="1425"/>
          </a:p>
        </p:txBody>
      </p:sp>
      <p:sp>
        <p:nvSpPr>
          <p:cNvPr id="26" name="Shape 26"/>
          <p:cNvSpPr/>
          <p:nvPr/>
        </p:nvSpPr>
        <p:spPr>
          <a:xfrm>
            <a:off x="975360" y="4229100"/>
            <a:ext cx="434340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27" name="Shape 27"/>
          <p:cNvSpPr txBox="1"/>
          <p:nvPr/>
        </p:nvSpPr>
        <p:spPr>
          <a:xfrm>
            <a:off x="990600" y="4297680"/>
            <a:ext cx="22860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pagamentos</a:t>
            </a:r>
            <a:endParaRPr lang="pt-BR" sz="1350"/>
          </a:p>
        </p:txBody>
      </p:sp>
      <p:sp>
        <p:nvSpPr>
          <p:cNvPr id="28" name="Shape 28"/>
          <p:cNvSpPr txBox="1"/>
          <p:nvPr/>
        </p:nvSpPr>
        <p:spPr>
          <a:xfrm>
            <a:off x="3413760" y="4297680"/>
            <a:ext cx="18288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42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[ 0,  6,  0]</a:t>
            </a:r>
            <a:endParaRPr lang="pt-BR" sz="1425"/>
          </a:p>
        </p:txBody>
      </p:sp>
      <p:sp>
        <p:nvSpPr>
          <p:cNvPr id="29" name="Shape 29"/>
          <p:cNvSpPr/>
          <p:nvPr/>
        </p:nvSpPr>
        <p:spPr>
          <a:xfrm>
            <a:off x="5882640" y="2179320"/>
            <a:ext cx="557784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 txBox="1"/>
          <p:nvPr/>
        </p:nvSpPr>
        <p:spPr>
          <a:xfrm>
            <a:off x="614172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cosine_similarity(consulta, perfis)</a:t>
            </a:r>
            <a:endParaRPr lang="pt-BR" sz="1350"/>
          </a:p>
        </p:txBody>
      </p:sp>
      <p:sp>
        <p:nvSpPr>
          <p:cNvPr id="31" name="Shape 31"/>
          <p:cNvSpPr txBox="1"/>
          <p:nvPr/>
        </p:nvSpPr>
        <p:spPr>
          <a:xfrm>
            <a:off x="6141720" y="2819400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Semana semelhante</a:t>
            </a:r>
            <a:endParaRPr lang="pt-BR" sz="1200"/>
          </a:p>
        </p:txBody>
      </p:sp>
      <p:sp>
        <p:nvSpPr>
          <p:cNvPr id="32" name="Shape 32"/>
          <p:cNvSpPr/>
          <p:nvPr/>
        </p:nvSpPr>
        <p:spPr>
          <a:xfrm>
            <a:off x="8046720" y="2842260"/>
            <a:ext cx="2179320" cy="137160"/>
          </a:xfrm>
          <a:prstGeom prst="roundRect">
            <a:avLst/>
          </a:prstGeom>
          <a:solidFill>
            <a:srgbClr val="191D49"/>
          </a:solidFill>
          <a:ln>
            <a:noFill/>
          </a:ln>
        </p:spPr>
      </p:sp>
      <p:sp>
        <p:nvSpPr>
          <p:cNvPr id="33" name="Shape 33"/>
          <p:cNvSpPr/>
          <p:nvPr/>
        </p:nvSpPr>
        <p:spPr>
          <a:xfrm>
            <a:off x="8046720" y="2842260"/>
            <a:ext cx="2179320" cy="13716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34" name="Shape 34"/>
          <p:cNvSpPr txBox="1"/>
          <p:nvPr/>
        </p:nvSpPr>
        <p:spPr>
          <a:xfrm>
            <a:off x="10309860" y="2804160"/>
            <a:ext cx="746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1.0000</a:t>
            </a:r>
            <a:endParaRPr lang="pt-BR" sz="1275"/>
          </a:p>
        </p:txBody>
      </p:sp>
      <p:sp>
        <p:nvSpPr>
          <p:cNvPr id="35" name="Shape 35"/>
          <p:cNvSpPr txBox="1"/>
          <p:nvPr/>
        </p:nvSpPr>
        <p:spPr>
          <a:xfrm>
            <a:off x="6141720" y="3329940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pedidos</a:t>
            </a:r>
            <a:endParaRPr lang="pt-BR" sz="1200"/>
          </a:p>
        </p:txBody>
      </p:sp>
      <p:sp>
        <p:nvSpPr>
          <p:cNvPr id="36" name="Shape 36"/>
          <p:cNvSpPr/>
          <p:nvPr/>
        </p:nvSpPr>
        <p:spPr>
          <a:xfrm>
            <a:off x="8046720" y="3352800"/>
            <a:ext cx="2179320" cy="137160"/>
          </a:xfrm>
          <a:prstGeom prst="roundRect">
            <a:avLst/>
          </a:prstGeom>
          <a:solidFill>
            <a:srgbClr val="191D49"/>
          </a:solidFill>
          <a:ln>
            <a:noFill/>
          </a:ln>
        </p:spPr>
      </p:sp>
      <p:sp>
        <p:nvSpPr>
          <p:cNvPr id="37" name="Shape 37"/>
          <p:cNvSpPr/>
          <p:nvPr/>
        </p:nvSpPr>
        <p:spPr>
          <a:xfrm>
            <a:off x="8046720" y="3352800"/>
            <a:ext cx="1743456" cy="13716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38" name="Shape 38"/>
          <p:cNvSpPr txBox="1"/>
          <p:nvPr/>
        </p:nvSpPr>
        <p:spPr>
          <a:xfrm>
            <a:off x="10309860" y="3314700"/>
            <a:ext cx="746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0.8000</a:t>
            </a:r>
            <a:endParaRPr lang="pt-BR" sz="1275"/>
          </a:p>
        </p:txBody>
      </p:sp>
      <p:sp>
        <p:nvSpPr>
          <p:cNvPr id="39" name="Shape 39"/>
          <p:cNvSpPr txBox="1"/>
          <p:nvPr/>
        </p:nvSpPr>
        <p:spPr>
          <a:xfrm>
            <a:off x="6141720" y="3840480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pagamentos</a:t>
            </a:r>
            <a:endParaRPr lang="pt-BR" sz="1200"/>
          </a:p>
        </p:txBody>
      </p:sp>
      <p:sp>
        <p:nvSpPr>
          <p:cNvPr id="40" name="Shape 40"/>
          <p:cNvSpPr/>
          <p:nvPr/>
        </p:nvSpPr>
        <p:spPr>
          <a:xfrm>
            <a:off x="8046720" y="3863340"/>
            <a:ext cx="2179320" cy="137160"/>
          </a:xfrm>
          <a:prstGeom prst="roundRect">
            <a:avLst/>
          </a:prstGeom>
          <a:solidFill>
            <a:srgbClr val="191D49"/>
          </a:solidFill>
          <a:ln>
            <a:noFill/>
          </a:ln>
        </p:spPr>
      </p:sp>
      <p:sp>
        <p:nvSpPr>
          <p:cNvPr id="41" name="Shape 41"/>
          <p:cNvSpPr/>
          <p:nvPr/>
        </p:nvSpPr>
        <p:spPr>
          <a:xfrm>
            <a:off x="8046720" y="3863340"/>
            <a:ext cx="1307592" cy="13716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42" name="Shape 42"/>
          <p:cNvSpPr txBox="1"/>
          <p:nvPr/>
        </p:nvSpPr>
        <p:spPr>
          <a:xfrm>
            <a:off x="10309860" y="3825240"/>
            <a:ext cx="746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F17C98"/>
                </a:solidFill>
                <a:latin typeface="Menlo"/>
                <a:ea typeface="Menlo"/>
                <a:cs typeface="Menlo"/>
              </a:rPr>
              <a:t xml:space="preserve">0.6000</a:t>
            </a:r>
            <a:endParaRPr lang="pt-BR" sz="1275"/>
          </a:p>
        </p:txBody>
      </p:sp>
      <p:sp>
        <p:nvSpPr>
          <p:cNvPr id="43" name="Shape 43"/>
          <p:cNvSpPr txBox="1"/>
          <p:nvPr/>
        </p:nvSpPr>
        <p:spPr>
          <a:xfrm>
            <a:off x="6141720" y="4351020"/>
            <a:ext cx="186690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Equipe de acesso</a:t>
            </a:r>
            <a:endParaRPr lang="pt-BR" sz="1200"/>
          </a:p>
        </p:txBody>
      </p:sp>
      <p:sp>
        <p:nvSpPr>
          <p:cNvPr id="44" name="Shape 44"/>
          <p:cNvSpPr/>
          <p:nvPr/>
        </p:nvSpPr>
        <p:spPr>
          <a:xfrm>
            <a:off x="8046720" y="4373880"/>
            <a:ext cx="2179320" cy="137160"/>
          </a:xfrm>
          <a:prstGeom prst="roundRect">
            <a:avLst/>
          </a:prstGeom>
          <a:solidFill>
            <a:srgbClr val="191D49"/>
          </a:solidFill>
          <a:ln>
            <a:noFill/>
          </a:ln>
        </p:spPr>
      </p:sp>
      <p:sp>
        <p:nvSpPr>
          <p:cNvPr id="45" name="Shape 45"/>
          <p:cNvSpPr txBox="1"/>
          <p:nvPr/>
        </p:nvSpPr>
        <p:spPr>
          <a:xfrm>
            <a:off x="10309860" y="4335780"/>
            <a:ext cx="746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0.0000</a:t>
            </a:r>
            <a:endParaRPr lang="pt-BR" sz="1275"/>
          </a:p>
        </p:txBody>
      </p:sp>
      <p:sp>
        <p:nvSpPr>
          <p:cNvPr id="46" name="Shape 46"/>
          <p:cNvSpPr txBox="1"/>
          <p:nvPr/>
        </p:nvSpPr>
        <p:spPr>
          <a:xfrm>
            <a:off x="6141720" y="4953000"/>
            <a:ext cx="496824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Mesma proporção → escore 1, mesmo com dobro do volume.</a:t>
            </a:r>
            <a:endParaRPr lang="pt-BR" sz="1275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143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944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IA · RAG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3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Recuperar fontes é diferente de gerar uma resposta</a:t>
            </a:r>
            <a:endParaRPr lang="pt-BR" sz="33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oficina faz busca lexical com TF-IDF e prepara o contexto.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12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453640"/>
            <a:ext cx="2362200" cy="21183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/>
          <p:nvPr/>
        </p:nvSpPr>
        <p:spPr>
          <a:xfrm>
            <a:off x="891540" y="2590800"/>
            <a:ext cx="10668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990600" y="260604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1 · DOCUMENTOS</a:t>
            </a:r>
            <a:endParaRPr lang="pt-BR" sz="1200"/>
          </a:p>
        </p:txBody>
      </p:sp>
      <p:sp>
        <p:nvSpPr>
          <p:cNvPr id="19" name="Shape 19"/>
          <p:cNvSpPr txBox="1"/>
          <p:nvPr/>
        </p:nvSpPr>
        <p:spPr>
          <a:xfrm>
            <a:off x="914400" y="3009900"/>
            <a:ext cx="1996440" cy="1082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D1 · pedidos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D2 · pagamento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D3 · acesso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D4 · reembolso</a:t>
            </a:r>
            <a:endParaRPr lang="pt-BR" sz="1425"/>
          </a:p>
        </p:txBody>
      </p:sp>
      <p:sp>
        <p:nvSpPr>
          <p:cNvPr id="20" name="Shape 20"/>
          <p:cNvSpPr txBox="1"/>
          <p:nvPr/>
        </p:nvSpPr>
        <p:spPr>
          <a:xfrm>
            <a:off x="3108960" y="3230880"/>
            <a:ext cx="33528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1" name="Shape 21"/>
          <p:cNvSpPr/>
          <p:nvPr/>
        </p:nvSpPr>
        <p:spPr>
          <a:xfrm>
            <a:off x="3474720" y="2453640"/>
            <a:ext cx="2362200" cy="21183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2" name="Shape 22"/>
          <p:cNvSpPr/>
          <p:nvPr/>
        </p:nvSpPr>
        <p:spPr>
          <a:xfrm>
            <a:off x="3634740" y="2590800"/>
            <a:ext cx="10668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3733800" y="260604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2 · ÍNDICE</a:t>
            </a:r>
            <a:endParaRPr lang="pt-BR" sz="1200"/>
          </a:p>
        </p:txBody>
      </p:sp>
      <p:sp>
        <p:nvSpPr>
          <p:cNvPr id="24" name="Shape 24"/>
          <p:cNvSpPr txBox="1"/>
          <p:nvPr/>
        </p:nvSpPr>
        <p:spPr>
          <a:xfrm>
            <a:off x="3657600" y="3009900"/>
            <a:ext cx="1996440" cy="1082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TF-IDF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matriz esparsa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linhas = artigos</a:t>
            </a:r>
            <a:endParaRPr lang="pt-BR" sz="1425"/>
          </a:p>
        </p:txBody>
      </p:sp>
      <p:sp>
        <p:nvSpPr>
          <p:cNvPr id="25" name="Shape 25"/>
          <p:cNvSpPr txBox="1"/>
          <p:nvPr/>
        </p:nvSpPr>
        <p:spPr>
          <a:xfrm>
            <a:off x="5852160" y="3230880"/>
            <a:ext cx="33528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26" name="Shape 26"/>
          <p:cNvSpPr/>
          <p:nvPr/>
        </p:nvSpPr>
        <p:spPr>
          <a:xfrm>
            <a:off x="6217920" y="2453640"/>
            <a:ext cx="2362200" cy="21183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7" name="Shape 27"/>
          <p:cNvSpPr/>
          <p:nvPr/>
        </p:nvSpPr>
        <p:spPr>
          <a:xfrm>
            <a:off x="6377940" y="2590800"/>
            <a:ext cx="10668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28" name="Shape 28"/>
          <p:cNvSpPr txBox="1"/>
          <p:nvPr/>
        </p:nvSpPr>
        <p:spPr>
          <a:xfrm>
            <a:off x="6477000" y="260604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3 · CONSULTA</a:t>
            </a:r>
            <a:endParaRPr lang="pt-BR" sz="1200"/>
          </a:p>
        </p:txBody>
      </p:sp>
      <p:sp>
        <p:nvSpPr>
          <p:cNvPr id="29" name="Shape 29"/>
          <p:cNvSpPr txBox="1"/>
          <p:nvPr/>
        </p:nvSpPr>
        <p:spPr>
          <a:xfrm>
            <a:off x="6400800" y="3009900"/>
            <a:ext cx="1996440" cy="1082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“Como vejo o pedido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após o pagamento?”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cosseno + ranking</a:t>
            </a:r>
            <a:endParaRPr lang="pt-BR" sz="1425"/>
          </a:p>
        </p:txBody>
      </p:sp>
      <p:sp>
        <p:nvSpPr>
          <p:cNvPr id="30" name="Shape 30"/>
          <p:cNvSpPr txBox="1"/>
          <p:nvPr/>
        </p:nvSpPr>
        <p:spPr>
          <a:xfrm>
            <a:off x="8595360" y="3230880"/>
            <a:ext cx="33528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4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400"/>
          </a:p>
        </p:txBody>
      </p:sp>
      <p:sp>
        <p:nvSpPr>
          <p:cNvPr id="31" name="Shape 31"/>
          <p:cNvSpPr/>
          <p:nvPr/>
        </p:nvSpPr>
        <p:spPr>
          <a:xfrm>
            <a:off x="8961120" y="2453640"/>
            <a:ext cx="2362200" cy="211836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2" name="Shape 32"/>
          <p:cNvSpPr/>
          <p:nvPr/>
        </p:nvSpPr>
        <p:spPr>
          <a:xfrm>
            <a:off x="9121140" y="2590800"/>
            <a:ext cx="10668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B2DF78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9220200" y="2606040"/>
            <a:ext cx="8686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4 · CONTEXTO</a:t>
            </a:r>
            <a:endParaRPr lang="pt-BR" sz="1200"/>
          </a:p>
        </p:txBody>
      </p:sp>
      <p:sp>
        <p:nvSpPr>
          <p:cNvPr id="34" name="Shape 34"/>
          <p:cNvSpPr txBox="1"/>
          <p:nvPr/>
        </p:nvSpPr>
        <p:spPr>
          <a:xfrm>
            <a:off x="9144000" y="3009900"/>
            <a:ext cx="1996440" cy="1082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D2 → D1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títulos + textos</a:t>
            </a:r>
            <a:endParaRPr lang="pt-BR" sz="1425"/>
          </a:p>
          <a:p>
            <a:pPr algn="l">
              <a:lnSpc>
                <a:spcPct val="138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para a próxima etapa</a:t>
            </a:r>
            <a:endParaRPr lang="pt-BR" sz="1425"/>
          </a:p>
        </p:txBody>
      </p:sp>
      <p:sp>
        <p:nvSpPr>
          <p:cNvPr id="35" name="Shape 35"/>
          <p:cNvSpPr/>
          <p:nvPr/>
        </p:nvSpPr>
        <p:spPr>
          <a:xfrm>
            <a:off x="731520" y="4838700"/>
            <a:ext cx="10728960" cy="61722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929640" y="4960620"/>
            <a:ext cx="103251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RAG: recuperar  →  montar contexto  →  enviar ao gerador</a:t>
            </a:r>
            <a:endParaRPr lang="pt-BR" sz="1875"/>
          </a:p>
        </p:txBody>
      </p:sp>
      <p:sp>
        <p:nvSpPr>
          <p:cNvPr id="37" name="Shape 37"/>
          <p:cNvSpPr txBox="1"/>
          <p:nvPr/>
        </p:nvSpPr>
        <p:spPr>
          <a:xfrm>
            <a:off x="731520" y="5737860"/>
            <a:ext cx="1072896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Este repositório para na recuperação; não chama um modelo e não gera a resposta.</a:t>
            </a:r>
            <a:endParaRPr lang="pt-BR" sz="13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2453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2255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PREPARAR A ENTRADA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Primeiro defina o que cada ponto significa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Nove incidentes fictícios; somente duas medidas numéricas entram no agrupamento.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13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5791200" cy="32918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46960"/>
            <a:ext cx="525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REGISTRO DE NEGÓCIO  →  FEATURE NUMÉRICA</a:t>
            </a:r>
            <a:endParaRPr lang="pt-BR" sz="1200"/>
          </a:p>
        </p:txBody>
      </p:sp>
      <p:sp>
        <p:nvSpPr>
          <p:cNvPr id="18" name="Shape 18"/>
          <p:cNvSpPr/>
          <p:nvPr/>
        </p:nvSpPr>
        <p:spPr>
          <a:xfrm>
            <a:off x="990600" y="2788920"/>
            <a:ext cx="441960" cy="33528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19" name="Shape 19"/>
          <p:cNvSpPr txBox="1"/>
          <p:nvPr/>
        </p:nvSpPr>
        <p:spPr>
          <a:xfrm>
            <a:off x="990600" y="2811780"/>
            <a:ext cx="441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111436"/>
                </a:solidFill>
                <a:latin typeface="Aptos"/>
                <a:ea typeface="Aptos"/>
                <a:cs typeface="Aptos"/>
              </a:rPr>
              <a:t xml:space="preserve">A–D</a:t>
            </a:r>
            <a:endParaRPr lang="pt-BR" sz="1350"/>
          </a:p>
        </p:txBody>
      </p:sp>
      <p:sp>
        <p:nvSpPr>
          <p:cNvPr id="20" name="Shape 20"/>
          <p:cNvSpPr txBox="1"/>
          <p:nvPr/>
        </p:nvSpPr>
        <p:spPr>
          <a:xfrm>
            <a:off x="1615440" y="2788920"/>
            <a:ext cx="1447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IAM</a:t>
            </a:r>
            <a:endParaRPr lang="pt-BR" sz="1425"/>
          </a:p>
        </p:txBody>
      </p:sp>
      <p:sp>
        <p:nvSpPr>
          <p:cNvPr id="21" name="Shape 21"/>
          <p:cNvSpPr txBox="1"/>
          <p:nvPr/>
        </p:nvSpPr>
        <p:spPr>
          <a:xfrm>
            <a:off x="3078480" y="2788920"/>
            <a:ext cx="3009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~1 hora · 4–7 usuários</a:t>
            </a:r>
            <a:endParaRPr lang="pt-BR" sz="1275"/>
          </a:p>
        </p:txBody>
      </p:sp>
      <p:sp>
        <p:nvSpPr>
          <p:cNvPr id="22" name="Shape 22"/>
          <p:cNvSpPr/>
          <p:nvPr/>
        </p:nvSpPr>
        <p:spPr>
          <a:xfrm>
            <a:off x="990600" y="3383280"/>
            <a:ext cx="441960" cy="33528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990600" y="3406140"/>
            <a:ext cx="441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111436"/>
                </a:solidFill>
                <a:latin typeface="Aptos"/>
                <a:ea typeface="Aptos"/>
                <a:cs typeface="Aptos"/>
              </a:rPr>
              <a:t xml:space="preserve">E–H</a:t>
            </a:r>
            <a:endParaRPr lang="pt-BR" sz="1350"/>
          </a:p>
        </p:txBody>
      </p:sp>
      <p:sp>
        <p:nvSpPr>
          <p:cNvPr id="24" name="Shape 24"/>
          <p:cNvSpPr txBox="1"/>
          <p:nvPr/>
        </p:nvSpPr>
        <p:spPr>
          <a:xfrm>
            <a:off x="1615440" y="3383280"/>
            <a:ext cx="1447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Pagamentos</a:t>
            </a:r>
            <a:endParaRPr lang="pt-BR" sz="1425"/>
          </a:p>
        </p:txBody>
      </p:sp>
      <p:sp>
        <p:nvSpPr>
          <p:cNvPr id="25" name="Shape 25"/>
          <p:cNvSpPr txBox="1"/>
          <p:nvPr/>
        </p:nvSpPr>
        <p:spPr>
          <a:xfrm>
            <a:off x="3078480" y="3383280"/>
            <a:ext cx="3009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~5 horas · 47–55 usuários</a:t>
            </a:r>
            <a:endParaRPr lang="pt-BR" sz="1275"/>
          </a:p>
        </p:txBody>
      </p:sp>
      <p:sp>
        <p:nvSpPr>
          <p:cNvPr id="26" name="Shape 26"/>
          <p:cNvSpPr/>
          <p:nvPr/>
        </p:nvSpPr>
        <p:spPr>
          <a:xfrm>
            <a:off x="990600" y="3977640"/>
            <a:ext cx="441960" cy="33528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27" name="Shape 27"/>
          <p:cNvSpPr txBox="1"/>
          <p:nvPr/>
        </p:nvSpPr>
        <p:spPr>
          <a:xfrm>
            <a:off x="990600" y="4000500"/>
            <a:ext cx="441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111436"/>
                </a:solidFill>
                <a:latin typeface="Aptos"/>
                <a:ea typeface="Aptos"/>
                <a:cs typeface="Aptos"/>
              </a:rPr>
              <a:t xml:space="preserve">I</a:t>
            </a:r>
            <a:endParaRPr lang="pt-BR" sz="1350"/>
          </a:p>
        </p:txBody>
      </p:sp>
      <p:sp>
        <p:nvSpPr>
          <p:cNvPr id="28" name="Shape 28"/>
          <p:cNvSpPr txBox="1"/>
          <p:nvPr/>
        </p:nvSpPr>
        <p:spPr>
          <a:xfrm>
            <a:off x="1615440" y="3977640"/>
            <a:ext cx="1447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4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Plataforma</a:t>
            </a:r>
            <a:endParaRPr lang="pt-BR" sz="1425"/>
          </a:p>
        </p:txBody>
      </p:sp>
      <p:sp>
        <p:nvSpPr>
          <p:cNvPr id="29" name="Shape 29"/>
          <p:cNvSpPr txBox="1"/>
          <p:nvPr/>
        </p:nvSpPr>
        <p:spPr>
          <a:xfrm>
            <a:off x="3078480" y="3977640"/>
            <a:ext cx="30099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24 horas · 500 usuários</a:t>
            </a:r>
            <a:endParaRPr lang="pt-BR" sz="1275"/>
          </a:p>
        </p:txBody>
      </p:sp>
      <p:sp>
        <p:nvSpPr>
          <p:cNvPr id="30" name="Shape 30"/>
          <p:cNvSpPr txBox="1"/>
          <p:nvPr/>
        </p:nvSpPr>
        <p:spPr>
          <a:xfrm>
            <a:off x="990600" y="4754880"/>
            <a:ext cx="51816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Resumo, grupo e número identificam o chamado; não são features.</a:t>
            </a:r>
            <a:endParaRPr lang="pt-BR" sz="1350"/>
          </a:p>
        </p:txBody>
      </p:sp>
      <p:sp>
        <p:nvSpPr>
          <p:cNvPr id="31" name="Shape 31"/>
          <p:cNvSpPr/>
          <p:nvPr/>
        </p:nvSpPr>
        <p:spPr>
          <a:xfrm>
            <a:off x="6858000" y="2179320"/>
            <a:ext cx="4602480" cy="1524000"/>
          </a:xfrm>
          <a:prstGeom prst="roundRect">
            <a:avLst/>
          </a:prstGeom>
          <a:solidFill>
            <a:srgbClr val="0C1029"/>
          </a:solidFill>
          <a:ln w="7620">
            <a:solidFill>
              <a:srgbClr val="3A427A"/>
            </a:solidFill>
          </a:ln>
        </p:spPr>
      </p:sp>
      <p:sp>
        <p:nvSpPr>
          <p:cNvPr id="32" name="Shape 32"/>
          <p:cNvSpPr txBox="1"/>
          <p:nvPr/>
        </p:nvSpPr>
        <p:spPr>
          <a:xfrm>
            <a:off x="7025640" y="2286000"/>
            <a:ext cx="426720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DUAS COLUNAS</a:t>
            </a:r>
            <a:endParaRPr lang="pt-BR" sz="1050"/>
          </a:p>
        </p:txBody>
      </p:sp>
      <p:sp>
        <p:nvSpPr>
          <p:cNvPr id="33" name="Shape 33"/>
          <p:cNvSpPr txBox="1"/>
          <p:nvPr/>
        </p:nvSpPr>
        <p:spPr>
          <a:xfrm>
            <a:off x="7025640" y="2529840"/>
            <a:ext cx="4267200" cy="1082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2000"/>
              </a:lnSpc>
            </a:pPr>
            <a:r>
              <a:rPr lang="pt-BR" sz="135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[horas_para_resolver,</a:t>
            </a:r>
            <a:endParaRPr lang="pt-BR" sz="1350"/>
          </a:p>
          <a:p>
            <a:pPr algn="l">
              <a:lnSpc>
                <a:spcPct val="132000"/>
              </a:lnSpc>
            </a:pPr>
            <a:r>
              <a:rPr lang="pt-BR" sz="135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 usuarios_afetados]  →  StandardScaler</a:t>
            </a:r>
            <a:endParaRPr lang="pt-BR" sz="1350"/>
          </a:p>
        </p:txBody>
      </p:sp>
      <p:sp>
        <p:nvSpPr>
          <p:cNvPr id="34" name="Shape 34"/>
          <p:cNvSpPr/>
          <p:nvPr/>
        </p:nvSpPr>
        <p:spPr>
          <a:xfrm>
            <a:off x="6858000" y="3931920"/>
            <a:ext cx="143256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5" name="Shape 35"/>
          <p:cNvSpPr txBox="1"/>
          <p:nvPr/>
        </p:nvSpPr>
        <p:spPr>
          <a:xfrm>
            <a:off x="6972300" y="3962400"/>
            <a:ext cx="120396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9 × 2</a:t>
            </a:r>
            <a:endParaRPr lang="pt-BR" sz="2175"/>
          </a:p>
        </p:txBody>
      </p:sp>
      <p:sp>
        <p:nvSpPr>
          <p:cNvPr id="36" name="Shape 36"/>
          <p:cNvSpPr txBox="1"/>
          <p:nvPr/>
        </p:nvSpPr>
        <p:spPr>
          <a:xfrm>
            <a:off x="6972300" y="4401312"/>
            <a:ext cx="120396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ndarray float64</a:t>
            </a:r>
            <a:endParaRPr lang="pt-BR" sz="1050"/>
          </a:p>
        </p:txBody>
      </p:sp>
      <p:sp>
        <p:nvSpPr>
          <p:cNvPr id="37" name="Shape 37"/>
          <p:cNvSpPr/>
          <p:nvPr/>
        </p:nvSpPr>
        <p:spPr>
          <a:xfrm>
            <a:off x="8366760" y="3931920"/>
            <a:ext cx="143256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8" name="Shape 38"/>
          <p:cNvSpPr txBox="1"/>
          <p:nvPr/>
        </p:nvSpPr>
        <p:spPr>
          <a:xfrm>
            <a:off x="8481060" y="3962400"/>
            <a:ext cx="120396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A–I</a:t>
            </a:r>
            <a:endParaRPr lang="pt-BR" sz="2175"/>
          </a:p>
        </p:txBody>
      </p:sp>
      <p:sp>
        <p:nvSpPr>
          <p:cNvPr id="39" name="Shape 39"/>
          <p:cNvSpPr txBox="1"/>
          <p:nvPr/>
        </p:nvSpPr>
        <p:spPr>
          <a:xfrm>
            <a:off x="8481060" y="4401312"/>
            <a:ext cx="120396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índice ↔ ticket</a:t>
            </a:r>
            <a:endParaRPr lang="pt-BR" sz="1050"/>
          </a:p>
        </p:txBody>
      </p:sp>
      <p:sp>
        <p:nvSpPr>
          <p:cNvPr id="40" name="Shape 40"/>
          <p:cNvSpPr/>
          <p:nvPr/>
        </p:nvSpPr>
        <p:spPr>
          <a:xfrm>
            <a:off x="9875520" y="3931920"/>
            <a:ext cx="143256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41" name="Shape 41"/>
          <p:cNvSpPr txBox="1"/>
          <p:nvPr/>
        </p:nvSpPr>
        <p:spPr>
          <a:xfrm>
            <a:off x="9989820" y="3962400"/>
            <a:ext cx="120396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2–9</a:t>
            </a:r>
            <a:endParaRPr lang="pt-BR" sz="2175"/>
          </a:p>
        </p:txBody>
      </p:sp>
      <p:sp>
        <p:nvSpPr>
          <p:cNvPr id="42" name="Shape 42"/>
          <p:cNvSpPr txBox="1"/>
          <p:nvPr/>
        </p:nvSpPr>
        <p:spPr>
          <a:xfrm>
            <a:off x="9989820" y="4401312"/>
            <a:ext cx="120396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min_cluster_size</a:t>
            </a:r>
            <a:endParaRPr lang="pt-BR" sz="1050"/>
          </a:p>
        </p:txBody>
      </p:sp>
      <p:sp>
        <p:nvSpPr>
          <p:cNvPr id="43" name="Shape 43"/>
          <p:cNvSpPr txBox="1"/>
          <p:nvPr/>
        </p:nvSpPr>
        <p:spPr>
          <a:xfrm>
            <a:off x="6858000" y="5074920"/>
            <a:ext cx="460248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Padronizar aproxima as escalas de horas e usuários.</a:t>
            </a:r>
            <a:endParaRPr lang="pt-BR" sz="1275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8440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ETAPAS 2–3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Todas as distâncias; depois, a vizinhança local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matriz vê todos os pares. A KDTree expõe os vizinhos mais próximos.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14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5059680" cy="3200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4696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PAIRWISE_DISTANCES  ·  9 × 9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1127760" y="2766060"/>
            <a:ext cx="4267200" cy="899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40000"/>
              </a:lnSpc>
            </a:pPr>
            <a:r>
              <a:rPr lang="pt-BR" sz="180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d(A,B) = 0.032</a:t>
            </a:r>
            <a:endParaRPr lang="pt-BR" sz="1800"/>
          </a:p>
          <a:p>
            <a:pPr algn="l">
              <a:lnSpc>
                <a:spcPct val="140000"/>
              </a:lnSpc>
            </a:pPr>
            <a:r>
              <a:rPr lang="pt-BR" sz="180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d(A,I) = 4.708</a:t>
            </a:r>
            <a:endParaRPr lang="pt-BR" sz="1800"/>
          </a:p>
          <a:p>
            <a:pPr algn="l">
              <a:lnSpc>
                <a:spcPct val="140000"/>
              </a:lnSpc>
            </a:pPr>
            <a:r>
              <a:rPr lang="pt-BR" sz="1800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d(i,i) = 0</a:t>
            </a:r>
            <a:endParaRPr lang="pt-BR" sz="1800"/>
          </a:p>
        </p:txBody>
      </p:sp>
      <p:sp>
        <p:nvSpPr>
          <p:cNvPr id="19" name="Shape 19"/>
          <p:cNvSpPr/>
          <p:nvPr/>
        </p:nvSpPr>
        <p:spPr>
          <a:xfrm>
            <a:off x="975360" y="4122420"/>
            <a:ext cx="144780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0" name="Shape 20"/>
          <p:cNvSpPr txBox="1"/>
          <p:nvPr/>
        </p:nvSpPr>
        <p:spPr>
          <a:xfrm>
            <a:off x="1089660" y="4152900"/>
            <a:ext cx="121920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81</a:t>
            </a:r>
            <a:endParaRPr lang="pt-BR" sz="2175"/>
          </a:p>
        </p:txBody>
      </p:sp>
      <p:sp>
        <p:nvSpPr>
          <p:cNvPr id="21" name="Shape 21"/>
          <p:cNvSpPr txBox="1"/>
          <p:nvPr/>
        </p:nvSpPr>
        <p:spPr>
          <a:xfrm>
            <a:off x="1089660" y="4591812"/>
            <a:ext cx="121920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células · O(n²)</a:t>
            </a:r>
            <a:endParaRPr lang="pt-BR" sz="1050"/>
          </a:p>
        </p:txBody>
      </p:sp>
      <p:sp>
        <p:nvSpPr>
          <p:cNvPr id="22" name="Shape 22"/>
          <p:cNvSpPr/>
          <p:nvPr/>
        </p:nvSpPr>
        <p:spPr>
          <a:xfrm>
            <a:off x="2529840" y="4122420"/>
            <a:ext cx="144780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2644140" y="4152900"/>
            <a:ext cx="121920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0</a:t>
            </a:r>
            <a:endParaRPr lang="pt-BR" sz="2175"/>
          </a:p>
        </p:txBody>
      </p:sp>
      <p:sp>
        <p:nvSpPr>
          <p:cNvPr id="24" name="Shape 24"/>
          <p:cNvSpPr txBox="1"/>
          <p:nvPr/>
        </p:nvSpPr>
        <p:spPr>
          <a:xfrm>
            <a:off x="2644140" y="4591812"/>
            <a:ext cx="121920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diagonal</a:t>
            </a:r>
            <a:endParaRPr lang="pt-BR" sz="1050"/>
          </a:p>
        </p:txBody>
      </p:sp>
      <p:sp>
        <p:nvSpPr>
          <p:cNvPr id="25" name="Shape 25"/>
          <p:cNvSpPr/>
          <p:nvPr/>
        </p:nvSpPr>
        <p:spPr>
          <a:xfrm>
            <a:off x="4084320" y="4122420"/>
            <a:ext cx="1447800" cy="85344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6" name="Shape 26"/>
          <p:cNvSpPr txBox="1"/>
          <p:nvPr/>
        </p:nvSpPr>
        <p:spPr>
          <a:xfrm>
            <a:off x="4198620" y="4152900"/>
            <a:ext cx="1219200" cy="392582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simétrica</a:t>
            </a:r>
            <a:endParaRPr lang="pt-BR" sz="2175"/>
          </a:p>
        </p:txBody>
      </p:sp>
      <p:sp>
        <p:nvSpPr>
          <p:cNvPr id="27" name="Shape 27"/>
          <p:cNvSpPr txBox="1"/>
          <p:nvPr/>
        </p:nvSpPr>
        <p:spPr>
          <a:xfrm>
            <a:off x="4198620" y="4591812"/>
            <a:ext cx="1219200" cy="29017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A↔B</a:t>
            </a:r>
            <a:endParaRPr lang="pt-BR" sz="1050"/>
          </a:p>
        </p:txBody>
      </p:sp>
      <p:sp>
        <p:nvSpPr>
          <p:cNvPr id="28" name="Shape 28"/>
          <p:cNvSpPr/>
          <p:nvPr/>
        </p:nvSpPr>
        <p:spPr>
          <a:xfrm>
            <a:off x="6065520" y="2179320"/>
            <a:ext cx="5394960" cy="320040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9" name="Shape 29"/>
          <p:cNvSpPr txBox="1"/>
          <p:nvPr/>
        </p:nvSpPr>
        <p:spPr>
          <a:xfrm>
            <a:off x="6324600" y="2346960"/>
            <a:ext cx="4876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KDTREE.QUERY(k=3) COM min_samples=2</a:t>
            </a:r>
            <a:endParaRPr lang="pt-BR" sz="1200"/>
          </a:p>
        </p:txBody>
      </p:sp>
      <p:sp>
        <p:nvSpPr>
          <p:cNvPr id="30" name="Shape 30"/>
          <p:cNvSpPr txBox="1"/>
          <p:nvPr/>
        </p:nvSpPr>
        <p:spPr>
          <a:xfrm>
            <a:off x="6324600" y="2781300"/>
            <a:ext cx="47244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 próprio ponto + 2 vizinhos externos</a:t>
            </a:r>
            <a:endParaRPr lang="pt-BR" sz="1650"/>
          </a:p>
        </p:txBody>
      </p:sp>
      <p:sp>
        <p:nvSpPr>
          <p:cNvPr id="31" name="Shape 31"/>
          <p:cNvSpPr txBox="1"/>
          <p:nvPr/>
        </p:nvSpPr>
        <p:spPr>
          <a:xfrm>
            <a:off x="6324600" y="3451860"/>
            <a:ext cx="4724400" cy="7086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40000"/>
              </a:lnSpc>
            </a:pPr>
            <a:r>
              <a:rPr lang="pt-BR" sz="1725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core(A) = 0.0299</a:t>
            </a:r>
            <a:endParaRPr lang="pt-BR" sz="1725"/>
          </a:p>
          <a:p>
            <a:pPr algn="l">
              <a:lnSpc>
                <a:spcPct val="140000"/>
              </a:lnSpc>
            </a:pPr>
            <a:r>
              <a:rPr lang="pt-BR" sz="1725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core(I) = 4.0621</a:t>
            </a:r>
            <a:endParaRPr lang="pt-BR" sz="1725"/>
          </a:p>
        </p:txBody>
      </p:sp>
      <p:sp>
        <p:nvSpPr>
          <p:cNvPr id="32" name="Shape 32"/>
          <p:cNvSpPr txBox="1"/>
          <p:nvPr/>
        </p:nvSpPr>
        <p:spPr>
          <a:xfrm>
            <a:off x="6324600" y="4373880"/>
            <a:ext cx="47244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I precisa alcançar bem mais longe para encontrar vizinhos: região esparsa.</a:t>
            </a:r>
            <a:endParaRPr lang="pt-BR" sz="1350"/>
          </a:p>
        </p:txBody>
      </p:sp>
      <p:sp>
        <p:nvSpPr>
          <p:cNvPr id="33" name="Shape 33"/>
          <p:cNvSpPr txBox="1"/>
          <p:nvPr/>
        </p:nvSpPr>
        <p:spPr>
          <a:xfrm>
            <a:off x="731520" y="5737860"/>
            <a:ext cx="10728960" cy="243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A KDTree é uma inspeção didática; a etapa seguinte calcula os core distances pela matriz.</a:t>
            </a:r>
            <a:endParaRPr lang="pt-BR" sz="1275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 4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 distância ganha o contexto da densidade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Conexões em regiões esparsas ficam mais caras antes de montar a árvore.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15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4953000" cy="3200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34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MUTUAL REACHABILITY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975360" y="2819400"/>
            <a:ext cx="4267200" cy="487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25000"/>
              </a:lnSpc>
            </a:pPr>
            <a:r>
              <a:rPr lang="pt-BR" sz="1725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peso(i,j) = max(core(i), core(j), d(i,j))</a:t>
            </a:r>
            <a:endParaRPr lang="pt-BR" sz="1725"/>
          </a:p>
        </p:txBody>
      </p:sp>
      <p:sp>
        <p:nvSpPr>
          <p:cNvPr id="19" name="Shape 19"/>
          <p:cNvSpPr txBox="1"/>
          <p:nvPr/>
        </p:nvSpPr>
        <p:spPr>
          <a:xfrm>
            <a:off x="975360" y="3489960"/>
            <a:ext cx="4229100" cy="853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40000"/>
              </a:lnSpc>
            </a:pPr>
            <a:r>
              <a:rPr lang="pt-BR" sz="1500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A—D: distância 0.016</a:t>
            </a:r>
            <a:endParaRPr lang="pt-BR" sz="1500"/>
          </a:p>
          <a:p>
            <a:pPr algn="l">
              <a:lnSpc>
                <a:spcPct val="140000"/>
              </a:lnSpc>
            </a:pPr>
            <a:r>
              <a:rPr lang="pt-BR" sz="1500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core(A) 0.0299 → peso 0.0299</a:t>
            </a:r>
            <a:endParaRPr lang="pt-BR" sz="1500"/>
          </a:p>
        </p:txBody>
      </p:sp>
      <p:sp>
        <p:nvSpPr>
          <p:cNvPr id="20" name="Shape 20"/>
          <p:cNvSpPr txBox="1"/>
          <p:nvPr/>
        </p:nvSpPr>
        <p:spPr>
          <a:xfrm>
            <a:off x="975360" y="4564380"/>
            <a:ext cx="4229100" cy="4876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vizinhança local muda o peso da conexão.</a:t>
            </a:r>
            <a:endParaRPr lang="pt-BR" sz="1350"/>
          </a:p>
        </p:txBody>
      </p:sp>
      <p:sp>
        <p:nvSpPr>
          <p:cNvPr id="21" name="Shape 21"/>
          <p:cNvSpPr/>
          <p:nvPr/>
        </p:nvSpPr>
        <p:spPr>
          <a:xfrm>
            <a:off x="5974080" y="2179320"/>
            <a:ext cx="5486400" cy="3200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2" name="Shape 22"/>
          <p:cNvSpPr txBox="1"/>
          <p:nvPr/>
        </p:nvSpPr>
        <p:spPr>
          <a:xfrm>
            <a:off x="623316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GRAFO EM CSR  ·  scipy.sparse.csr_matrix</a:t>
            </a:r>
            <a:endParaRPr lang="pt-BR" sz="1200"/>
          </a:p>
        </p:txBody>
      </p:sp>
      <p:sp>
        <p:nvSpPr>
          <p:cNvPr id="23" name="Shape 23"/>
          <p:cNvSpPr/>
          <p:nvPr/>
        </p:nvSpPr>
        <p:spPr>
          <a:xfrm>
            <a:off x="6263640" y="2849880"/>
            <a:ext cx="1219200" cy="35052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4" name="Shape 24"/>
          <p:cNvSpPr txBox="1"/>
          <p:nvPr/>
        </p:nvSpPr>
        <p:spPr>
          <a:xfrm>
            <a:off x="6339840" y="2880360"/>
            <a:ext cx="10668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indptr</a:t>
            </a:r>
            <a:endParaRPr lang="pt-BR" sz="1350"/>
          </a:p>
        </p:txBody>
      </p:sp>
      <p:sp>
        <p:nvSpPr>
          <p:cNvPr id="25" name="Shape 25"/>
          <p:cNvSpPr txBox="1"/>
          <p:nvPr/>
        </p:nvSpPr>
        <p:spPr>
          <a:xfrm>
            <a:off x="7635240" y="2880360"/>
            <a:ext cx="31242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limites de cada linha</a:t>
            </a:r>
            <a:endParaRPr lang="pt-BR" sz="1350"/>
          </a:p>
        </p:txBody>
      </p:sp>
      <p:sp>
        <p:nvSpPr>
          <p:cNvPr id="26" name="Shape 26"/>
          <p:cNvSpPr/>
          <p:nvPr/>
        </p:nvSpPr>
        <p:spPr>
          <a:xfrm>
            <a:off x="6263640" y="3421380"/>
            <a:ext cx="1219200" cy="35052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7" name="Shape 27"/>
          <p:cNvSpPr txBox="1"/>
          <p:nvPr/>
        </p:nvSpPr>
        <p:spPr>
          <a:xfrm>
            <a:off x="6339840" y="3451860"/>
            <a:ext cx="10668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indices</a:t>
            </a:r>
            <a:endParaRPr lang="pt-BR" sz="1350"/>
          </a:p>
        </p:txBody>
      </p:sp>
      <p:sp>
        <p:nvSpPr>
          <p:cNvPr id="28" name="Shape 28"/>
          <p:cNvSpPr txBox="1"/>
          <p:nvPr/>
        </p:nvSpPr>
        <p:spPr>
          <a:xfrm>
            <a:off x="7635240" y="3451860"/>
            <a:ext cx="31242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coluna / vizinho</a:t>
            </a:r>
            <a:endParaRPr lang="pt-BR" sz="1350"/>
          </a:p>
        </p:txBody>
      </p:sp>
      <p:sp>
        <p:nvSpPr>
          <p:cNvPr id="29" name="Shape 29"/>
          <p:cNvSpPr/>
          <p:nvPr/>
        </p:nvSpPr>
        <p:spPr>
          <a:xfrm>
            <a:off x="6263640" y="3992880"/>
            <a:ext cx="1219200" cy="35052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 txBox="1"/>
          <p:nvPr/>
        </p:nvSpPr>
        <p:spPr>
          <a:xfrm>
            <a:off x="6339840" y="4023360"/>
            <a:ext cx="10668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data</a:t>
            </a:r>
            <a:endParaRPr lang="pt-BR" sz="1350"/>
          </a:p>
        </p:txBody>
      </p:sp>
      <p:sp>
        <p:nvSpPr>
          <p:cNvPr id="31" name="Shape 31"/>
          <p:cNvSpPr txBox="1"/>
          <p:nvPr/>
        </p:nvSpPr>
        <p:spPr>
          <a:xfrm>
            <a:off x="7635240" y="4023360"/>
            <a:ext cx="31242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peso da aresta</a:t>
            </a:r>
            <a:endParaRPr lang="pt-BR" sz="1350"/>
          </a:p>
        </p:txBody>
      </p:sp>
      <p:sp>
        <p:nvSpPr>
          <p:cNvPr id="32" name="Shape 32"/>
          <p:cNvSpPr/>
          <p:nvPr/>
        </p:nvSpPr>
        <p:spPr>
          <a:xfrm>
            <a:off x="6233160" y="4747260"/>
            <a:ext cx="13868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6332220" y="4762500"/>
            <a:ext cx="11887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shape (9, 9)</a:t>
            </a:r>
            <a:endParaRPr lang="pt-BR" sz="1200"/>
          </a:p>
        </p:txBody>
      </p:sp>
      <p:sp>
        <p:nvSpPr>
          <p:cNvPr id="34" name="Shape 34"/>
          <p:cNvSpPr/>
          <p:nvPr/>
        </p:nvSpPr>
        <p:spPr>
          <a:xfrm>
            <a:off x="7741920" y="4747260"/>
            <a:ext cx="12954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35" name="Shape 35"/>
          <p:cNvSpPr txBox="1"/>
          <p:nvPr/>
        </p:nvSpPr>
        <p:spPr>
          <a:xfrm>
            <a:off x="7840980" y="4762500"/>
            <a:ext cx="10972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72 entradas</a:t>
            </a:r>
            <a:endParaRPr lang="pt-BR" sz="1200"/>
          </a:p>
        </p:txBody>
      </p:sp>
      <p:sp>
        <p:nvSpPr>
          <p:cNvPr id="36" name="Shape 36"/>
          <p:cNvSpPr txBox="1"/>
          <p:nvPr/>
        </p:nvSpPr>
        <p:spPr>
          <a:xfrm>
            <a:off x="9144000" y="4770120"/>
            <a:ext cx="2004060" cy="2209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grafo completo · denso</a:t>
            </a:r>
            <a:endParaRPr lang="pt-BR" sz="1125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 5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 MST reduz conexões sem perder a conectividade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Nove vértices precisam de apenas oito arestas para formar uma árvore.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16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4572000" cy="320040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038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GRAFO COMPLETO  →  MST</a:t>
            </a:r>
            <a:endParaRPr lang="pt-BR" sz="1200"/>
          </a:p>
        </p:txBody>
      </p:sp>
      <p:sp>
        <p:nvSpPr>
          <p:cNvPr id="18" name="Shape 18"/>
          <p:cNvSpPr/>
          <p:nvPr/>
        </p:nvSpPr>
        <p:spPr>
          <a:xfrm>
            <a:off x="975360" y="2842260"/>
            <a:ext cx="1447800" cy="9448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19" name="Shape 19"/>
          <p:cNvSpPr txBox="1"/>
          <p:nvPr/>
        </p:nvSpPr>
        <p:spPr>
          <a:xfrm>
            <a:off x="1089660" y="2872740"/>
            <a:ext cx="1219200" cy="43464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36</a:t>
            </a:r>
            <a:endParaRPr lang="pt-BR" sz="2175"/>
          </a:p>
        </p:txBody>
      </p:sp>
      <p:sp>
        <p:nvSpPr>
          <p:cNvPr id="20" name="Shape 20"/>
          <p:cNvSpPr txBox="1"/>
          <p:nvPr/>
        </p:nvSpPr>
        <p:spPr>
          <a:xfrm>
            <a:off x="1089660" y="3361944"/>
            <a:ext cx="1219200" cy="32125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pares não dirigidos</a:t>
            </a:r>
            <a:endParaRPr lang="pt-BR" sz="1050"/>
          </a:p>
        </p:txBody>
      </p:sp>
      <p:sp>
        <p:nvSpPr>
          <p:cNvPr id="21" name="Shape 21"/>
          <p:cNvSpPr txBox="1"/>
          <p:nvPr/>
        </p:nvSpPr>
        <p:spPr>
          <a:xfrm>
            <a:off x="2606040" y="3086100"/>
            <a:ext cx="685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7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2700"/>
          </a:p>
        </p:txBody>
      </p:sp>
      <p:sp>
        <p:nvSpPr>
          <p:cNvPr id="22" name="Shape 22"/>
          <p:cNvSpPr/>
          <p:nvPr/>
        </p:nvSpPr>
        <p:spPr>
          <a:xfrm>
            <a:off x="3444240" y="2842260"/>
            <a:ext cx="1447800" cy="9448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3558540" y="2872740"/>
            <a:ext cx="1219200" cy="43464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8</a:t>
            </a:r>
            <a:endParaRPr lang="pt-BR" sz="2175"/>
          </a:p>
        </p:txBody>
      </p:sp>
      <p:sp>
        <p:nvSpPr>
          <p:cNvPr id="24" name="Shape 24"/>
          <p:cNvSpPr txBox="1"/>
          <p:nvPr/>
        </p:nvSpPr>
        <p:spPr>
          <a:xfrm>
            <a:off x="3558540" y="3361944"/>
            <a:ext cx="1219200" cy="32125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arestas · n − 1</a:t>
            </a:r>
            <a:endParaRPr lang="pt-BR" sz="1050"/>
          </a:p>
        </p:txBody>
      </p:sp>
      <p:sp>
        <p:nvSpPr>
          <p:cNvPr id="25" name="Shape 25"/>
          <p:cNvSpPr txBox="1"/>
          <p:nvPr/>
        </p:nvSpPr>
        <p:spPr>
          <a:xfrm>
            <a:off x="975360" y="4084320"/>
            <a:ext cx="38862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5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Sem ciclos. Todos os incidentes continuam conectados. Peso total = 4.8978.</a:t>
            </a:r>
            <a:endParaRPr lang="pt-BR" sz="1500"/>
          </a:p>
        </p:txBody>
      </p:sp>
      <p:sp>
        <p:nvSpPr>
          <p:cNvPr id="26" name="Shape 26"/>
          <p:cNvSpPr/>
          <p:nvPr/>
        </p:nvSpPr>
        <p:spPr>
          <a:xfrm>
            <a:off x="5608320" y="2179320"/>
            <a:ext cx="5852160" cy="320040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7" name="Shape 27"/>
          <p:cNvSpPr txBox="1"/>
          <p:nvPr/>
        </p:nvSpPr>
        <p:spPr>
          <a:xfrm>
            <a:off x="5867400" y="2362200"/>
            <a:ext cx="5257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ARESTAS DA MST  ·  MENOR PARA MAIOR</a:t>
            </a:r>
            <a:endParaRPr lang="pt-BR" sz="1200"/>
          </a:p>
        </p:txBody>
      </p:sp>
      <p:sp>
        <p:nvSpPr>
          <p:cNvPr id="28" name="Shape 28"/>
          <p:cNvSpPr txBox="1"/>
          <p:nvPr/>
        </p:nvSpPr>
        <p:spPr>
          <a:xfrm>
            <a:off x="5897880" y="2788920"/>
            <a:ext cx="65532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A–D</a:t>
            </a:r>
            <a:endParaRPr lang="pt-BR" sz="1350"/>
          </a:p>
        </p:txBody>
      </p:sp>
      <p:sp>
        <p:nvSpPr>
          <p:cNvPr id="29" name="Shape 29"/>
          <p:cNvSpPr txBox="1"/>
          <p:nvPr/>
        </p:nvSpPr>
        <p:spPr>
          <a:xfrm>
            <a:off x="6583680" y="2788920"/>
            <a:ext cx="6477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0.0299</a:t>
            </a:r>
            <a:endParaRPr lang="pt-BR" sz="1275"/>
          </a:p>
        </p:txBody>
      </p:sp>
      <p:sp>
        <p:nvSpPr>
          <p:cNvPr id="30" name="Shape 30"/>
          <p:cNvSpPr/>
          <p:nvPr/>
        </p:nvSpPr>
        <p:spPr>
          <a:xfrm>
            <a:off x="5897880" y="3086100"/>
            <a:ext cx="60960" cy="381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31" name="Shape 31"/>
          <p:cNvSpPr txBox="1"/>
          <p:nvPr/>
        </p:nvSpPr>
        <p:spPr>
          <a:xfrm>
            <a:off x="5897880" y="3307080"/>
            <a:ext cx="65532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A–B</a:t>
            </a:r>
            <a:endParaRPr lang="pt-BR" sz="1350"/>
          </a:p>
        </p:txBody>
      </p:sp>
      <p:sp>
        <p:nvSpPr>
          <p:cNvPr id="32" name="Shape 32"/>
          <p:cNvSpPr txBox="1"/>
          <p:nvPr/>
        </p:nvSpPr>
        <p:spPr>
          <a:xfrm>
            <a:off x="6583680" y="3307080"/>
            <a:ext cx="6477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0.0321</a:t>
            </a:r>
            <a:endParaRPr lang="pt-BR" sz="1275"/>
          </a:p>
        </p:txBody>
      </p:sp>
      <p:sp>
        <p:nvSpPr>
          <p:cNvPr id="33" name="Shape 33"/>
          <p:cNvSpPr/>
          <p:nvPr/>
        </p:nvSpPr>
        <p:spPr>
          <a:xfrm>
            <a:off x="5897880" y="3604260"/>
            <a:ext cx="60960" cy="381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34" name="Shape 34"/>
          <p:cNvSpPr txBox="1"/>
          <p:nvPr/>
        </p:nvSpPr>
        <p:spPr>
          <a:xfrm>
            <a:off x="5897880" y="3825240"/>
            <a:ext cx="65532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E–H</a:t>
            </a:r>
            <a:endParaRPr lang="pt-BR" sz="1350"/>
          </a:p>
        </p:txBody>
      </p:sp>
      <p:sp>
        <p:nvSpPr>
          <p:cNvPr id="35" name="Shape 35"/>
          <p:cNvSpPr txBox="1"/>
          <p:nvPr/>
        </p:nvSpPr>
        <p:spPr>
          <a:xfrm>
            <a:off x="6583680" y="3825240"/>
            <a:ext cx="6477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0.0354</a:t>
            </a:r>
            <a:endParaRPr lang="pt-BR" sz="1275"/>
          </a:p>
        </p:txBody>
      </p:sp>
      <p:sp>
        <p:nvSpPr>
          <p:cNvPr id="36" name="Shape 36"/>
          <p:cNvSpPr/>
          <p:nvPr/>
        </p:nvSpPr>
        <p:spPr>
          <a:xfrm>
            <a:off x="5897880" y="4122420"/>
            <a:ext cx="60960" cy="381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37" name="Shape 37"/>
          <p:cNvSpPr txBox="1"/>
          <p:nvPr/>
        </p:nvSpPr>
        <p:spPr>
          <a:xfrm>
            <a:off x="5897880" y="4343400"/>
            <a:ext cx="65532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E–F</a:t>
            </a:r>
            <a:endParaRPr lang="pt-BR" sz="1350"/>
          </a:p>
        </p:txBody>
      </p:sp>
      <p:sp>
        <p:nvSpPr>
          <p:cNvPr id="38" name="Shape 38"/>
          <p:cNvSpPr txBox="1"/>
          <p:nvPr/>
        </p:nvSpPr>
        <p:spPr>
          <a:xfrm>
            <a:off x="6583680" y="4343400"/>
            <a:ext cx="6477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0.0443</a:t>
            </a:r>
            <a:endParaRPr lang="pt-BR" sz="1275"/>
          </a:p>
        </p:txBody>
      </p:sp>
      <p:sp>
        <p:nvSpPr>
          <p:cNvPr id="39" name="Shape 39"/>
          <p:cNvSpPr/>
          <p:nvPr/>
        </p:nvSpPr>
        <p:spPr>
          <a:xfrm>
            <a:off x="5897880" y="4640580"/>
            <a:ext cx="60960" cy="381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40" name="Shape 40"/>
          <p:cNvSpPr txBox="1"/>
          <p:nvPr/>
        </p:nvSpPr>
        <p:spPr>
          <a:xfrm>
            <a:off x="8580120" y="2788920"/>
            <a:ext cx="65532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A–C</a:t>
            </a:r>
            <a:endParaRPr lang="pt-BR" sz="1350"/>
          </a:p>
        </p:txBody>
      </p:sp>
      <p:sp>
        <p:nvSpPr>
          <p:cNvPr id="41" name="Shape 41"/>
          <p:cNvSpPr txBox="1"/>
          <p:nvPr/>
        </p:nvSpPr>
        <p:spPr>
          <a:xfrm>
            <a:off x="9265920" y="2788920"/>
            <a:ext cx="6477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0.0457</a:t>
            </a:r>
            <a:endParaRPr lang="pt-BR" sz="1275"/>
          </a:p>
        </p:txBody>
      </p:sp>
      <p:sp>
        <p:nvSpPr>
          <p:cNvPr id="42" name="Shape 42"/>
          <p:cNvSpPr/>
          <p:nvPr/>
        </p:nvSpPr>
        <p:spPr>
          <a:xfrm>
            <a:off x="8580120" y="3086100"/>
            <a:ext cx="60960" cy="381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43" name="Shape 43"/>
          <p:cNvSpPr txBox="1"/>
          <p:nvPr/>
        </p:nvSpPr>
        <p:spPr>
          <a:xfrm>
            <a:off x="8580120" y="3307080"/>
            <a:ext cx="65532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Menlo"/>
                <a:ea typeface="Menlo"/>
                <a:cs typeface="Menlo"/>
              </a:rPr>
              <a:t xml:space="preserve">E–G</a:t>
            </a:r>
            <a:endParaRPr lang="pt-BR" sz="1350"/>
          </a:p>
        </p:txBody>
      </p:sp>
      <p:sp>
        <p:nvSpPr>
          <p:cNvPr id="44" name="Shape 44"/>
          <p:cNvSpPr txBox="1"/>
          <p:nvPr/>
        </p:nvSpPr>
        <p:spPr>
          <a:xfrm>
            <a:off x="9265920" y="3307080"/>
            <a:ext cx="6477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0.0593</a:t>
            </a:r>
            <a:endParaRPr lang="pt-BR" sz="1275"/>
          </a:p>
        </p:txBody>
      </p:sp>
      <p:sp>
        <p:nvSpPr>
          <p:cNvPr id="45" name="Shape 45"/>
          <p:cNvSpPr/>
          <p:nvPr/>
        </p:nvSpPr>
        <p:spPr>
          <a:xfrm>
            <a:off x="8580120" y="3604260"/>
            <a:ext cx="66801" cy="381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46" name="Shape 46"/>
          <p:cNvSpPr txBox="1"/>
          <p:nvPr/>
        </p:nvSpPr>
        <p:spPr>
          <a:xfrm>
            <a:off x="8580120" y="3825240"/>
            <a:ext cx="65532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Menlo"/>
                <a:ea typeface="Menlo"/>
                <a:cs typeface="Menlo"/>
              </a:rPr>
              <a:t xml:space="preserve">B–G</a:t>
            </a:r>
            <a:endParaRPr lang="pt-BR" sz="1350"/>
          </a:p>
        </p:txBody>
      </p:sp>
      <p:sp>
        <p:nvSpPr>
          <p:cNvPr id="47" name="Shape 47"/>
          <p:cNvSpPr txBox="1"/>
          <p:nvPr/>
        </p:nvSpPr>
        <p:spPr>
          <a:xfrm>
            <a:off x="9265920" y="3825240"/>
            <a:ext cx="6477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0.5890</a:t>
            </a:r>
            <a:endParaRPr lang="pt-BR" sz="1275"/>
          </a:p>
        </p:txBody>
      </p:sp>
      <p:sp>
        <p:nvSpPr>
          <p:cNvPr id="48" name="Shape 48"/>
          <p:cNvSpPr/>
          <p:nvPr/>
        </p:nvSpPr>
        <p:spPr>
          <a:xfrm>
            <a:off x="8580120" y="4122420"/>
            <a:ext cx="210531" cy="3810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49" name="Shape 49"/>
          <p:cNvSpPr txBox="1"/>
          <p:nvPr/>
        </p:nvSpPr>
        <p:spPr>
          <a:xfrm>
            <a:off x="8580120" y="4343400"/>
            <a:ext cx="65532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17C98"/>
                </a:solidFill>
                <a:latin typeface="Menlo"/>
                <a:ea typeface="Menlo"/>
                <a:cs typeface="Menlo"/>
              </a:rPr>
              <a:t xml:space="preserve">F–I</a:t>
            </a:r>
            <a:endParaRPr lang="pt-BR" sz="1350"/>
          </a:p>
        </p:txBody>
      </p:sp>
      <p:sp>
        <p:nvSpPr>
          <p:cNvPr id="50" name="Shape 50"/>
          <p:cNvSpPr txBox="1"/>
          <p:nvPr/>
        </p:nvSpPr>
        <p:spPr>
          <a:xfrm>
            <a:off x="9265920" y="4343400"/>
            <a:ext cx="647700" cy="2362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4.0621</a:t>
            </a:r>
            <a:endParaRPr lang="pt-BR" sz="1275"/>
          </a:p>
        </p:txBody>
      </p:sp>
      <p:sp>
        <p:nvSpPr>
          <p:cNvPr id="51" name="Shape 51"/>
          <p:cNvSpPr/>
          <p:nvPr/>
        </p:nvSpPr>
        <p:spPr>
          <a:xfrm>
            <a:off x="8580120" y="4640580"/>
            <a:ext cx="552882" cy="3810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 6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40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Ordenar as arestas revela as fusões</a:t>
            </a:r>
            <a:endParaRPr lang="pt-BR" sz="405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Conexões curtas unem primeiro; as distantes juntam componentes maiores.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17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594360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5410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LINKAGE · CADA LINHA = UMA UNIÃO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1005840" y="2697480"/>
            <a:ext cx="23622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A + D</a:t>
            </a:r>
            <a:endParaRPr lang="pt-BR" sz="1200"/>
          </a:p>
        </p:txBody>
      </p:sp>
      <p:sp>
        <p:nvSpPr>
          <p:cNvPr id="19" name="Shape 19"/>
          <p:cNvSpPr/>
          <p:nvPr/>
        </p:nvSpPr>
        <p:spPr>
          <a:xfrm>
            <a:off x="3429000" y="2743200"/>
            <a:ext cx="53340" cy="762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20" name="Shape 20"/>
          <p:cNvSpPr txBox="1"/>
          <p:nvPr/>
        </p:nvSpPr>
        <p:spPr>
          <a:xfrm>
            <a:off x="5562600" y="2697480"/>
            <a:ext cx="7620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0.0299</a:t>
            </a:r>
            <a:endParaRPr lang="pt-BR" sz="1125"/>
          </a:p>
        </p:txBody>
      </p:sp>
      <p:sp>
        <p:nvSpPr>
          <p:cNvPr id="21" name="Shape 21"/>
          <p:cNvSpPr txBox="1"/>
          <p:nvPr/>
        </p:nvSpPr>
        <p:spPr>
          <a:xfrm>
            <a:off x="1005840" y="3002280"/>
            <a:ext cx="23622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(A,D) + B</a:t>
            </a:r>
            <a:endParaRPr lang="pt-BR" sz="1200"/>
          </a:p>
        </p:txBody>
      </p:sp>
      <p:sp>
        <p:nvSpPr>
          <p:cNvPr id="22" name="Shape 22"/>
          <p:cNvSpPr/>
          <p:nvPr/>
        </p:nvSpPr>
        <p:spPr>
          <a:xfrm>
            <a:off x="3429000" y="3048000"/>
            <a:ext cx="53340" cy="762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23" name="Shape 23"/>
          <p:cNvSpPr txBox="1"/>
          <p:nvPr/>
        </p:nvSpPr>
        <p:spPr>
          <a:xfrm>
            <a:off x="5562600" y="3002280"/>
            <a:ext cx="7620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0.0321</a:t>
            </a:r>
            <a:endParaRPr lang="pt-BR" sz="1125"/>
          </a:p>
        </p:txBody>
      </p:sp>
      <p:sp>
        <p:nvSpPr>
          <p:cNvPr id="24" name="Shape 24"/>
          <p:cNvSpPr txBox="1"/>
          <p:nvPr/>
        </p:nvSpPr>
        <p:spPr>
          <a:xfrm>
            <a:off x="1005840" y="3307080"/>
            <a:ext cx="23622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 + H</a:t>
            </a:r>
            <a:endParaRPr lang="pt-BR" sz="1200"/>
          </a:p>
        </p:txBody>
      </p:sp>
      <p:sp>
        <p:nvSpPr>
          <p:cNvPr id="25" name="Shape 25"/>
          <p:cNvSpPr/>
          <p:nvPr/>
        </p:nvSpPr>
        <p:spPr>
          <a:xfrm>
            <a:off x="3429000" y="3352800"/>
            <a:ext cx="53340" cy="762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26" name="Shape 26"/>
          <p:cNvSpPr txBox="1"/>
          <p:nvPr/>
        </p:nvSpPr>
        <p:spPr>
          <a:xfrm>
            <a:off x="5562600" y="3307080"/>
            <a:ext cx="7620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0.0354</a:t>
            </a:r>
            <a:endParaRPr lang="pt-BR" sz="1125"/>
          </a:p>
        </p:txBody>
      </p:sp>
      <p:sp>
        <p:nvSpPr>
          <p:cNvPr id="27" name="Shape 27"/>
          <p:cNvSpPr txBox="1"/>
          <p:nvPr/>
        </p:nvSpPr>
        <p:spPr>
          <a:xfrm>
            <a:off x="1005840" y="3611880"/>
            <a:ext cx="23622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(E,H) + F</a:t>
            </a:r>
            <a:endParaRPr lang="pt-BR" sz="1200"/>
          </a:p>
        </p:txBody>
      </p:sp>
      <p:sp>
        <p:nvSpPr>
          <p:cNvPr id="28" name="Shape 28"/>
          <p:cNvSpPr/>
          <p:nvPr/>
        </p:nvSpPr>
        <p:spPr>
          <a:xfrm>
            <a:off x="3429000" y="3657600"/>
            <a:ext cx="57738" cy="762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29" name="Shape 29"/>
          <p:cNvSpPr txBox="1"/>
          <p:nvPr/>
        </p:nvSpPr>
        <p:spPr>
          <a:xfrm>
            <a:off x="5562600" y="3611880"/>
            <a:ext cx="7620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0.0443</a:t>
            </a:r>
            <a:endParaRPr lang="pt-BR" sz="1125"/>
          </a:p>
        </p:txBody>
      </p:sp>
      <p:sp>
        <p:nvSpPr>
          <p:cNvPr id="30" name="Shape 30"/>
          <p:cNvSpPr txBox="1"/>
          <p:nvPr/>
        </p:nvSpPr>
        <p:spPr>
          <a:xfrm>
            <a:off x="1005840" y="3916680"/>
            <a:ext cx="23622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(A,B,D) + C</a:t>
            </a:r>
            <a:endParaRPr lang="pt-BR" sz="1200"/>
          </a:p>
        </p:txBody>
      </p:sp>
      <p:sp>
        <p:nvSpPr>
          <p:cNvPr id="31" name="Shape 31"/>
          <p:cNvSpPr/>
          <p:nvPr/>
        </p:nvSpPr>
        <p:spPr>
          <a:xfrm>
            <a:off x="3429000" y="3962400"/>
            <a:ext cx="58643" cy="762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32" name="Shape 32"/>
          <p:cNvSpPr txBox="1"/>
          <p:nvPr/>
        </p:nvSpPr>
        <p:spPr>
          <a:xfrm>
            <a:off x="5562600" y="3916680"/>
            <a:ext cx="7620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0.0457</a:t>
            </a:r>
            <a:endParaRPr lang="pt-BR" sz="1125"/>
          </a:p>
        </p:txBody>
      </p:sp>
      <p:sp>
        <p:nvSpPr>
          <p:cNvPr id="33" name="Shape 33"/>
          <p:cNvSpPr txBox="1"/>
          <p:nvPr/>
        </p:nvSpPr>
        <p:spPr>
          <a:xfrm>
            <a:off x="1005840" y="4221480"/>
            <a:ext cx="23622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(E,F,H) + G</a:t>
            </a:r>
            <a:endParaRPr lang="pt-BR" sz="1200"/>
          </a:p>
        </p:txBody>
      </p:sp>
      <p:sp>
        <p:nvSpPr>
          <p:cNvPr id="34" name="Shape 34"/>
          <p:cNvSpPr/>
          <p:nvPr/>
        </p:nvSpPr>
        <p:spPr>
          <a:xfrm>
            <a:off x="3429000" y="4267200"/>
            <a:ext cx="66801" cy="76200"/>
          </a:xfrm>
          <a:prstGeom prst="roundRect">
            <a:avLst/>
          </a:prstGeom>
          <a:solidFill>
            <a:srgbClr val="59D6C5"/>
          </a:solidFill>
          <a:ln>
            <a:noFill/>
          </a:ln>
        </p:spPr>
      </p:sp>
      <p:sp>
        <p:nvSpPr>
          <p:cNvPr id="35" name="Shape 35"/>
          <p:cNvSpPr txBox="1"/>
          <p:nvPr/>
        </p:nvSpPr>
        <p:spPr>
          <a:xfrm>
            <a:off x="5562600" y="4221480"/>
            <a:ext cx="7620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0.0593</a:t>
            </a:r>
            <a:endParaRPr lang="pt-BR" sz="1125"/>
          </a:p>
        </p:txBody>
      </p:sp>
      <p:sp>
        <p:nvSpPr>
          <p:cNvPr id="36" name="Shape 36"/>
          <p:cNvSpPr txBox="1"/>
          <p:nvPr/>
        </p:nvSpPr>
        <p:spPr>
          <a:xfrm>
            <a:off x="1005840" y="4526280"/>
            <a:ext cx="23622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grupo 0 + grupo 1</a:t>
            </a:r>
            <a:endParaRPr lang="pt-BR" sz="1200"/>
          </a:p>
        </p:txBody>
      </p:sp>
      <p:sp>
        <p:nvSpPr>
          <p:cNvPr id="37" name="Shape 37"/>
          <p:cNvSpPr/>
          <p:nvPr/>
        </p:nvSpPr>
        <p:spPr>
          <a:xfrm>
            <a:off x="3429000" y="4572000"/>
            <a:ext cx="210531" cy="76200"/>
          </a:xfrm>
          <a:prstGeom prst="roundRect">
            <a:avLst/>
          </a:prstGeom>
          <a:solidFill>
            <a:srgbClr val="F4BA58"/>
          </a:solidFill>
          <a:ln>
            <a:noFill/>
          </a:ln>
        </p:spPr>
      </p:sp>
      <p:sp>
        <p:nvSpPr>
          <p:cNvPr id="38" name="Shape 38"/>
          <p:cNvSpPr txBox="1"/>
          <p:nvPr/>
        </p:nvSpPr>
        <p:spPr>
          <a:xfrm>
            <a:off x="5562600" y="4526280"/>
            <a:ext cx="7620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0.5890</a:t>
            </a:r>
            <a:endParaRPr lang="pt-BR" sz="1125"/>
          </a:p>
        </p:txBody>
      </p:sp>
      <p:sp>
        <p:nvSpPr>
          <p:cNvPr id="39" name="Shape 39"/>
          <p:cNvSpPr txBox="1"/>
          <p:nvPr/>
        </p:nvSpPr>
        <p:spPr>
          <a:xfrm>
            <a:off x="1005840" y="4831080"/>
            <a:ext cx="23622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grupos + I</a:t>
            </a:r>
            <a:endParaRPr lang="pt-BR" sz="1200"/>
          </a:p>
        </p:txBody>
      </p:sp>
      <p:sp>
        <p:nvSpPr>
          <p:cNvPr id="40" name="Shape 40"/>
          <p:cNvSpPr/>
          <p:nvPr/>
        </p:nvSpPr>
        <p:spPr>
          <a:xfrm>
            <a:off x="3429000" y="4876800"/>
            <a:ext cx="552882" cy="76200"/>
          </a:xfrm>
          <a:prstGeom prst="roundRect">
            <a:avLst/>
          </a:prstGeom>
          <a:solidFill>
            <a:srgbClr val="F17C98"/>
          </a:solidFill>
          <a:ln>
            <a:noFill/>
          </a:ln>
        </p:spPr>
      </p:sp>
      <p:sp>
        <p:nvSpPr>
          <p:cNvPr id="41" name="Shape 41"/>
          <p:cNvSpPr txBox="1"/>
          <p:nvPr/>
        </p:nvSpPr>
        <p:spPr>
          <a:xfrm>
            <a:off x="5562600" y="4831080"/>
            <a:ext cx="76200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Menlo"/>
                <a:ea typeface="Menlo"/>
                <a:cs typeface="Menlo"/>
              </a:rPr>
              <a:t xml:space="preserve">4.0621</a:t>
            </a:r>
            <a:endParaRPr lang="pt-BR" sz="1125"/>
          </a:p>
        </p:txBody>
      </p:sp>
      <p:sp>
        <p:nvSpPr>
          <p:cNvPr id="42" name="Shape 42"/>
          <p:cNvSpPr/>
          <p:nvPr/>
        </p:nvSpPr>
        <p:spPr>
          <a:xfrm>
            <a:off x="6979920" y="2179320"/>
            <a:ext cx="4480560" cy="321564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43" name="Shape 43"/>
          <p:cNvSpPr txBox="1"/>
          <p:nvPr/>
        </p:nvSpPr>
        <p:spPr>
          <a:xfrm>
            <a:off x="7239000" y="2362200"/>
            <a:ext cx="3962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ESTRUTURA DE SAÍDA</a:t>
            </a:r>
            <a:endParaRPr lang="pt-BR" sz="1200"/>
          </a:p>
        </p:txBody>
      </p:sp>
      <p:sp>
        <p:nvSpPr>
          <p:cNvPr id="44" name="Shape 44"/>
          <p:cNvSpPr/>
          <p:nvPr/>
        </p:nvSpPr>
        <p:spPr>
          <a:xfrm>
            <a:off x="7239000" y="2758440"/>
            <a:ext cx="3962400" cy="990600"/>
          </a:xfrm>
          <a:prstGeom prst="roundRect">
            <a:avLst/>
          </a:prstGeom>
          <a:solidFill>
            <a:srgbClr val="0C1029"/>
          </a:solidFill>
          <a:ln w="7620">
            <a:solidFill>
              <a:srgbClr val="3A427A"/>
            </a:solidFill>
          </a:ln>
        </p:spPr>
      </p:sp>
      <p:sp>
        <p:nvSpPr>
          <p:cNvPr id="45" name="Shape 45"/>
          <p:cNvSpPr txBox="1"/>
          <p:nvPr/>
        </p:nvSpPr>
        <p:spPr>
          <a:xfrm>
            <a:off x="7406640" y="2865120"/>
            <a:ext cx="3627120" cy="1752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ARRAY LINKAGE</a:t>
            </a:r>
            <a:endParaRPr lang="pt-BR" sz="1050"/>
          </a:p>
        </p:txBody>
      </p:sp>
      <p:sp>
        <p:nvSpPr>
          <p:cNvPr id="46" name="Shape 46"/>
          <p:cNvSpPr txBox="1"/>
          <p:nvPr/>
        </p:nvSpPr>
        <p:spPr>
          <a:xfrm>
            <a:off x="7406640" y="3108960"/>
            <a:ext cx="3627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2000"/>
              </a:lnSpc>
            </a:pPr>
            <a:r>
              <a:rPr lang="pt-BR" sz="1275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[filho A, filho B, distância, tamanho]</a:t>
            </a:r>
            <a:endParaRPr lang="pt-BR" sz="1275"/>
          </a:p>
        </p:txBody>
      </p:sp>
      <p:sp>
        <p:nvSpPr>
          <p:cNvPr id="47" name="Shape 47"/>
          <p:cNvSpPr txBox="1"/>
          <p:nvPr/>
        </p:nvSpPr>
        <p:spPr>
          <a:xfrm>
            <a:off x="7239000" y="3962400"/>
            <a:ext cx="3924300" cy="701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4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label() usa union-find para unir componentes sem percorrer todos os pontos a cada fusão.</a:t>
            </a:r>
            <a:endParaRPr lang="pt-BR" sz="1425"/>
          </a:p>
        </p:txBody>
      </p:sp>
      <p:sp>
        <p:nvSpPr>
          <p:cNvPr id="48" name="Shape 48"/>
          <p:cNvSpPr txBox="1"/>
          <p:nvPr/>
        </p:nvSpPr>
        <p:spPr>
          <a:xfrm>
            <a:off x="7239000" y="4823460"/>
            <a:ext cx="39243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DisjointSet só ajuda a visualizar as uniões.</a:t>
            </a:r>
            <a:endParaRPr lang="pt-BR" sz="12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6154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4173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 7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3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 árvore condensada pergunta quais grupos persistem</a:t>
            </a:r>
            <a:endParaRPr lang="pt-BR" sz="33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min_cluster_size=3 elimina ramos pequenos; EOM compara a estabilidade.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18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487680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419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ÁRVORE CONDENSADA</a:t>
            </a:r>
            <a:endParaRPr lang="pt-BR" sz="1200"/>
          </a:p>
        </p:txBody>
      </p:sp>
      <p:sp>
        <p:nvSpPr>
          <p:cNvPr id="18" name="Shape 18"/>
          <p:cNvSpPr/>
          <p:nvPr/>
        </p:nvSpPr>
        <p:spPr>
          <a:xfrm>
            <a:off x="2499360" y="2788920"/>
            <a:ext cx="1356360" cy="4114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858DB7"/>
            </a:solidFill>
          </a:ln>
        </p:spPr>
      </p:sp>
      <p:sp>
        <p:nvSpPr>
          <p:cNvPr id="19" name="Shape 19"/>
          <p:cNvSpPr txBox="1"/>
          <p:nvPr/>
        </p:nvSpPr>
        <p:spPr>
          <a:xfrm>
            <a:off x="2499360" y="2827020"/>
            <a:ext cx="1356360" cy="3352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425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raiz 9</a:t>
            </a:r>
            <a:endParaRPr lang="pt-BR" sz="1425"/>
          </a:p>
        </p:txBody>
      </p:sp>
      <p:sp>
        <p:nvSpPr>
          <p:cNvPr id="20" name="Shape 20"/>
          <p:cNvSpPr txBox="1"/>
          <p:nvPr/>
        </p:nvSpPr>
        <p:spPr>
          <a:xfrm>
            <a:off x="2019300" y="3352800"/>
            <a:ext cx="3505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↙</a:t>
            </a:r>
            <a:endParaRPr lang="pt-BR" sz="2100"/>
          </a:p>
        </p:txBody>
      </p:sp>
      <p:sp>
        <p:nvSpPr>
          <p:cNvPr id="21" name="Shape 21"/>
          <p:cNvSpPr txBox="1"/>
          <p:nvPr/>
        </p:nvSpPr>
        <p:spPr>
          <a:xfrm>
            <a:off x="3962400" y="3352800"/>
            <a:ext cx="35052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0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↘</a:t>
            </a:r>
            <a:endParaRPr lang="pt-BR" sz="2100"/>
          </a:p>
        </p:txBody>
      </p:sp>
      <p:sp>
        <p:nvSpPr>
          <p:cNvPr id="22" name="Shape 22"/>
          <p:cNvSpPr/>
          <p:nvPr/>
        </p:nvSpPr>
        <p:spPr>
          <a:xfrm>
            <a:off x="1219200" y="3665220"/>
            <a:ext cx="1447800" cy="56388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1295400" y="3703320"/>
            <a:ext cx="1295400" cy="472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10 · A–D</a:t>
            </a:r>
            <a:endParaRPr lang="pt-BR" sz="1350"/>
          </a:p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4 pontos</a:t>
            </a:r>
            <a:endParaRPr lang="pt-BR" sz="1350"/>
          </a:p>
        </p:txBody>
      </p:sp>
      <p:sp>
        <p:nvSpPr>
          <p:cNvPr id="24" name="Shape 24"/>
          <p:cNvSpPr/>
          <p:nvPr/>
        </p:nvSpPr>
        <p:spPr>
          <a:xfrm>
            <a:off x="3459480" y="3665220"/>
            <a:ext cx="1447800" cy="56388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</p:sp>
      <p:sp>
        <p:nvSpPr>
          <p:cNvPr id="25" name="Shape 25"/>
          <p:cNvSpPr txBox="1"/>
          <p:nvPr/>
        </p:nvSpPr>
        <p:spPr>
          <a:xfrm>
            <a:off x="3535680" y="3703320"/>
            <a:ext cx="1295400" cy="4724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11 · E–H</a:t>
            </a:r>
            <a:endParaRPr lang="pt-BR" sz="1350"/>
          </a:p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4 pontos</a:t>
            </a:r>
            <a:endParaRPr lang="pt-BR" sz="1350"/>
          </a:p>
        </p:txBody>
      </p:sp>
      <p:sp>
        <p:nvSpPr>
          <p:cNvPr id="26" name="Shape 26"/>
          <p:cNvSpPr txBox="1"/>
          <p:nvPr/>
        </p:nvSpPr>
        <p:spPr>
          <a:xfrm>
            <a:off x="1051560" y="4495800"/>
            <a:ext cx="4114800" cy="518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35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I sai da raiz em λ=0.2462.</a:t>
            </a:r>
            <a:endParaRPr lang="pt-BR" sz="1275"/>
          </a:p>
          <a:p>
            <a:pPr algn="ctr">
              <a:lnSpc>
                <a:spcPct val="135000"/>
              </a:lnSpc>
            </a:pPr>
            <a:r>
              <a:rPr lang="pt-BR" sz="127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Os ramos nascem em λ=1.6979.</a:t>
            </a:r>
            <a:endParaRPr lang="pt-BR" sz="1275"/>
          </a:p>
        </p:txBody>
      </p:sp>
      <p:sp>
        <p:nvSpPr>
          <p:cNvPr id="27" name="Shape 27"/>
          <p:cNvSpPr/>
          <p:nvPr/>
        </p:nvSpPr>
        <p:spPr>
          <a:xfrm>
            <a:off x="5943600" y="2179320"/>
            <a:ext cx="551688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8" name="Shape 28"/>
          <p:cNvSpPr txBox="1"/>
          <p:nvPr/>
        </p:nvSpPr>
        <p:spPr>
          <a:xfrm>
            <a:off x="620268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ESTABILIDADE BRUTA · DICT POR ID</a:t>
            </a:r>
            <a:endParaRPr lang="pt-BR" sz="1200"/>
          </a:p>
        </p:txBody>
      </p:sp>
      <p:sp>
        <p:nvSpPr>
          <p:cNvPr id="29" name="Shape 29"/>
          <p:cNvSpPr/>
          <p:nvPr/>
        </p:nvSpPr>
        <p:spPr>
          <a:xfrm>
            <a:off x="6202680" y="2766060"/>
            <a:ext cx="1447800" cy="883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 txBox="1"/>
          <p:nvPr/>
        </p:nvSpPr>
        <p:spPr>
          <a:xfrm>
            <a:off x="6316980" y="2796540"/>
            <a:ext cx="1219200" cy="40660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13.829</a:t>
            </a:r>
            <a:endParaRPr lang="pt-BR" sz="2175"/>
          </a:p>
        </p:txBody>
      </p:sp>
      <p:sp>
        <p:nvSpPr>
          <p:cNvPr id="31" name="Shape 31"/>
          <p:cNvSpPr txBox="1"/>
          <p:nvPr/>
        </p:nvSpPr>
        <p:spPr>
          <a:xfrm>
            <a:off x="6316980" y="3252216"/>
            <a:ext cx="1219200" cy="30053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raiz · excluída</a:t>
            </a:r>
            <a:endParaRPr lang="pt-BR" sz="1050"/>
          </a:p>
        </p:txBody>
      </p:sp>
      <p:sp>
        <p:nvSpPr>
          <p:cNvPr id="32" name="Shape 32"/>
          <p:cNvSpPr/>
          <p:nvPr/>
        </p:nvSpPr>
        <p:spPr>
          <a:xfrm>
            <a:off x="7772400" y="2766060"/>
            <a:ext cx="1554480" cy="883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7886700" y="2796540"/>
            <a:ext cx="1325880" cy="40660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108.601</a:t>
            </a:r>
            <a:endParaRPr lang="pt-BR" sz="2175"/>
          </a:p>
        </p:txBody>
      </p:sp>
      <p:sp>
        <p:nvSpPr>
          <p:cNvPr id="34" name="Shape 34"/>
          <p:cNvSpPr txBox="1"/>
          <p:nvPr/>
        </p:nvSpPr>
        <p:spPr>
          <a:xfrm>
            <a:off x="7886700" y="3252216"/>
            <a:ext cx="1325880" cy="30053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grupo A–D · EOM</a:t>
            </a:r>
            <a:endParaRPr lang="pt-BR" sz="1050"/>
          </a:p>
        </p:txBody>
      </p:sp>
      <p:sp>
        <p:nvSpPr>
          <p:cNvPr id="35" name="Shape 35"/>
          <p:cNvSpPr/>
          <p:nvPr/>
        </p:nvSpPr>
        <p:spPr>
          <a:xfrm>
            <a:off x="9448800" y="2766060"/>
            <a:ext cx="1706880" cy="883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9563100" y="2796540"/>
            <a:ext cx="1478280" cy="40660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21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77.749</a:t>
            </a:r>
            <a:endParaRPr lang="pt-BR" sz="2175"/>
          </a:p>
        </p:txBody>
      </p:sp>
      <p:sp>
        <p:nvSpPr>
          <p:cNvPr id="37" name="Shape 37"/>
          <p:cNvSpPr txBox="1"/>
          <p:nvPr/>
        </p:nvSpPr>
        <p:spPr>
          <a:xfrm>
            <a:off x="9563100" y="3252216"/>
            <a:ext cx="1478280" cy="300533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grupo E–H · EOM</a:t>
            </a:r>
            <a:endParaRPr lang="pt-BR" sz="1050"/>
          </a:p>
        </p:txBody>
      </p:sp>
      <p:sp>
        <p:nvSpPr>
          <p:cNvPr id="38" name="Shape 38"/>
          <p:cNvSpPr txBox="1"/>
          <p:nvPr/>
        </p:nvSpPr>
        <p:spPr>
          <a:xfrm>
            <a:off x="6202680" y="3893820"/>
            <a:ext cx="48768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4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EOM compara pai com soma dos descendentes: seleciona os dois filhos, sem sobreposição.</a:t>
            </a:r>
            <a:endParaRPr lang="pt-BR" sz="1425"/>
          </a:p>
        </p:txBody>
      </p:sp>
      <p:sp>
        <p:nvSpPr>
          <p:cNvPr id="39" name="Shape 39"/>
          <p:cNvSpPr/>
          <p:nvPr/>
        </p:nvSpPr>
        <p:spPr>
          <a:xfrm>
            <a:off x="6202680" y="4732020"/>
            <a:ext cx="18669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40" name="Shape 40"/>
          <p:cNvSpPr txBox="1"/>
          <p:nvPr/>
        </p:nvSpPr>
        <p:spPr>
          <a:xfrm>
            <a:off x="6301740" y="4747260"/>
            <a:ext cx="16687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persistência 0.871</a:t>
            </a:r>
            <a:endParaRPr lang="pt-BR" sz="1200"/>
          </a:p>
        </p:txBody>
      </p:sp>
      <p:sp>
        <p:nvSpPr>
          <p:cNvPr id="41" name="Shape 41"/>
          <p:cNvSpPr/>
          <p:nvPr/>
        </p:nvSpPr>
        <p:spPr>
          <a:xfrm>
            <a:off x="8229600" y="4732020"/>
            <a:ext cx="18669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42" name="Shape 42"/>
          <p:cNvSpPr txBox="1"/>
          <p:nvPr/>
        </p:nvSpPr>
        <p:spPr>
          <a:xfrm>
            <a:off x="8328660" y="4747260"/>
            <a:ext cx="16687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persistência 0.623</a:t>
            </a:r>
            <a:endParaRPr lang="pt-BR" sz="12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18440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HDBSCAN · ETAPAS 8–9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O vetor final responde uma vez por incidente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 rótulo ocupa a mesma posição da linha na matriz de entrada.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19</a:t>
            </a:r>
            <a:endParaRPr lang="pt-BR" sz="1275"/>
          </a:p>
        </p:txBody>
      </p:sp>
      <p:sp>
        <p:nvSpPr>
          <p:cNvPr id="16" name="Shape 16"/>
          <p:cNvSpPr/>
          <p:nvPr/>
        </p:nvSpPr>
        <p:spPr>
          <a:xfrm>
            <a:off x="731520" y="2179320"/>
            <a:ext cx="5638800" cy="321564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7" name="Shape 17"/>
          <p:cNvSpPr txBox="1"/>
          <p:nvPr/>
        </p:nvSpPr>
        <p:spPr>
          <a:xfrm>
            <a:off x="975360" y="23622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RÓTULOS NA ORDEM A–I</a:t>
            </a:r>
            <a:endParaRPr lang="pt-BR" sz="1200"/>
          </a:p>
        </p:txBody>
      </p:sp>
      <p:sp>
        <p:nvSpPr>
          <p:cNvPr id="18" name="Shape 18"/>
          <p:cNvSpPr txBox="1"/>
          <p:nvPr/>
        </p:nvSpPr>
        <p:spPr>
          <a:xfrm>
            <a:off x="990600" y="2804160"/>
            <a:ext cx="4991100" cy="2895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425" b="1">
                <a:solidFill>
                  <a:srgbClr val="C0C5DC"/>
                </a:solidFill>
                <a:latin typeface="Menlo"/>
                <a:ea typeface="Menlo"/>
                <a:cs typeface="Menlo"/>
              </a:rPr>
              <a:t xml:space="preserve">A   B   C   D     E   F   G   H     I</a:t>
            </a:r>
            <a:endParaRPr lang="pt-BR" sz="1425"/>
          </a:p>
        </p:txBody>
      </p:sp>
      <p:sp>
        <p:nvSpPr>
          <p:cNvPr id="19" name="Shape 19"/>
          <p:cNvSpPr txBox="1"/>
          <p:nvPr/>
        </p:nvSpPr>
        <p:spPr>
          <a:xfrm>
            <a:off x="990600" y="3162300"/>
            <a:ext cx="49911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875" b="1">
                <a:solidFill>
                  <a:srgbClr val="F7F3E8"/>
                </a:solidFill>
                <a:latin typeface="Menlo"/>
                <a:ea typeface="Menlo"/>
                <a:cs typeface="Menlo"/>
              </a:rPr>
              <a:t xml:space="preserve">0   0   0   0     1   1   1   1    −1</a:t>
            </a:r>
            <a:endParaRPr lang="pt-BR" sz="1875"/>
          </a:p>
        </p:txBody>
      </p:sp>
      <p:sp>
        <p:nvSpPr>
          <p:cNvPr id="20" name="Shape 20"/>
          <p:cNvSpPr/>
          <p:nvPr/>
        </p:nvSpPr>
        <p:spPr>
          <a:xfrm>
            <a:off x="990600" y="3787140"/>
            <a:ext cx="2171700" cy="7010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59D6C5"/>
            </a:solidFill>
          </a:ln>
        </p:spPr>
      </p:sp>
      <p:sp>
        <p:nvSpPr>
          <p:cNvPr id="21" name="Shape 21"/>
          <p:cNvSpPr txBox="1"/>
          <p:nvPr/>
        </p:nvSpPr>
        <p:spPr>
          <a:xfrm>
            <a:off x="1127760" y="3870960"/>
            <a:ext cx="1905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CLUSTER 0</a:t>
            </a:r>
            <a:endParaRPr lang="pt-BR" sz="1350"/>
          </a:p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4 incidentes IAM</a:t>
            </a:r>
            <a:endParaRPr lang="pt-BR" sz="1350"/>
          </a:p>
        </p:txBody>
      </p:sp>
      <p:sp>
        <p:nvSpPr>
          <p:cNvPr id="22" name="Shape 22"/>
          <p:cNvSpPr/>
          <p:nvPr/>
        </p:nvSpPr>
        <p:spPr>
          <a:xfrm>
            <a:off x="3337560" y="3787140"/>
            <a:ext cx="2171700" cy="701040"/>
          </a:xfrm>
          <a:prstGeom prst="roundRect">
            <a:avLst/>
          </a:prstGeom>
          <a:solidFill>
            <a:srgbClr val="252C63"/>
          </a:solidFill>
          <a:ln w="15240">
            <a:solidFill>
              <a:srgbClr val="F4BA58"/>
            </a:solidFill>
          </a:ln>
        </p:spPr>
      </p:sp>
      <p:sp>
        <p:nvSpPr>
          <p:cNvPr id="23" name="Shape 23"/>
          <p:cNvSpPr txBox="1"/>
          <p:nvPr/>
        </p:nvSpPr>
        <p:spPr>
          <a:xfrm>
            <a:off x="3474720" y="3870960"/>
            <a:ext cx="1905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CLUSTER 1</a:t>
            </a:r>
            <a:endParaRPr lang="pt-BR" sz="1350"/>
          </a:p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4 incidentes de pagamento</a:t>
            </a:r>
            <a:endParaRPr lang="pt-BR" sz="1350"/>
          </a:p>
        </p:txBody>
      </p:sp>
      <p:sp>
        <p:nvSpPr>
          <p:cNvPr id="24" name="Shape 24"/>
          <p:cNvSpPr txBox="1"/>
          <p:nvPr/>
        </p:nvSpPr>
        <p:spPr>
          <a:xfrm>
            <a:off x="990600" y="4724400"/>
            <a:ext cx="472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3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−1 = INC0010899 · ruído</a:t>
            </a:r>
            <a:endParaRPr lang="pt-BR" sz="1350"/>
          </a:p>
        </p:txBody>
      </p:sp>
      <p:sp>
        <p:nvSpPr>
          <p:cNvPr id="25" name="Shape 25"/>
          <p:cNvSpPr/>
          <p:nvPr/>
        </p:nvSpPr>
        <p:spPr>
          <a:xfrm>
            <a:off x="6675120" y="2179320"/>
            <a:ext cx="4785360" cy="3215640"/>
          </a:xfrm>
          <a:prstGeom prst="roundRect">
            <a:avLst/>
          </a:prstGeom>
          <a:solidFill>
            <a:srgbClr val="191D49"/>
          </a:solidFill>
          <a:ln w="7620">
            <a:solidFill>
              <a:srgbClr val="3A427A"/>
            </a:solidFill>
          </a:ln>
        </p:spPr>
      </p:sp>
      <p:sp>
        <p:nvSpPr>
          <p:cNvPr id="26" name="Shape 26"/>
          <p:cNvSpPr/>
          <p:nvPr/>
        </p:nvSpPr>
        <p:spPr>
          <a:xfrm>
            <a:off x="6934200" y="2362200"/>
            <a:ext cx="15621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B2DF78"/>
            </a:solidFill>
          </a:ln>
        </p:spPr>
      </p:sp>
      <p:sp>
        <p:nvSpPr>
          <p:cNvPr id="27" name="Shape 27"/>
          <p:cNvSpPr txBox="1"/>
          <p:nvPr/>
        </p:nvSpPr>
        <p:spPr>
          <a:xfrm>
            <a:off x="7033260" y="2377440"/>
            <a:ext cx="13639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B2DF78"/>
                </a:solidFill>
                <a:latin typeface="Aptos"/>
                <a:ea typeface="Aptos"/>
                <a:cs typeface="Aptos"/>
              </a:rPr>
              <a:t xml:space="preserve">ETAPA 9 · API PÚBLICA</a:t>
            </a:r>
            <a:endParaRPr lang="pt-BR" sz="1200"/>
          </a:p>
        </p:txBody>
      </p:sp>
      <p:sp>
        <p:nvSpPr>
          <p:cNvPr id="28" name="Shape 28"/>
          <p:cNvSpPr txBox="1"/>
          <p:nvPr/>
        </p:nvSpPr>
        <p:spPr>
          <a:xfrm>
            <a:off x="6934200" y="2819400"/>
            <a:ext cx="4191000" cy="6248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HDBSCAN.fit e pipeline aberto</a:t>
            </a:r>
            <a:endParaRPr lang="pt-BR" sz="1650"/>
          </a:p>
          <a:p>
            <a:pPr algn="l">
              <a:lnSpc>
                <a:spcPct val="130000"/>
              </a:lnSpc>
            </a:pPr>
            <a:r>
              <a:rPr lang="pt-BR" sz="165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produzem a mesma partição.</a:t>
            </a:r>
            <a:endParaRPr lang="pt-BR" sz="1650"/>
          </a:p>
        </p:txBody>
      </p:sp>
      <p:sp>
        <p:nvSpPr>
          <p:cNvPr id="29" name="Shape 29"/>
          <p:cNvSpPr txBox="1"/>
          <p:nvPr/>
        </p:nvSpPr>
        <p:spPr>
          <a:xfrm>
            <a:off x="6934200" y="3619500"/>
            <a:ext cx="41529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5000"/>
              </a:lnSpc>
            </a:pPr>
            <a:r>
              <a:rPr lang="pt-BR" sz="1350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Também coincidem forças de pertencimento e persistências neste conjunto.</a:t>
            </a:r>
            <a:endParaRPr lang="pt-BR" sz="1350"/>
          </a:p>
        </p:txBody>
      </p:sp>
      <p:sp>
        <p:nvSpPr>
          <p:cNvPr id="30" name="Shape 30"/>
          <p:cNvSpPr txBox="1"/>
          <p:nvPr/>
        </p:nvSpPr>
        <p:spPr>
          <a:xfrm>
            <a:off x="6934200" y="4373880"/>
            <a:ext cx="41529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lang="pt-BR" sz="12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 = força de pertencimento,</a:t>
            </a:r>
            <a:endParaRPr lang="pt-BR" sz="1275"/>
          </a:p>
          <a:p>
            <a:pPr algn="l">
              <a:lnSpc>
                <a:spcPct val="130000"/>
              </a:lnSpc>
            </a:pPr>
            <a:r>
              <a:rPr lang="pt-BR" sz="12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não probabilidade calibrada.</a:t>
            </a:r>
            <a:endParaRPr lang="pt-BR" sz="1275"/>
          </a:p>
        </p:txBody>
      </p:sp>
      <p:sp>
        <p:nvSpPr>
          <p:cNvPr id="31" name="Shape 31"/>
          <p:cNvSpPr txBox="1"/>
          <p:nvPr/>
        </p:nvSpPr>
        <p:spPr>
          <a:xfrm>
            <a:off x="731520" y="5722620"/>
            <a:ext cx="1072896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Com min_cluster_size=5, os ramos de quatro não sobrevivem: neste exemplo, todos viram ruído.</a:t>
            </a:r>
            <a:endParaRPr lang="pt-BR" sz="13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436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10439400" y="266700"/>
            <a:ext cx="365760" cy="3657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4" name="Shape 4"/>
          <p:cNvSpPr/>
          <p:nvPr/>
        </p:nvSpPr>
        <p:spPr>
          <a:xfrm>
            <a:off x="11049000" y="701040"/>
            <a:ext cx="320040" cy="32004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5" name="Shape 5"/>
          <p:cNvSpPr/>
          <p:nvPr/>
        </p:nvSpPr>
        <p:spPr>
          <a:xfrm>
            <a:off x="11551920" y="190500"/>
            <a:ext cx="228600" cy="2286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6" name="Shape 6"/>
          <p:cNvSpPr/>
          <p:nvPr/>
        </p:nvSpPr>
        <p:spPr>
          <a:xfrm>
            <a:off x="10683240" y="1165860"/>
            <a:ext cx="213360" cy="21336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7" name="Shape 7"/>
          <p:cNvSpPr/>
          <p:nvPr/>
        </p:nvSpPr>
        <p:spPr>
          <a:xfrm>
            <a:off x="11696700" y="1257300"/>
            <a:ext cx="381000" cy="3810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8" name="Shape 8"/>
          <p:cNvSpPr/>
          <p:nvPr/>
        </p:nvSpPr>
        <p:spPr>
          <a:xfrm>
            <a:off x="10043160" y="807720"/>
            <a:ext cx="190500" cy="190500"/>
          </a:xfrm>
          <a:prstGeom prst="rect">
            <a:avLst/>
          </a:prstGeom>
          <a:noFill/>
          <a:ln w="15240">
            <a:solidFill>
              <a:srgbClr val="3A427A">
                <a:alpha val="36000"/>
              </a:srgbClr>
            </a:solidFill>
          </a:ln>
        </p:spPr>
      </p:sp>
      <p:sp>
        <p:nvSpPr>
          <p:cNvPr id="9" name="Shape 9"/>
          <p:cNvSpPr/>
          <p:nvPr/>
        </p:nvSpPr>
        <p:spPr>
          <a:xfrm>
            <a:off x="731520" y="373380"/>
            <a:ext cx="245364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10" name="Shape 10"/>
          <p:cNvSpPr txBox="1"/>
          <p:nvPr/>
        </p:nvSpPr>
        <p:spPr>
          <a:xfrm>
            <a:off x="830580" y="388620"/>
            <a:ext cx="2255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INTEGRAÇÃO · PRÓXIMOS PASSOS</a:t>
            </a:r>
            <a:endParaRPr lang="pt-BR" sz="1200"/>
          </a:p>
        </p:txBody>
      </p:sp>
      <p:sp>
        <p:nvSpPr>
          <p:cNvPr id="11" name="Shape 11"/>
          <p:cNvSpPr txBox="1"/>
          <p:nvPr/>
        </p:nvSpPr>
        <p:spPr>
          <a:xfrm>
            <a:off x="731520" y="792480"/>
            <a:ext cx="106680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02000"/>
              </a:lnSpc>
            </a:pPr>
            <a:r>
              <a:rPr lang="pt-BR" sz="3600" b="1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Cada estrutura deixa um sinal para investigar</a:t>
            </a:r>
            <a:endParaRPr lang="pt-BR" sz="3600"/>
          </a:p>
        </p:txBody>
      </p:sp>
      <p:sp>
        <p:nvSpPr>
          <p:cNvPr id="12" name="Shape 12"/>
          <p:cNvSpPr txBox="1"/>
          <p:nvPr/>
        </p:nvSpPr>
        <p:spPr>
          <a:xfrm>
            <a:off x="746760" y="1424940"/>
            <a:ext cx="103632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725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Operar, entender o impacto e recuperar contexto fazem parte do mesmo ciclo.</a:t>
            </a:r>
            <a:endParaRPr lang="pt-BR" sz="1725"/>
          </a:p>
        </p:txBody>
      </p:sp>
      <p:sp>
        <p:nvSpPr>
          <p:cNvPr id="13" name="Shape 13"/>
          <p:cNvSpPr/>
          <p:nvPr/>
        </p:nvSpPr>
        <p:spPr>
          <a:xfrm>
            <a:off x="731520" y="6278880"/>
            <a:ext cx="10728960" cy="7620"/>
          </a:xfrm>
          <a:prstGeom prst="rect">
            <a:avLst/>
          </a:prstGeom>
          <a:solidFill>
            <a:srgbClr val="3A427A"/>
          </a:solidFill>
          <a:ln>
            <a:noFill/>
          </a:ln>
        </p:spPr>
      </p:sp>
      <p:sp>
        <p:nvSpPr>
          <p:cNvPr id="14" name="Shape 14"/>
          <p:cNvSpPr txBox="1"/>
          <p:nvPr/>
        </p:nvSpPr>
        <p:spPr>
          <a:xfrm>
            <a:off x="731520" y="6408420"/>
            <a:ext cx="60960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ESTRUTURAS DE DADOS  ·  SOLANGE BRASILEIRO</a:t>
            </a:r>
            <a:endParaRPr lang="pt-BR" sz="1050"/>
          </a:p>
        </p:txBody>
      </p:sp>
      <p:sp>
        <p:nvSpPr>
          <p:cNvPr id="15" name="Shape 15"/>
          <p:cNvSpPr txBox="1"/>
          <p:nvPr/>
        </p:nvSpPr>
        <p:spPr>
          <a:xfrm>
            <a:off x="10972800" y="6377940"/>
            <a:ext cx="487680" cy="2133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r">
              <a:lnSpc>
                <a:spcPct val="114000"/>
              </a:lnSpc>
            </a:pPr>
            <a:r>
              <a:rPr lang="pt-BR" sz="1275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20</a:t>
            </a:r>
            <a:endParaRPr lang="pt-BR" sz="1275"/>
          </a:p>
        </p:txBody>
      </p:sp>
      <p:sp>
        <p:nvSpPr>
          <p:cNvPr id="16" name="Shape 16"/>
          <p:cNvSpPr txBox="1"/>
          <p:nvPr/>
        </p:nvSpPr>
        <p:spPr>
          <a:xfrm>
            <a:off x="731520" y="2377440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PROCESSAR</a:t>
            </a:r>
            <a:endParaRPr lang="pt-BR" sz="1125"/>
          </a:p>
        </p:txBody>
      </p:sp>
      <p:sp>
        <p:nvSpPr>
          <p:cNvPr id="17" name="Shape 17"/>
          <p:cNvSpPr/>
          <p:nvPr/>
        </p:nvSpPr>
        <p:spPr>
          <a:xfrm>
            <a:off x="2148840" y="22402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18" name="Shape 18"/>
          <p:cNvSpPr txBox="1"/>
          <p:nvPr/>
        </p:nvSpPr>
        <p:spPr>
          <a:xfrm>
            <a:off x="2225040" y="22707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evento</a:t>
            </a:r>
            <a:endParaRPr lang="pt-BR" sz="1275"/>
          </a:p>
        </p:txBody>
      </p:sp>
      <p:sp>
        <p:nvSpPr>
          <p:cNvPr id="19" name="Shape 19"/>
          <p:cNvSpPr txBox="1"/>
          <p:nvPr/>
        </p:nvSpPr>
        <p:spPr>
          <a:xfrm>
            <a:off x="4046220" y="23088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20" name="Shape 20"/>
          <p:cNvSpPr/>
          <p:nvPr/>
        </p:nvSpPr>
        <p:spPr>
          <a:xfrm>
            <a:off x="4419600" y="22402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1" name="Shape 21"/>
          <p:cNvSpPr txBox="1"/>
          <p:nvPr/>
        </p:nvSpPr>
        <p:spPr>
          <a:xfrm>
            <a:off x="4495800" y="22707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fila limitada</a:t>
            </a:r>
            <a:endParaRPr lang="pt-BR" sz="1275"/>
          </a:p>
        </p:txBody>
      </p:sp>
      <p:sp>
        <p:nvSpPr>
          <p:cNvPr id="22" name="Shape 22"/>
          <p:cNvSpPr txBox="1"/>
          <p:nvPr/>
        </p:nvSpPr>
        <p:spPr>
          <a:xfrm>
            <a:off x="6316980" y="23088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23" name="Shape 23"/>
          <p:cNvSpPr/>
          <p:nvPr/>
        </p:nvSpPr>
        <p:spPr>
          <a:xfrm>
            <a:off x="6690360" y="22402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24" name="Shape 24"/>
          <p:cNvSpPr txBox="1"/>
          <p:nvPr/>
        </p:nvSpPr>
        <p:spPr>
          <a:xfrm>
            <a:off x="6766560" y="22707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consumidor</a:t>
            </a:r>
            <a:endParaRPr lang="pt-BR" sz="1275"/>
          </a:p>
        </p:txBody>
      </p:sp>
      <p:sp>
        <p:nvSpPr>
          <p:cNvPr id="25" name="Shape 25"/>
          <p:cNvSpPr txBox="1"/>
          <p:nvPr/>
        </p:nvSpPr>
        <p:spPr>
          <a:xfrm>
            <a:off x="8587740" y="23088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26" name="Shape 26"/>
          <p:cNvSpPr/>
          <p:nvPr/>
        </p:nvSpPr>
        <p:spPr>
          <a:xfrm>
            <a:off x="8961120" y="2240280"/>
            <a:ext cx="1889760" cy="502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27" name="Shape 27"/>
          <p:cNvSpPr txBox="1"/>
          <p:nvPr/>
        </p:nvSpPr>
        <p:spPr>
          <a:xfrm>
            <a:off x="9037320" y="22707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estado / dedup</a:t>
            </a:r>
            <a:endParaRPr lang="pt-BR" sz="1275"/>
          </a:p>
        </p:txBody>
      </p:sp>
      <p:sp>
        <p:nvSpPr>
          <p:cNvPr id="28" name="Shape 28"/>
          <p:cNvSpPr txBox="1"/>
          <p:nvPr/>
        </p:nvSpPr>
        <p:spPr>
          <a:xfrm>
            <a:off x="731520" y="3291840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INVESTIGAR</a:t>
            </a:r>
            <a:endParaRPr lang="pt-BR" sz="1125"/>
          </a:p>
        </p:txBody>
      </p:sp>
      <p:sp>
        <p:nvSpPr>
          <p:cNvPr id="29" name="Shape 29"/>
          <p:cNvSpPr/>
          <p:nvPr/>
        </p:nvSpPr>
        <p:spPr>
          <a:xfrm>
            <a:off x="2148840" y="31546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0" name="Shape 30"/>
          <p:cNvSpPr txBox="1"/>
          <p:nvPr/>
        </p:nvSpPr>
        <p:spPr>
          <a:xfrm>
            <a:off x="2225040" y="31851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falha</a:t>
            </a:r>
            <a:endParaRPr lang="pt-BR" sz="1275"/>
          </a:p>
        </p:txBody>
      </p:sp>
      <p:sp>
        <p:nvSpPr>
          <p:cNvPr id="31" name="Shape 31"/>
          <p:cNvSpPr txBox="1"/>
          <p:nvPr/>
        </p:nvSpPr>
        <p:spPr>
          <a:xfrm>
            <a:off x="4046220" y="32232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32" name="Shape 32"/>
          <p:cNvSpPr/>
          <p:nvPr/>
        </p:nvSpPr>
        <p:spPr>
          <a:xfrm>
            <a:off x="4419600" y="31546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3" name="Shape 33"/>
          <p:cNvSpPr txBox="1"/>
          <p:nvPr/>
        </p:nvSpPr>
        <p:spPr>
          <a:xfrm>
            <a:off x="4495800" y="31851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grafo</a:t>
            </a:r>
            <a:endParaRPr lang="pt-BR" sz="1275"/>
          </a:p>
        </p:txBody>
      </p:sp>
      <p:sp>
        <p:nvSpPr>
          <p:cNvPr id="34" name="Shape 34"/>
          <p:cNvSpPr txBox="1"/>
          <p:nvPr/>
        </p:nvSpPr>
        <p:spPr>
          <a:xfrm>
            <a:off x="6316980" y="32232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35" name="Shape 35"/>
          <p:cNvSpPr/>
          <p:nvPr/>
        </p:nvSpPr>
        <p:spPr>
          <a:xfrm>
            <a:off x="6690360" y="31546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36" name="Shape 36"/>
          <p:cNvSpPr txBox="1"/>
          <p:nvPr/>
        </p:nvSpPr>
        <p:spPr>
          <a:xfrm>
            <a:off x="6766560" y="31851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BFS / DFS</a:t>
            </a:r>
            <a:endParaRPr lang="pt-BR" sz="1275"/>
          </a:p>
        </p:txBody>
      </p:sp>
      <p:sp>
        <p:nvSpPr>
          <p:cNvPr id="37" name="Shape 37"/>
          <p:cNvSpPr txBox="1"/>
          <p:nvPr/>
        </p:nvSpPr>
        <p:spPr>
          <a:xfrm>
            <a:off x="8587740" y="32232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38" name="Shape 38"/>
          <p:cNvSpPr/>
          <p:nvPr/>
        </p:nvSpPr>
        <p:spPr>
          <a:xfrm>
            <a:off x="8961120" y="3154680"/>
            <a:ext cx="1889760" cy="502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39" name="Shape 39"/>
          <p:cNvSpPr txBox="1"/>
          <p:nvPr/>
        </p:nvSpPr>
        <p:spPr>
          <a:xfrm>
            <a:off x="9037320" y="31851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serviços afetados</a:t>
            </a:r>
            <a:endParaRPr lang="pt-BR" sz="1275"/>
          </a:p>
        </p:txBody>
      </p:sp>
      <p:sp>
        <p:nvSpPr>
          <p:cNvPr id="40" name="Shape 40"/>
          <p:cNvSpPr txBox="1"/>
          <p:nvPr/>
        </p:nvSpPr>
        <p:spPr>
          <a:xfrm>
            <a:off x="731520" y="4206240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l">
              <a:lnSpc>
                <a:spcPct val="114000"/>
              </a:lnSpc>
            </a:pPr>
            <a:r>
              <a:rPr lang="pt-BR" sz="112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RESPONDER</a:t>
            </a:r>
            <a:endParaRPr lang="pt-BR" sz="1125"/>
          </a:p>
        </p:txBody>
      </p:sp>
      <p:sp>
        <p:nvSpPr>
          <p:cNvPr id="41" name="Shape 41"/>
          <p:cNvSpPr/>
          <p:nvPr/>
        </p:nvSpPr>
        <p:spPr>
          <a:xfrm>
            <a:off x="2148840" y="40690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42" name="Shape 42"/>
          <p:cNvSpPr txBox="1"/>
          <p:nvPr/>
        </p:nvSpPr>
        <p:spPr>
          <a:xfrm>
            <a:off x="2225040" y="40995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artigos</a:t>
            </a:r>
            <a:endParaRPr lang="pt-BR" sz="1275"/>
          </a:p>
        </p:txBody>
      </p:sp>
      <p:sp>
        <p:nvSpPr>
          <p:cNvPr id="43" name="Shape 43"/>
          <p:cNvSpPr txBox="1"/>
          <p:nvPr/>
        </p:nvSpPr>
        <p:spPr>
          <a:xfrm>
            <a:off x="4046220" y="41376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44" name="Shape 44"/>
          <p:cNvSpPr/>
          <p:nvPr/>
        </p:nvSpPr>
        <p:spPr>
          <a:xfrm>
            <a:off x="4419600" y="40690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45" name="Shape 45"/>
          <p:cNvSpPr txBox="1"/>
          <p:nvPr/>
        </p:nvSpPr>
        <p:spPr>
          <a:xfrm>
            <a:off x="4495800" y="40995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índice TF-IDF</a:t>
            </a:r>
            <a:endParaRPr lang="pt-BR" sz="1275"/>
          </a:p>
        </p:txBody>
      </p:sp>
      <p:sp>
        <p:nvSpPr>
          <p:cNvPr id="46" name="Shape 46"/>
          <p:cNvSpPr txBox="1"/>
          <p:nvPr/>
        </p:nvSpPr>
        <p:spPr>
          <a:xfrm>
            <a:off x="6316980" y="41376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47" name="Shape 47"/>
          <p:cNvSpPr/>
          <p:nvPr/>
        </p:nvSpPr>
        <p:spPr>
          <a:xfrm>
            <a:off x="6690360" y="4069080"/>
            <a:ext cx="1889760" cy="502920"/>
          </a:xfrm>
          <a:prstGeom prst="roundRect">
            <a:avLst/>
          </a:prstGeom>
          <a:solidFill>
            <a:srgbClr val="1D2454"/>
          </a:solidFill>
          <a:ln w="7620">
            <a:solidFill>
              <a:srgbClr val="3A427A"/>
            </a:solidFill>
          </a:ln>
        </p:spPr>
      </p:sp>
      <p:sp>
        <p:nvSpPr>
          <p:cNvPr id="48" name="Shape 48"/>
          <p:cNvSpPr txBox="1"/>
          <p:nvPr/>
        </p:nvSpPr>
        <p:spPr>
          <a:xfrm>
            <a:off x="6766560" y="40995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>
                <a:solidFill>
                  <a:srgbClr val="F7F3E8"/>
                </a:solidFill>
                <a:latin typeface="Aptos"/>
                <a:ea typeface="Aptos"/>
                <a:cs typeface="Aptos"/>
              </a:rPr>
              <a:t xml:space="preserve">ranking</a:t>
            </a:r>
            <a:endParaRPr lang="pt-BR" sz="1275"/>
          </a:p>
        </p:txBody>
      </p:sp>
      <p:sp>
        <p:nvSpPr>
          <p:cNvPr id="49" name="Shape 49"/>
          <p:cNvSpPr txBox="1"/>
          <p:nvPr/>
        </p:nvSpPr>
        <p:spPr>
          <a:xfrm>
            <a:off x="8587740" y="4137660"/>
            <a:ext cx="320040" cy="3505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9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→</a:t>
            </a:r>
            <a:endParaRPr lang="pt-BR" sz="1950"/>
          </a:p>
        </p:txBody>
      </p:sp>
      <p:sp>
        <p:nvSpPr>
          <p:cNvPr id="50" name="Shape 50"/>
          <p:cNvSpPr/>
          <p:nvPr/>
        </p:nvSpPr>
        <p:spPr>
          <a:xfrm>
            <a:off x="8961120" y="4069080"/>
            <a:ext cx="1889760" cy="50292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51" name="Shape 51"/>
          <p:cNvSpPr txBox="1"/>
          <p:nvPr/>
        </p:nvSpPr>
        <p:spPr>
          <a:xfrm>
            <a:off x="9037320" y="4099560"/>
            <a:ext cx="1737360" cy="4419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75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contexto RAG</a:t>
            </a:r>
            <a:endParaRPr lang="pt-BR" sz="1275"/>
          </a:p>
        </p:txBody>
      </p:sp>
      <p:sp>
        <p:nvSpPr>
          <p:cNvPr id="52" name="Shape 52"/>
          <p:cNvSpPr/>
          <p:nvPr/>
        </p:nvSpPr>
        <p:spPr>
          <a:xfrm>
            <a:off x="731520" y="4968240"/>
            <a:ext cx="10728960" cy="510540"/>
          </a:xfrm>
          <a:prstGeom prst="roundRect">
            <a:avLst/>
          </a:prstGeom>
          <a:solidFill>
            <a:srgbClr val="0C1029"/>
          </a:solidFill>
          <a:ln>
            <a:noFill/>
          </a:ln>
        </p:spPr>
      </p:sp>
      <p:sp>
        <p:nvSpPr>
          <p:cNvPr id="53" name="Shape 53"/>
          <p:cNvSpPr txBox="1"/>
          <p:nvPr/>
        </p:nvSpPr>
        <p:spPr>
          <a:xfrm>
            <a:off x="929640" y="5044440"/>
            <a:ext cx="103251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350" b="1">
                <a:solidFill>
                  <a:srgbClr val="C0C5DC"/>
                </a:solidFill>
                <a:latin typeface="Aptos"/>
                <a:ea typeface="Aptos"/>
                <a:cs typeface="Aptos"/>
              </a:rPr>
              <a:t xml:space="preserve">No projeto: logs + contadores  ·  Em produção: métricas + rastros + estado persistente</a:t>
            </a:r>
            <a:endParaRPr lang="pt-BR" sz="1350"/>
          </a:p>
        </p:txBody>
      </p:sp>
      <p:sp>
        <p:nvSpPr>
          <p:cNvPr id="54" name="Shape 54"/>
          <p:cNvSpPr txBox="1"/>
          <p:nvPr/>
        </p:nvSpPr>
        <p:spPr>
          <a:xfrm>
            <a:off x="731520" y="5570220"/>
            <a:ext cx="10728960" cy="19812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050" b="1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EXPERIMENTE</a:t>
            </a:r>
            <a:endParaRPr lang="pt-BR" sz="1050"/>
          </a:p>
        </p:txBody>
      </p:sp>
      <p:sp>
        <p:nvSpPr>
          <p:cNvPr id="55" name="Shape 55"/>
          <p:cNvSpPr/>
          <p:nvPr/>
        </p:nvSpPr>
        <p:spPr>
          <a:xfrm>
            <a:off x="1409700" y="5775960"/>
            <a:ext cx="2286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4BA58"/>
            </a:solidFill>
          </a:ln>
        </p:spPr>
      </p:sp>
      <p:sp>
        <p:nvSpPr>
          <p:cNvPr id="56" name="Shape 56"/>
          <p:cNvSpPr txBox="1"/>
          <p:nvPr/>
        </p:nvSpPr>
        <p:spPr>
          <a:xfrm>
            <a:off x="1508760" y="5791200"/>
            <a:ext cx="2087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4BA58"/>
                </a:solidFill>
                <a:latin typeface="Aptos"/>
                <a:ea typeface="Aptos"/>
                <a:cs typeface="Aptos"/>
              </a:rPr>
              <a:t xml:space="preserve">sh executar.sh 2</a:t>
            </a:r>
            <a:endParaRPr lang="pt-BR" sz="1200"/>
          </a:p>
        </p:txBody>
      </p:sp>
      <p:sp>
        <p:nvSpPr>
          <p:cNvPr id="57" name="Shape 57"/>
          <p:cNvSpPr/>
          <p:nvPr/>
        </p:nvSpPr>
        <p:spPr>
          <a:xfrm>
            <a:off x="3924300" y="5775960"/>
            <a:ext cx="22860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59D6C5"/>
            </a:solidFill>
          </a:ln>
        </p:spPr>
      </p:sp>
      <p:sp>
        <p:nvSpPr>
          <p:cNvPr id="58" name="Shape 58"/>
          <p:cNvSpPr txBox="1"/>
          <p:nvPr/>
        </p:nvSpPr>
        <p:spPr>
          <a:xfrm>
            <a:off x="4023360" y="5791200"/>
            <a:ext cx="2087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59D6C5"/>
                </a:solidFill>
                <a:latin typeface="Aptos"/>
                <a:ea typeface="Aptos"/>
                <a:cs typeface="Aptos"/>
              </a:rPr>
              <a:t xml:space="preserve">sh executar.sh 8</a:t>
            </a:r>
            <a:endParaRPr lang="pt-BR" sz="1200"/>
          </a:p>
        </p:txBody>
      </p:sp>
      <p:sp>
        <p:nvSpPr>
          <p:cNvPr id="59" name="Shape 59"/>
          <p:cNvSpPr/>
          <p:nvPr/>
        </p:nvSpPr>
        <p:spPr>
          <a:xfrm>
            <a:off x="6438900" y="5775960"/>
            <a:ext cx="4000500" cy="259080"/>
          </a:xfrm>
          <a:prstGeom prst="roundRect">
            <a:avLst/>
          </a:prstGeom>
          <a:solidFill>
            <a:srgbClr val="252C63"/>
          </a:solidFill>
          <a:ln w="7620">
            <a:solidFill>
              <a:srgbClr val="F17C98"/>
            </a:solidFill>
          </a:ln>
        </p:spPr>
      </p:sp>
      <p:sp>
        <p:nvSpPr>
          <p:cNvPr id="60" name="Shape 60"/>
          <p:cNvSpPr txBox="1"/>
          <p:nvPr/>
        </p:nvSpPr>
        <p:spPr>
          <a:xfrm>
            <a:off x="6537960" y="5791200"/>
            <a:ext cx="38023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200" b="1">
                <a:solidFill>
                  <a:srgbClr val="F17C98"/>
                </a:solidFill>
                <a:latin typeface="Aptos"/>
                <a:ea typeface="Aptos"/>
                <a:cs typeface="Aptos"/>
              </a:rPr>
              <a:t xml:space="preserve">sh executar.sh hdbscan --etapa 9</a:t>
            </a:r>
            <a:endParaRPr lang="pt-BR" sz="1200"/>
          </a:p>
        </p:txBody>
      </p:sp>
      <p:sp>
        <p:nvSpPr>
          <p:cNvPr id="61" name="Shape 61"/>
          <p:cNvSpPr txBox="1"/>
          <p:nvPr/>
        </p:nvSpPr>
        <p:spPr>
          <a:xfrm>
            <a:off x="731520" y="6073140"/>
            <a:ext cx="10728960" cy="16764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rmAutofit/>
          </a:bodyPr>
          <a:lstStyle/>
          <a:p>
            <a:pPr algn="ctr">
              <a:lnSpc>
                <a:spcPct val="114000"/>
              </a:lnSpc>
            </a:pPr>
            <a:r>
              <a:rPr lang="pt-BR" sz="1125">
                <a:solidFill>
                  <a:srgbClr val="858DB7"/>
                </a:solidFill>
                <a:latin typeface="Aptos"/>
                <a:ea typeface="Aptos"/>
                <a:cs typeface="Aptos"/>
              </a:rPr>
              <a:t xml:space="preserve">Obrigada  ·  Solange Brasileiro</a:t>
            </a:r>
            <a:endParaRPr lang="pt-BR" sz="1125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truturas de dados">
  <a:themeElements>
    <a:clrScheme name="Indigo">
      <a:dk1>
        <a:srgbClr val="0C1029"/>
      </a:dk1>
      <a:lt1>
        <a:srgbClr val="F7F3E8"/>
      </a:lt1>
      <a:dk2>
        <a:srgbClr val="111436"/>
      </a:dk2>
      <a:lt2>
        <a:srgbClr val="C0C5DC"/>
      </a:lt2>
      <a:accent1>
        <a:srgbClr val="59D6C5"/>
      </a:accent1>
      <a:accent2>
        <a:srgbClr val="F4BA58"/>
      </a:accent2>
      <a:accent3>
        <a:srgbClr val="F17C98"/>
      </a:accent3>
      <a:accent4>
        <a:srgbClr val="B2DF78"/>
      </a:accent4>
      <a:accent5>
        <a:srgbClr val="3A427A"/>
      </a:accent5>
      <a:accent6>
        <a:srgbClr val="252C63"/>
      </a:accent6>
      <a:hlink>
        <a:srgbClr val="59D6C5"/>
      </a:hlink>
      <a:folHlink>
        <a:srgbClr val="F17C98"/>
      </a:folHlink>
    </a:clrScheme>
    <a:fontScheme name="Aptos">
      <a:majorFont>
        <a:latin typeface="Aptos Display"/>
        <a:ea typeface="Aptos Display"/>
        <a:cs typeface="Aptos Display"/>
      </a:majorFont>
      <a:minorFont>
        <a:latin typeface="Aptos"/>
        <a:ea typeface="Aptos"/>
        <a:cs typeface="Aptos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 XML</Application>
  <Slides>20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Estruturas de dados no mundo real</dc:title>
  <dc:creator>Solange Brasileiro</dc:creator>
  <dc:subject>Minicurso de estruturas de dados</dc:subject>
</cp:coreProperties>
</file>